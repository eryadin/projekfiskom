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d77e4d2ab134409" /><Relationship Type="http://schemas.openxmlformats.org/officeDocument/2006/relationships/extended-properties" Target="/docProps/app.xml" Id="R359f1ecd31964670" /><Relationship Type="http://schemas.openxmlformats.org/officeDocument/2006/relationships/officeDocument" Target="/ppt/presentation.xml" Id="R7de363c8418a4ef0" /></Relationships>
</file>

<file path=ppt/presentation.xml><?xml version="1.0" encoding="utf-8"?>
<p:presentation xmlns:p="http://schemas.openxmlformats.org/presentationml/2006/main">
  <p:sldMasterIdLst>
    <p:sldMasterId xmlns:r="http://schemas.openxmlformats.org/officeDocument/2006/relationships" id="2147483648" r:id="R46f5af78c7334310"/>
  </p:sldMasterIdLst>
  <p:notesMasterIdLst>
    <p:notesMasterId xmlns:r="http://schemas.openxmlformats.org/officeDocument/2006/relationships" r:id="R8ddc5868d0644754"/>
  </p:notesMasterIdLst>
  <p:sldIdLst>
    <p:sldId xmlns:r="http://schemas.openxmlformats.org/officeDocument/2006/relationships" id="256" r:id="R103a04278ff2423d"/>
    <p:sldId xmlns:r="http://schemas.openxmlformats.org/officeDocument/2006/relationships" id="257" r:id="Rae205a5f8cf943b5"/>
    <p:sldId xmlns:r="http://schemas.openxmlformats.org/officeDocument/2006/relationships" id="258" r:id="R7b5600a1f3594515"/>
    <p:sldId xmlns:r="http://schemas.openxmlformats.org/officeDocument/2006/relationships" id="259" r:id="Rd10b0e9f962f4aa5"/>
    <p:sldId xmlns:r="http://schemas.openxmlformats.org/officeDocument/2006/relationships" id="260" r:id="R52a42ac57b704d32"/>
    <p:sldId xmlns:r="http://schemas.openxmlformats.org/officeDocument/2006/relationships" id="261" r:id="R0d628bb30f47472a"/>
    <p:sldId xmlns:r="http://schemas.openxmlformats.org/officeDocument/2006/relationships" id="262" r:id="Ra2571862fd8b44f2"/>
    <p:sldId xmlns:r="http://schemas.openxmlformats.org/officeDocument/2006/relationships" id="263" r:id="Rf624800c6a124ebb"/>
    <p:sldId xmlns:r="http://schemas.openxmlformats.org/officeDocument/2006/relationships" id="264" r:id="Rcd5377f2d17247f8"/>
    <p:sldId xmlns:r="http://schemas.openxmlformats.org/officeDocument/2006/relationships" id="265" r:id="Re4ff687db5e5432f"/>
    <p:sldId xmlns:r="http://schemas.openxmlformats.org/officeDocument/2006/relationships" id="266" r:id="R1aa9e86e56bb4285"/>
    <p:sldId xmlns:r="http://schemas.openxmlformats.org/officeDocument/2006/relationships" id="267" r:id="R4969e194be524d08"/>
    <p:sldId xmlns:r="http://schemas.openxmlformats.org/officeDocument/2006/relationships" id="268" r:id="R6f1625662051447b"/>
    <p:sldId xmlns:r="http://schemas.openxmlformats.org/officeDocument/2006/relationships" id="269" r:id="Ra1345ab66d384a45"/>
    <p:sldId xmlns:r="http://schemas.openxmlformats.org/officeDocument/2006/relationships" id="270" r:id="Reda32e06e86547db"/>
    <p:sldId xmlns:r="http://schemas.openxmlformats.org/officeDocument/2006/relationships" id="271" r:id="Rbec79a391a8d4f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bbea5014cd4109" /><Relationship Type="http://schemas.openxmlformats.org/officeDocument/2006/relationships/slideMaster" Target="/ppt/slideMasters/slideMaster1.xml" Id="R46f5af78c7334310" /><Relationship Type="http://schemas.openxmlformats.org/officeDocument/2006/relationships/notesMaster" Target="/ppt/notesMasters/notesMaster1.xml" Id="R8ddc5868d0644754" /><Relationship Type="http://schemas.openxmlformats.org/officeDocument/2006/relationships/presProps" Target="/ppt/presProps.xml" Id="R964fa61c821c4727" /><Relationship Type="http://schemas.openxmlformats.org/officeDocument/2006/relationships/tableStyles" Target="/ppt/tableStyles.xml" Id="R92580eda7d5e4728" /><Relationship Type="http://schemas.openxmlformats.org/officeDocument/2006/relationships/slide" Target="/ppt/slides/slide1.xml" Id="R103a04278ff2423d" /><Relationship Type="http://schemas.openxmlformats.org/officeDocument/2006/relationships/slide" Target="/ppt/slides/slide2.xml" Id="Rae205a5f8cf943b5" /><Relationship Type="http://schemas.openxmlformats.org/officeDocument/2006/relationships/slide" Target="/ppt/slides/slide3.xml" Id="R7b5600a1f3594515" /><Relationship Type="http://schemas.openxmlformats.org/officeDocument/2006/relationships/slide" Target="/ppt/slides/slide4.xml" Id="Rd10b0e9f962f4aa5" /><Relationship Type="http://schemas.openxmlformats.org/officeDocument/2006/relationships/slide" Target="/ppt/slides/slide5.xml" Id="R52a42ac57b704d32" /><Relationship Type="http://schemas.openxmlformats.org/officeDocument/2006/relationships/slide" Target="/ppt/slides/slide6.xml" Id="R0d628bb30f47472a" /><Relationship Type="http://schemas.openxmlformats.org/officeDocument/2006/relationships/slide" Target="/ppt/slides/slide7.xml" Id="Ra2571862fd8b44f2" /><Relationship Type="http://schemas.openxmlformats.org/officeDocument/2006/relationships/slide" Target="/ppt/slides/slide8.xml" Id="Rf624800c6a124ebb" /><Relationship Type="http://schemas.openxmlformats.org/officeDocument/2006/relationships/slide" Target="/ppt/slides/slide9.xml" Id="Rcd5377f2d17247f8" /><Relationship Type="http://schemas.openxmlformats.org/officeDocument/2006/relationships/slide" Target="/ppt/slides/slide10.xml" Id="Re4ff687db5e5432f" /><Relationship Type="http://schemas.openxmlformats.org/officeDocument/2006/relationships/slide" Target="/ppt/slides/slide11.xml" Id="R1aa9e86e56bb4285" /><Relationship Type="http://schemas.openxmlformats.org/officeDocument/2006/relationships/slide" Target="/ppt/slides/slide12.xml" Id="R4969e194be524d08" /><Relationship Type="http://schemas.openxmlformats.org/officeDocument/2006/relationships/slide" Target="/ppt/slides/slide13.xml" Id="R6f1625662051447b" /><Relationship Type="http://schemas.openxmlformats.org/officeDocument/2006/relationships/slide" Target="/ppt/slides/slide14.xml" Id="Ra1345ab66d384a45" /><Relationship Type="http://schemas.openxmlformats.org/officeDocument/2006/relationships/slide" Target="/ppt/slides/slide15.xml" Id="Reda32e06e86547db" /><Relationship Type="http://schemas.openxmlformats.org/officeDocument/2006/relationships/slide" Target="/ppt/slides/slide16.xml" Id="Rbec79a391a8d4f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997dc9e8ab46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aba244d5234e83" /><Relationship Type="http://schemas.openxmlformats.org/officeDocument/2006/relationships/notesMaster" Target="/ppt/notesMasters/notesMaster1.xml" Id="Ra2ff6211d70043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9455ca8a984ba1" /><Relationship Type="http://schemas.openxmlformats.org/officeDocument/2006/relationships/notesMaster" Target="/ppt/notesMasters/notesMaster1.xml" Id="Rd68ab5ee434642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16e38a62d344e3" /><Relationship Type="http://schemas.openxmlformats.org/officeDocument/2006/relationships/notesMaster" Target="/ppt/notesMasters/notesMaster1.xml" Id="R60e410e0f51646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aff929403f4070" /><Relationship Type="http://schemas.openxmlformats.org/officeDocument/2006/relationships/notesMaster" Target="/ppt/notesMasters/notesMaster1.xml" Id="Reae2b52575ae4a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08b136b2c548c6" /><Relationship Type="http://schemas.openxmlformats.org/officeDocument/2006/relationships/notesMaster" Target="/ppt/notesMasters/notesMaster1.xml" Id="R7fa89fdfd1ca43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53edf07468d4b85" /><Relationship Type="http://schemas.openxmlformats.org/officeDocument/2006/relationships/notesMaster" Target="/ppt/notesMasters/notesMaster1.xml" Id="R36ab3babc93f47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7c725bcf7d4059" /><Relationship Type="http://schemas.openxmlformats.org/officeDocument/2006/relationships/notesMaster" Target="/ppt/notesMasters/notesMaster1.xml" Id="Rce2f4f64fd2b47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5766b5de6b47e3" /><Relationship Type="http://schemas.openxmlformats.org/officeDocument/2006/relationships/notesMaster" Target="/ppt/notesMasters/notesMaster1.xml" Id="R3363edd83b1348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f39d313dfb493e" /><Relationship Type="http://schemas.openxmlformats.org/officeDocument/2006/relationships/notesMaster" Target="/ppt/notesMasters/notesMaster1.xml" Id="R5ea087b913e948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f9ac36d5e74ca8" /><Relationship Type="http://schemas.openxmlformats.org/officeDocument/2006/relationships/notesMaster" Target="/ppt/notesMasters/notesMaster1.xml" Id="R1d712a5749634de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ce31a4ca0a4ae8" /><Relationship Type="http://schemas.openxmlformats.org/officeDocument/2006/relationships/notesMaster" Target="/ppt/notesMasters/notesMaster1.xml" Id="R3a9992a6eb274b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95567fbf7b94fb0" /><Relationship Type="http://schemas.openxmlformats.org/officeDocument/2006/relationships/notesMaster" Target="/ppt/notesMasters/notesMaster1.xml" Id="R9c01e345ac86405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63d8bc9b57b47ff" /><Relationship Type="http://schemas.openxmlformats.org/officeDocument/2006/relationships/notesMaster" Target="/ppt/notesMasters/notesMaster1.xml" Id="Rb81ea4e0f1734d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60af101e4a547ef" /><Relationship Type="http://schemas.openxmlformats.org/officeDocument/2006/relationships/notesMaster" Target="/ppt/notesMasters/notesMaster1.xml" Id="Rcb99b89f8089415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57a7396e0a64e08" /><Relationship Type="http://schemas.openxmlformats.org/officeDocument/2006/relationships/notesMaster" Target="/ppt/notesMasters/notesMaster1.xml" Id="R6c3d637aca734da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b66beedee21464e" /><Relationship Type="http://schemas.openxmlformats.org/officeDocument/2006/relationships/notesMaster" Target="/ppt/notesMasters/notesMaster1.xml" Id="R8de3fb4b3cc141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25 detik. Jelaskan bahwa presentasi menghubungkan struktur, modus, dan perpindahan daya. Seluruh angka adalah hasil model ideal. Total pemaparan sekitar 16 menit dan tersedia sekitar 4 menit untuk tanya jawab.</a:t>
            </a:r>
          </a:p>
          <a:p xmlns:a="http://schemas.openxmlformats.org/drawingml/2006/main">
            <a:r>
              <a:t/>
            </a:r>
          </a:p>
          <a:p xmlns:a="http://schemas.openxmlformats.org/drawingml/2006/main">
            <a:r>
              <a:t>Sumber: Bab 4 Pandu Gelombang Planar, materi kuliah yang diberikan, hlm. 93–120. Parameter dan hasil numerik dari simulasi_optik.py.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50 detik. Gunakan diagram untuk menunjukkan arah x dan z. Teras n2 lebih tinggi dari kedua selubung. Simetris bila n1=n3, asimetris bila tidak sama. Skema tidak berskala. Sumber Bab 4.1, hlm. 93–94.</a:t>
            </a:r>
          </a:p>
          <a:p xmlns:a="http://schemas.openxmlformats.org/drawingml/2006/main">
            <a:r>
              <a:t/>
            </a:r>
          </a:p>
          <a:p xmlns:a="http://schemas.openxmlformats.org/drawingml/2006/main">
            <a:r>
              <a:t>Sumber: Bab 4 Pandu Gelombang Planar, materi kuliah yang diberikan, hlm. 93–120. Parameter dan hasil numerik dari simulasi_optik.py.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60 detik. Turunkan rentang indeks efektif dari tanda koefisien persamaan gelombang: medan berosilasi dalam teras dan meluruh di selubung. Pantulan total saja belum menentukan modus karena syarat fase juga dibutuhkan. Selubung membawa bagian daya longitudinal, bukan berarti radiasi keluar. Sumber Bab 4.1.</a:t>
            </a:r>
          </a:p>
          <a:p xmlns:a="http://schemas.openxmlformats.org/drawingml/2006/main">
            <a:r>
              <a:t/>
            </a:r>
          </a:p>
          <a:p xmlns:a="http://schemas.openxmlformats.org/drawingml/2006/main">
            <a:r>
              <a:t>Sumber: Bab 4 Pandu Gelombang Planar, materi kuliah yang diberikan, hlm. 93–120. Parameter dan hasil numerik dari simulasi_optik.py.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50 detik. Arah z merupakan arah propagasi. TE berarti Ez=0; TM berarti Hz=0. Jelaskan bahwa masing-masing masih memiliki komponen longitudinal dari medan lainnya. Semua model numerik selanjutnya hanya untuk TE. Sumber Bab 4.1 a dan b.</a:t>
            </a:r>
          </a:p>
          <a:p xmlns:a="http://schemas.openxmlformats.org/drawingml/2006/main">
            <a:r>
              <a:t/>
            </a:r>
          </a:p>
          <a:p xmlns:a="http://schemas.openxmlformats.org/drawingml/2006/main">
            <a:r>
              <a:t>Sumber: Bab 4 Pandu Gelombang Planar, materi kuliah yang diberikan, hlm. 93–120. Parameter dan hasil numerik dari simulasi_optik.py.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80 detik. Mulai dari cos(hx) pada teras untuk mode genap. Kontinuitas turunan memberi h tan(hd/2)=q. Gabungan genap dan ganjil menjadi persamaan fase. Definisikan h dan q sebagai bilangan gelombang melintang dan konstanta peluruhan. V memakai ketebalan penuh, bukan setengah ketebalan. TE_m terikat bila V&gt;mπ. Pada cutoff tepat jangan hitung sebagai modus terikat. Sumber Bab 4.1–4.2.</a:t>
            </a:r>
          </a:p>
          <a:p xmlns:a="http://schemas.openxmlformats.org/drawingml/2006/main">
            <a:r>
              <a:t/>
            </a:r>
          </a:p>
          <a:p xmlns:a="http://schemas.openxmlformats.org/drawingml/2006/main">
            <a:r>
              <a:t>Sumber: Bab 4 Pandu Gelombang Planar, materi kuliah yang diberikan, hlm. 93–120. Parameter dan hasil numerik dari simulasi_optik.py.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50 detik. Kopling prisma membutuhkan kecocokan β=k0 np sinθ. Pandu terkubur dapat dianalisis dengan pendekatan indeks efektif bertahap. Perubahan permitivitas menghubungkan modus melalui overlap medan. Materi ini mengantar teori directional coupler. Sumber Bab 4.3–4.5.</a:t>
            </a:r>
          </a:p>
          <a:p xmlns:a="http://schemas.openxmlformats.org/drawingml/2006/main">
            <a:r>
              <a:t/>
            </a:r>
          </a:p>
          <a:p xmlns:a="http://schemas.openxmlformats.org/drawingml/2006/main">
            <a:r>
              <a:t>Sumber: Bab 4 Pandu Gelombang Planar, materi kuliah yang diberikan, hlm. 93–120. Parameter dan hasil numerik dari simulasi_optik.py.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45 detik. Angka indeks merupakan pilihan pedagogis yang mengikuti skala contoh Bab 4, bukan sifat material komersial yang diukur. Semua panjang internal memakai mikrometer. Panjang gelombang dan indeks dibuat tetap saat ketebalan atau celah divariasikan.</a:t>
            </a:r>
          </a:p>
          <a:p xmlns:a="http://schemas.openxmlformats.org/drawingml/2006/main">
            <a:r>
              <a:t/>
            </a:r>
          </a:p>
          <a:p xmlns:a="http://schemas.openxmlformats.org/drawingml/2006/main">
            <a:r>
              <a:t>Sumber: Bab 4 Pandu Gelombang Planar, materi kuliah yang diberikan, hlm. 93–120. Parameter dan hasil numerik dari simulasi_optik.py.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60 detik. Teras berada pada -1 sampai +1 mikrometer. Indeks efektif 1,503065 memenuhi rentang terikat. Grafik menampilkan amplitudo, bukan daya. Faktor pengurungan daya diperoleh dengan mengintegralkan kuadrat medan. Sekitar separuh daya berada di teras dan sisanya di selubung tetapi seluruhnya merupakan mode terpandu.</a:t>
            </a:r>
          </a:p>
          <a:p xmlns:a="http://schemas.openxmlformats.org/drawingml/2006/main">
            <a:r>
              <a:t/>
            </a:r>
          </a:p>
          <a:p xmlns:a="http://schemas.openxmlformats.org/drawingml/2006/main">
            <a:r>
              <a:t>Sumber: Bab 4 Pandu Gelombang Planar, materi kuliah yang diberikan, hlm. 93–120. Parameter dan hasil numerik dari simulasi_optik.py.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70 detik. Naiknya ketebalan menaikkan V dan memungkinkan pola dengan lebih banyak simpul. Cabang baru muncul dari indeks selubung. Cutoff TE1 pada 4,4670 mikrometer dan TE2 pada 8,9341 mikrometer. Pada ketebalan tepat cutoff, mode baru belum terikat. Nilai grafik berasal dari 180 solusi ketebalan.</a:t>
            </a:r>
          </a:p>
          <a:p xmlns:a="http://schemas.openxmlformats.org/drawingml/2006/main">
            <a:r>
              <a:t/>
            </a:r>
          </a:p>
          <a:p xmlns:a="http://schemas.openxmlformats.org/drawingml/2006/main">
            <a:r>
              <a:t>Sumber: Bab 4 Pandu Gelombang Planar, materi kuliah yang diberikan, hlm. 93–120. Parameter dan hasil numerik dari simulasi_optik.py.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45 detik. Dua teras identik mendukung satu modus masing-masing. Celah g diukur antartepi, bukan antarpusat. Seluruh selubung memiliki indeks sama. Kedekatan teras memungkinkan ekor evanescent saling menjangkau. Diagram dapat diedit di PowerPoint dan tidak berskala. Sumber geometri Bab 4.6.</a:t>
            </a:r>
          </a:p>
          <a:p xmlns:a="http://schemas.openxmlformats.org/drawingml/2006/main">
            <a:r>
              <a:t/>
            </a:r>
          </a:p>
          <a:p xmlns:a="http://schemas.openxmlformats.org/drawingml/2006/main">
            <a:r>
              <a:t>Sumber: Bab 4 Pandu Gelombang Planar, materi kuliah yang diberikan, hlm. 93–120. Parameter dan hasil numerik dari simulasi_optik.py.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80 detik. Koefisien kopling tidak ditebak. Pada setengah struktur dipasang kondisi genap E=1 E'=0 atau ganjil E=0 E'=1. Medan dan turunannya diteruskan melalui celah serta teras. Pada selubung luar dipenuhi E'+qE=0. Dua akar indeks menghasilkan beta plus dan minus. Jelaskan kappa sama dengan setengah pemisahan beta. Model supermode merujuk COMSOL Directional Coupler 6.3, bagian pengantar.</a:t>
            </a:r>
          </a:p>
          <a:p xmlns:a="http://schemas.openxmlformats.org/drawingml/2006/main">
            <a:r>
              <a:t/>
            </a:r>
          </a:p>
          <a:p xmlns:a="http://schemas.openxmlformats.org/drawingml/2006/main">
            <a:r>
              <a:t>Sumber: Bab 4 Pandu Gelombang Planar, materi kuliah yang diberikan, hlm. 93–120. Parameter dan hasil numerik dari simulasi_optik.py.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80 detik. Dari dA/dz=-ikappa B dan dB/dz=-ikappa A diperoleh persamaan osilator untuk A. Dengan input A=1 B=0, daya cos kuadrat dan sin kuadrat. Garis menunjukkan daya modal ideal, bukan integral pada teras saja. Konservasi Pa+Pb=P0 berlaku tanpa rugi.</a:t>
            </a:r>
          </a:p>
          <a:p xmlns:a="http://schemas.openxmlformats.org/drawingml/2006/main">
            <a:r>
              <a:t/>
            </a:r>
          </a:p>
          <a:p xmlns:a="http://schemas.openxmlformats.org/drawingml/2006/main">
            <a:r>
              <a:t>Sumber: Bab 4 Pandu Gelombang Planar, materi kuliah yang diberikan, hlm. 93–120. Parameter dan hasil numerik dari simulasi_optik.py.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70 detik. Dengan memperbesar g, splitting supermode berkurang, kappa mengecil, dan panjang transfer bertambah. Angka Lc naik 5,23 kali dari g2 ke g6. Pada panjang tetap, daya tidak monoton sebab kopler lebih kuat dapat sudah melewati transfer maksimum. Contoh pada z563,09 mikrometer: Pb/P0 0,2216; 1; 0,4094.</a:t>
            </a:r>
          </a:p>
          <a:p xmlns:a="http://schemas.openxmlformats.org/drawingml/2006/main">
            <a:r>
              <a:t/>
            </a:r>
          </a:p>
          <a:p xmlns:a="http://schemas.openxmlformats.org/drawingml/2006/main">
            <a:r>
              <a:t>Sumber: Bab 4 Pandu Gelombang Planar, materi kuliah yang diberikan, hlm. 93–120. Parameter dan hasil numerik dari simulasi_optik.py.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75 detik. Untuk pembagi 50:50 pilih Lc/2. Untuk full transfer pilih Lc. Pada perangkat pasif panjang tetap tidak berarti switching aktif. Aktuator harus mengubah indeks, detuning atau kopling. Generalisasi mismatch menurunkan maksimum transfer. Untuk Delta beta=2kappa maksimum0,5, dan 4kappa maksimum0,2. Belum ada model respons aktuator.</a:t>
            </a:r>
          </a:p>
          <a:p xmlns:a="http://schemas.openxmlformats.org/drawingml/2006/main">
            <a:r>
              <a:t/>
            </a:r>
          </a:p>
          <a:p xmlns:a="http://schemas.openxmlformats.org/drawingml/2006/main">
            <a:r>
              <a:t>Sumber: Bab 4 Pandu Gelombang Planar, materi kuliah yang diberikan, hlm. 93–120. Parameter dan hasil numerik dari simulasi_optik.py.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65 detik. Ulangi hubungan antarkonsep, bukan sekadar membacakan angka. Tes residual1e-14 dan konservasi daya2,22e-16 memeriksa implementasi. Pemindaian akar801 hingga4001 stabil. Batas model penting: satu dimensi, tanpa rugi, tidak memodelkan material atau masukan nyata. Perangkat perlu analisis lanjut sebelum fabrikasi.</a:t>
            </a:r>
          </a:p>
          <a:p xmlns:a="http://schemas.openxmlformats.org/drawingml/2006/main">
            <a:r>
              <a:t/>
            </a:r>
          </a:p>
          <a:p xmlns:a="http://schemas.openxmlformats.org/drawingml/2006/main">
            <a:r>
              <a:t>Sumber: Bab 4 Pandu Gelombang Planar, materi kuliah yang diberikan, hlm. 93–120. Parameter dan hasil numerik dari simulasi_optik.py.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55 detik. Sumber utama materi Bab4 yang diberikan dan slide penugasan halaman9–12. COMSOL hanya mendukung penjelasan supermode, bukan nilai parameter simulasi. Sisakan empat menit diskusi. Jawaban panduan: neff harus di antara indeks agar solusi berosilasi di teras dan meluruh di luar; d menaikkan V; celah sangat memengaruhi kappa sedangkan daya pada panjang tetap bergantung fase.</a:t>
            </a:r>
          </a:p>
          <a:p xmlns:a="http://schemas.openxmlformats.org/drawingml/2006/main">
            <a:r>
              <a:t/>
            </a:r>
          </a:p>
          <a:p xmlns:a="http://schemas.openxmlformats.org/drawingml/2006/main">
            <a:r>
              <a:t>Sumber: Bab 4 Pandu Gelombang Planar, materi kuliah yang diberikan, hlm. 93–120. Parameter dan hasil numerik dari simulasi_optik.py.</a:t>
            </a:r>
          </a:p>
          <a:p xmlns:a="http://schemas.openxmlformats.org/drawingml/2006/main">
            <a:r>
              <a:t>URL sumber tambahan: https://doc.comsol.com/6.3/doc/com.comsol.help.models.woptics.directional_coupler/directional_coupler.html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884426367f43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a84c22381c4e3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132f363d7b9417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b1dd8d51d9840f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1da7ee04315469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36cc9e692e94a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47CDBB-1B7A-4F1D-BA40-79C6A1DA97F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B948B2E-6EB6-4473-BE5C-8244AEE5CEF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6CF1995-BD45-4885-8149-C2A9EBA2E2B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A762BC-E572-4C5E-A002-E9978F0808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9B7719E-CACA-4EC8-90BA-EACC012DBCF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16B1A1-C4AC-4857-9B0E-BA808A81DC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B525F6-9E2E-4761-AA12-73A5F3D4CC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3499F46-9DD9-447B-B8D2-747F2A1E838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9333D7-3E73-48F0-9D66-799785C76B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5980BF1-0627-49E7-BDBB-E6AF9369DA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cd0ed39a384229" /><Relationship Type="http://schemas.openxmlformats.org/officeDocument/2006/relationships/slideLayout" Target="/ppt/slideLayouts/slideLayout1.xml" Id="R1841c311232e433f" /><Relationship Type="http://schemas.openxmlformats.org/officeDocument/2006/relationships/slideLayout" Target="/ppt/slideLayouts/slideLayout2.xml" Id="R0f934c72fbc345d3" /><Relationship Type="http://schemas.openxmlformats.org/officeDocument/2006/relationships/slideLayout" Target="/ppt/slideLayouts/slideLayout3.xml" Id="Rd003e9a4eed84251" /><Relationship Type="http://schemas.openxmlformats.org/officeDocument/2006/relationships/slideLayout" Target="/ppt/slideLayouts/slideLayout4.xml" Id="R759dc467e75049c1" /><Relationship Type="http://schemas.openxmlformats.org/officeDocument/2006/relationships/slideLayout" Target="/ppt/slideLayouts/slideLayout5.xml" Id="R111b60ff1d364b41" /><Relationship Type="http://schemas.openxmlformats.org/officeDocument/2006/relationships/slideLayout" Target="/ppt/slideLayouts/slideLayout6.xml" Id="Rcb0cea3cf7314b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41c311232e433f"/>
    <p:sldLayoutId xmlns:r="http://schemas.openxmlformats.org/officeDocument/2006/relationships" id="2147483650" r:id="R0f934c72fbc345d3"/>
    <p:sldLayoutId xmlns:r="http://schemas.openxmlformats.org/officeDocument/2006/relationships" id="2147483651" r:id="Rd003e9a4eed84251"/>
    <p:sldLayoutId xmlns:r="http://schemas.openxmlformats.org/officeDocument/2006/relationships" id="2147483652" r:id="R759dc467e75049c1"/>
    <p:sldLayoutId xmlns:r="http://schemas.openxmlformats.org/officeDocument/2006/relationships" id="2147483653" r:id="R111b60ff1d364b41"/>
    <p:sldLayoutId xmlns:r="http://schemas.openxmlformats.org/officeDocument/2006/relationships" id="2147483654" r:id="Rcb0cea3cf7314b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0396e364a274eb7" /><Relationship Type="http://schemas.openxmlformats.org/officeDocument/2006/relationships/notesSlide" Target="/ppt/notesSlides/notesSlide1.xml" Id="R0a3df485a6ef49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bb075a100a84be4" /><Relationship Type="http://schemas.openxmlformats.org/officeDocument/2006/relationships/notesSlide" Target="/ppt/notesSlides/notesSlide2.xml" Id="R22e3adcf55f042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3c38a23cf73414f" /><Relationship Type="http://schemas.openxmlformats.org/officeDocument/2006/relationships/notesSlide" Target="/ppt/notesSlides/notesSlide3.xml" Id="R0c4d881ea5fa49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8259fe7cf6c490f" /><Relationship Type="http://schemas.openxmlformats.org/officeDocument/2006/relationships/notesSlide" Target="/ppt/notesSlides/notesSlide4.xml" Id="R9ca4fd8df8274a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5561c31910947cf" /><Relationship Type="http://schemas.openxmlformats.org/officeDocument/2006/relationships/notesSlide" Target="/ppt/notesSlides/notesSlide5.xml" Id="Rdb2e65496f294d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ad47aa11f8a46d5" /><Relationship Type="http://schemas.openxmlformats.org/officeDocument/2006/relationships/notesSlide" Target="/ppt/notesSlides/notesSlide6.xml" Id="R8053e5e5f7da42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a3fd3b00f624f5c" /><Relationship Type="http://schemas.openxmlformats.org/officeDocument/2006/relationships/notesSlide" Target="/ppt/notesSlides/notesSlide7.xml" Id="Rbf025c20921e4d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046a0d900784564" /><Relationship Type="http://schemas.openxmlformats.org/officeDocument/2006/relationships/chart" Target="/ppt/slides/charts/chart1.xml" Id="R78ce5e15bfeb437b" /><Relationship Type="http://schemas.openxmlformats.org/officeDocument/2006/relationships/notesSlide" Target="/ppt/notesSlides/notesSlide8.xml" Id="R70230388f27b46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ddd050d64944a14" /><Relationship Type="http://schemas.openxmlformats.org/officeDocument/2006/relationships/chart" Target="/ppt/slides/charts/chart2.xml" Id="Rb91f193f795f4f2a" /><Relationship Type="http://schemas.openxmlformats.org/officeDocument/2006/relationships/notesSlide" Target="/ppt/notesSlides/notesSlide9.xml" Id="Rb2eac07e3d914a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deda24338234a4c" /><Relationship Type="http://schemas.openxmlformats.org/officeDocument/2006/relationships/notesSlide" Target="/ppt/notesSlides/notesSlide10.xml" Id="R6bacb8255537452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8a63a055d9d46b6" /><Relationship Type="http://schemas.openxmlformats.org/officeDocument/2006/relationships/notesSlide" Target="/ppt/notesSlides/notesSlide11.xml" Id="Raf3ed8dc7e5a409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a775ed464a344c7" /><Relationship Type="http://schemas.openxmlformats.org/officeDocument/2006/relationships/chart" Target="/ppt/slides/charts/chart3.xml" Id="Rd66590fd1c97491b" /><Relationship Type="http://schemas.openxmlformats.org/officeDocument/2006/relationships/notesSlide" Target="/ppt/notesSlides/notesSlide12.xml" Id="R55d72bf6724241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804738981f34879" /><Relationship Type="http://schemas.openxmlformats.org/officeDocument/2006/relationships/chart" Target="/ppt/slides/charts/chart4.xml" Id="Rb287b4f3eaa94755" /><Relationship Type="http://schemas.openxmlformats.org/officeDocument/2006/relationships/notesSlide" Target="/ppt/notesSlides/notesSlide13.xml" Id="R7d0b24a2e68b45a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67c01b0c7f540f4" /><Relationship Type="http://schemas.openxmlformats.org/officeDocument/2006/relationships/notesSlide" Target="/ppt/notesSlides/notesSlide14.xml" Id="Rda18d0909a01480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6714481cce94d31" /><Relationship Type="http://schemas.openxmlformats.org/officeDocument/2006/relationships/notesSlide" Target="/ppt/notesSlides/notesSlide15.xml" Id="R810315d3cd0849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c17c868c07843d7" /><Relationship Type="http://schemas.openxmlformats.org/officeDocument/2006/relationships/notesSlide" Target="/ppt/notesSlides/notesSlide16.xml" Id="R48d72086c4dd4be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TE0</c:v>
          </c:tx>
          <c:spPr>
            <a:ln xmlns:a="http://schemas.openxmlformats.org/drawingml/2006/main" w="23813">
              <a:solidFill>
                <a:srgbClr val="146078"/>
              </a:solidFill>
            </a:ln>
          </c:spPr>
          <c:marker>
            <c:symbol val="none"/>
          </c:marker>
          <c:xVal>
            <c:numRef>
              <c:f>'Chart Data'!$A$2:$A$122</c:f>
              <c:numCache>
                <c:formatCode>General</c:formatCode>
                <c:ptCount val="121"/>
                <c:pt idx="0">
                  <c:v>-10</c:v>
                </c:pt>
                <c:pt idx="1">
                  <c:v>-9.833333333</c:v>
                </c:pt>
                <c:pt idx="2">
                  <c:v>-9.666666667</c:v>
                </c:pt>
                <c:pt idx="3">
                  <c:v>-9.5</c:v>
                </c:pt>
                <c:pt idx="4">
                  <c:v>-9.333333333</c:v>
                </c:pt>
                <c:pt idx="5">
                  <c:v>-9.166666667</c:v>
                </c:pt>
                <c:pt idx="6">
                  <c:v>-9</c:v>
                </c:pt>
                <c:pt idx="7">
                  <c:v>-8.833333333</c:v>
                </c:pt>
                <c:pt idx="8">
                  <c:v>-8.666666667</c:v>
                </c:pt>
                <c:pt idx="9">
                  <c:v>-8.5</c:v>
                </c:pt>
                <c:pt idx="10">
                  <c:v>-8.333333333</c:v>
                </c:pt>
                <c:pt idx="11">
                  <c:v>-8.166666667</c:v>
                </c:pt>
                <c:pt idx="12">
                  <c:v>-8</c:v>
                </c:pt>
                <c:pt idx="13">
                  <c:v>-7.833333333</c:v>
                </c:pt>
                <c:pt idx="14">
                  <c:v>-7.666666667</c:v>
                </c:pt>
                <c:pt idx="15">
                  <c:v>-7.5</c:v>
                </c:pt>
                <c:pt idx="16">
                  <c:v>-7.333333333</c:v>
                </c:pt>
                <c:pt idx="17">
                  <c:v>-7.166666667</c:v>
                </c:pt>
                <c:pt idx="18">
                  <c:v>-7</c:v>
                </c:pt>
                <c:pt idx="19">
                  <c:v>-6.833333333</c:v>
                </c:pt>
                <c:pt idx="20">
                  <c:v>-6.666666667</c:v>
                </c:pt>
                <c:pt idx="21">
                  <c:v>-6.5</c:v>
                </c:pt>
                <c:pt idx="22">
                  <c:v>-6.333333333</c:v>
                </c:pt>
                <c:pt idx="23">
                  <c:v>-6.166666667</c:v>
                </c:pt>
                <c:pt idx="24">
                  <c:v>-6</c:v>
                </c:pt>
                <c:pt idx="25">
                  <c:v>-5.833333333</c:v>
                </c:pt>
                <c:pt idx="26">
                  <c:v>-5.666666667</c:v>
                </c:pt>
                <c:pt idx="27">
                  <c:v>-5.5</c:v>
                </c:pt>
                <c:pt idx="28">
                  <c:v>-5.333333333</c:v>
                </c:pt>
                <c:pt idx="29">
                  <c:v>-5.166666667</c:v>
                </c:pt>
                <c:pt idx="30">
                  <c:v>-5</c:v>
                </c:pt>
                <c:pt idx="31">
                  <c:v>-4.833333333</c:v>
                </c:pt>
                <c:pt idx="32">
                  <c:v>-4.666666667</c:v>
                </c:pt>
                <c:pt idx="33">
                  <c:v>-4.5</c:v>
                </c:pt>
                <c:pt idx="34">
                  <c:v>-4.333333333</c:v>
                </c:pt>
                <c:pt idx="35">
                  <c:v>-4.166666667</c:v>
                </c:pt>
                <c:pt idx="36">
                  <c:v>-4</c:v>
                </c:pt>
                <c:pt idx="37">
                  <c:v>-3.833333333</c:v>
                </c:pt>
                <c:pt idx="38">
                  <c:v>-3.666666667</c:v>
                </c:pt>
                <c:pt idx="39">
                  <c:v>-3.5</c:v>
                </c:pt>
                <c:pt idx="40">
                  <c:v>-3.333333333</c:v>
                </c:pt>
                <c:pt idx="41">
                  <c:v>-3.166666667</c:v>
                </c:pt>
                <c:pt idx="42">
                  <c:v>-3</c:v>
                </c:pt>
                <c:pt idx="43">
                  <c:v>-2.833333333</c:v>
                </c:pt>
                <c:pt idx="44">
                  <c:v>-2.666666667</c:v>
                </c:pt>
                <c:pt idx="45">
                  <c:v>-2.5</c:v>
                </c:pt>
                <c:pt idx="46">
                  <c:v>-2.333333333</c:v>
                </c:pt>
                <c:pt idx="47">
                  <c:v>-2.166666667</c:v>
                </c:pt>
                <c:pt idx="48">
                  <c:v>-2</c:v>
                </c:pt>
                <c:pt idx="49">
                  <c:v>-1.833333333</c:v>
                </c:pt>
                <c:pt idx="50">
                  <c:v>-1.666666667</c:v>
                </c:pt>
                <c:pt idx="51">
                  <c:v>-1.5</c:v>
                </c:pt>
                <c:pt idx="52">
                  <c:v>-1.333333333</c:v>
                </c:pt>
                <c:pt idx="53">
                  <c:v>-1.166666667</c:v>
                </c:pt>
                <c:pt idx="54">
                  <c:v>-1</c:v>
                </c:pt>
                <c:pt idx="55">
                  <c:v>-0.8333333333</c:v>
                </c:pt>
                <c:pt idx="56">
                  <c:v>-0.6666666667</c:v>
                </c:pt>
                <c:pt idx="57">
                  <c:v>-0.5</c:v>
                </c:pt>
                <c:pt idx="58">
                  <c:v>-0.3333333333</c:v>
                </c:pt>
                <c:pt idx="59">
                  <c:v>-0.1666666667</c:v>
                </c:pt>
                <c:pt idx="60">
                  <c:v>0</c:v>
                </c:pt>
                <c:pt idx="61">
                  <c:v>0.1666666667</c:v>
                </c:pt>
                <c:pt idx="62">
                  <c:v>0.3333333333</c:v>
                </c:pt>
                <c:pt idx="63">
                  <c:v>0.5</c:v>
                </c:pt>
                <c:pt idx="64">
                  <c:v>0.6666666667</c:v>
                </c:pt>
                <c:pt idx="65">
                  <c:v>0.8333333333</c:v>
                </c:pt>
                <c:pt idx="66">
                  <c:v>1</c:v>
                </c:pt>
                <c:pt idx="67">
                  <c:v>1.166666667</c:v>
                </c:pt>
                <c:pt idx="68">
                  <c:v>1.333333333</c:v>
                </c:pt>
                <c:pt idx="69">
                  <c:v>1.5</c:v>
                </c:pt>
                <c:pt idx="70">
                  <c:v>1.666666667</c:v>
                </c:pt>
                <c:pt idx="71">
                  <c:v>1.833333333</c:v>
                </c:pt>
                <c:pt idx="72">
                  <c:v>2</c:v>
                </c:pt>
                <c:pt idx="73">
                  <c:v>2.166666667</c:v>
                </c:pt>
                <c:pt idx="74">
                  <c:v>2.333333333</c:v>
                </c:pt>
                <c:pt idx="75">
                  <c:v>2.5</c:v>
                </c:pt>
                <c:pt idx="76">
                  <c:v>2.666666667</c:v>
                </c:pt>
                <c:pt idx="77">
                  <c:v>2.833333333</c:v>
                </c:pt>
                <c:pt idx="78">
                  <c:v>3</c:v>
                </c:pt>
                <c:pt idx="79">
                  <c:v>3.166666667</c:v>
                </c:pt>
                <c:pt idx="80">
                  <c:v>3.333333333</c:v>
                </c:pt>
                <c:pt idx="81">
                  <c:v>3.5</c:v>
                </c:pt>
                <c:pt idx="82">
                  <c:v>3.666666667</c:v>
                </c:pt>
                <c:pt idx="83">
                  <c:v>3.833333333</c:v>
                </c:pt>
                <c:pt idx="84">
                  <c:v>4</c:v>
                </c:pt>
                <c:pt idx="85">
                  <c:v>4.166666667</c:v>
                </c:pt>
                <c:pt idx="86">
                  <c:v>4.333333333</c:v>
                </c:pt>
                <c:pt idx="87">
                  <c:v>4.5</c:v>
                </c:pt>
                <c:pt idx="88">
                  <c:v>4.666666667</c:v>
                </c:pt>
                <c:pt idx="89">
                  <c:v>4.833333333</c:v>
                </c:pt>
                <c:pt idx="90">
                  <c:v>5</c:v>
                </c:pt>
                <c:pt idx="91">
                  <c:v>5.166666667</c:v>
                </c:pt>
                <c:pt idx="92">
                  <c:v>5.333333333</c:v>
                </c:pt>
                <c:pt idx="93">
                  <c:v>5.5</c:v>
                </c:pt>
                <c:pt idx="94">
                  <c:v>5.666666667</c:v>
                </c:pt>
                <c:pt idx="95">
                  <c:v>5.833333333</c:v>
                </c:pt>
                <c:pt idx="96">
                  <c:v>6</c:v>
                </c:pt>
                <c:pt idx="97">
                  <c:v>6.166666667</c:v>
                </c:pt>
                <c:pt idx="98">
                  <c:v>6.333333333</c:v>
                </c:pt>
                <c:pt idx="99">
                  <c:v>6.5</c:v>
                </c:pt>
                <c:pt idx="100">
                  <c:v>6.666666667</c:v>
                </c:pt>
                <c:pt idx="101">
                  <c:v>6.833333333</c:v>
                </c:pt>
                <c:pt idx="102">
                  <c:v>7</c:v>
                </c:pt>
                <c:pt idx="103">
                  <c:v>7.166666667</c:v>
                </c:pt>
                <c:pt idx="104">
                  <c:v>7.333333333</c:v>
                </c:pt>
                <c:pt idx="105">
                  <c:v>7.5</c:v>
                </c:pt>
                <c:pt idx="106">
                  <c:v>7.666666667</c:v>
                </c:pt>
                <c:pt idx="107">
                  <c:v>7.833333333</c:v>
                </c:pt>
                <c:pt idx="108">
                  <c:v>8</c:v>
                </c:pt>
                <c:pt idx="109">
                  <c:v>8.166666667</c:v>
                </c:pt>
                <c:pt idx="110">
                  <c:v>8.333333333</c:v>
                </c:pt>
                <c:pt idx="111">
                  <c:v>8.5</c:v>
                </c:pt>
                <c:pt idx="112">
                  <c:v>8.666666667</c:v>
                </c:pt>
                <c:pt idx="113">
                  <c:v>8.833333333</c:v>
                </c:pt>
                <c:pt idx="114">
                  <c:v>9</c:v>
                </c:pt>
                <c:pt idx="115">
                  <c:v>9.166666667</c:v>
                </c:pt>
                <c:pt idx="116">
                  <c:v>9.333333333</c:v>
                </c:pt>
                <c:pt idx="117">
                  <c:v>9.5</c:v>
                </c:pt>
                <c:pt idx="118">
                  <c:v>9.666666667</c:v>
                </c:pt>
                <c:pt idx="119">
                  <c:v>9.833333333</c:v>
                </c:pt>
                <c:pt idx="120">
                  <c:v>10</c:v>
                </c:pt>
              </c:numCache>
            </c:numRef>
          </c:xVal>
          <c:yVal>
            <c:numRef>
              <c:f>'Chart Data'!$B$2:$B$122</c:f>
              <c:numCache>
                <c:formatCode>0.0</c:formatCode>
                <c:ptCount val="121"/>
                <c:pt idx="0">
                  <c:v>0.02515324523</c:v>
                </c:pt>
                <c:pt idx="1">
                  <c:v>0.02683767281</c:v>
                </c:pt>
                <c:pt idx="2">
                  <c:v>0.0286349008</c:v>
                </c:pt>
                <c:pt idx="3">
                  <c:v>0.03055248306</c:v>
                </c:pt>
                <c:pt idx="4">
                  <c:v>0.03259847931</c:v>
                </c:pt>
                <c:pt idx="5">
                  <c:v>0.03478148899</c:v>
                </c:pt>
                <c:pt idx="6">
                  <c:v>0.03711068743</c:v>
                </c:pt>
                <c:pt idx="7">
                  <c:v>0.0395958644</c:v>
                </c:pt>
                <c:pt idx="8">
                  <c:v>0.04224746524</c:v>
                </c:pt>
                <c:pt idx="9">
                  <c:v>0.04507663481</c:v>
                </c:pt>
                <c:pt idx="10">
                  <c:v>0.04809526427</c:v>
                </c:pt>
                <c:pt idx="11">
                  <c:v>0.05131604112</c:v>
                </c:pt>
                <c:pt idx="12">
                  <c:v>0.05475250248</c:v>
                </c:pt>
                <c:pt idx="13">
                  <c:v>0.05841909201</c:v>
                </c:pt>
                <c:pt idx="14">
                  <c:v>0.06233122061</c:v>
                </c:pt>
                <c:pt idx="15">
                  <c:v>0.06650533121</c:v>
                </c:pt>
                <c:pt idx="16">
                  <c:v>0.07095896785</c:v>
                </c:pt>
                <c:pt idx="17">
                  <c:v>0.07571084944</c:v>
                </c:pt>
                <c:pt idx="18">
                  <c:v>0.08078094843</c:v>
                </c:pt>
                <c:pt idx="19">
                  <c:v>0.08619057477</c:v>
                </c:pt>
                <c:pt idx="20">
                  <c:v>0.09196246546</c:v>
                </c:pt>
                <c:pt idx="21">
                  <c:v>0.0981208801</c:v>
                </c:pt>
                <c:pt idx="22">
                  <c:v>0.1046917029</c:v>
                </c:pt>
                <c:pt idx="23">
                  <c:v>0.1117025514</c:v>
                </c:pt>
                <c:pt idx="24">
                  <c:v>0.1191828927</c:v>
                </c:pt>
                <c:pt idx="25">
                  <c:v>0.1271641671</c:v>
                </c:pt>
                <c:pt idx="26">
                  <c:v>0.1356799204</c:v>
                </c:pt>
                <c:pt idx="27">
                  <c:v>0.1447659449</c:v>
                </c:pt>
                <c:pt idx="28">
                  <c:v>0.1544604296</c:v>
                </c:pt>
                <c:pt idx="29">
                  <c:v>0.1648041211</c:v>
                </c:pt>
                <c:pt idx="30">
                  <c:v>0.1758404945</c:v>
                </c:pt>
                <c:pt idx="31">
                  <c:v>0.1876159365</c:v>
                </c:pt>
                <c:pt idx="32">
                  <c:v>0.2001799399</c:v>
                </c:pt>
                <c:pt idx="33">
                  <c:v>0.2135853121</c:v>
                </c:pt>
                <c:pt idx="34">
                  <c:v>0.2278883965</c:v>
                </c:pt>
                <c:pt idx="35">
                  <c:v>0.2431493101</c:v>
                </c:pt>
                <c:pt idx="36">
                  <c:v>0.2594321954</c:v>
                </c:pt>
                <c:pt idx="37">
                  <c:v>0.2768054903</c:v>
                </c:pt>
                <c:pt idx="38">
                  <c:v>0.2953422158</c:v>
                </c:pt>
                <c:pt idx="39">
                  <c:v>0.3151202831</c:v>
                </c:pt>
                <c:pt idx="40">
                  <c:v>0.3362228204</c:v>
                </c:pt>
                <c:pt idx="41">
                  <c:v>0.3587385232</c:v>
                </c:pt>
                <c:pt idx="42">
                  <c:v>0.3827620263</c:v>
                </c:pt>
                <c:pt idx="43">
                  <c:v>0.408394302</c:v>
                </c:pt>
                <c:pt idx="44">
                  <c:v>0.4357430844</c:v>
                </c:pt>
                <c:pt idx="45">
                  <c:v>0.4649233219</c:v>
                </c:pt>
                <c:pt idx="46">
                  <c:v>0.4960576611</c:v>
                </c:pt>
                <c:pt idx="47">
                  <c:v>0.5292769615</c:v>
                </c:pt>
                <c:pt idx="48">
                  <c:v>0.5647208459</c:v>
                </c:pt>
                <c:pt idx="49">
                  <c:v>0.602538287</c:v>
                </c:pt>
                <c:pt idx="50">
                  <c:v>0.642888234</c:v>
                </c:pt>
                <c:pt idx="51">
                  <c:v>0.6859402803</c:v>
                </c:pt>
                <c:pt idx="52">
                  <c:v>0.7318753761</c:v>
                </c:pt>
                <c:pt idx="53">
                  <c:v>0.7808865896</c:v>
                </c:pt>
                <c:pt idx="54">
                  <c:v>0.8331799181</c:v>
                </c:pt>
                <c:pt idx="55">
                  <c:v>0.883130465</c:v>
                </c:pt>
                <c:pt idx="56">
                  <c:v>0.9246647822</c:v>
                </c:pt>
                <c:pt idx="57">
                  <c:v>0.9573870477</c:v>
                </c:pt>
                <c:pt idx="58">
                  <c:v>0.9809854184</c:v>
                </c:pt>
                <c:pt idx="59">
                  <c:v>0.995235002</c:v>
                </c:pt>
                <c:pt idx="60">
                  <c:v>1</c:v>
                </c:pt>
                <c:pt idx="61">
                  <c:v>0.995235002</c:v>
                </c:pt>
                <c:pt idx="62">
                  <c:v>0.9809854184</c:v>
                </c:pt>
                <c:pt idx="63">
                  <c:v>0.9573870477</c:v>
                </c:pt>
                <c:pt idx="64">
                  <c:v>0.9246647822</c:v>
                </c:pt>
                <c:pt idx="65">
                  <c:v>0.883130465</c:v>
                </c:pt>
                <c:pt idx="66">
                  <c:v>0.8331799181</c:v>
                </c:pt>
                <c:pt idx="67">
                  <c:v>0.7808865896</c:v>
                </c:pt>
                <c:pt idx="68">
                  <c:v>0.7318753761</c:v>
                </c:pt>
                <c:pt idx="69">
                  <c:v>0.6859402803</c:v>
                </c:pt>
                <c:pt idx="70">
                  <c:v>0.642888234</c:v>
                </c:pt>
                <c:pt idx="71">
                  <c:v>0.602538287</c:v>
                </c:pt>
                <c:pt idx="72">
                  <c:v>0.5647208459</c:v>
                </c:pt>
                <c:pt idx="73">
                  <c:v>0.5292769615</c:v>
                </c:pt>
                <c:pt idx="74">
                  <c:v>0.4960576611</c:v>
                </c:pt>
                <c:pt idx="75">
                  <c:v>0.4649233219</c:v>
                </c:pt>
                <c:pt idx="76">
                  <c:v>0.4357430844</c:v>
                </c:pt>
                <c:pt idx="77">
                  <c:v>0.408394302</c:v>
                </c:pt>
                <c:pt idx="78">
                  <c:v>0.3827620263</c:v>
                </c:pt>
                <c:pt idx="79">
                  <c:v>0.3587385232</c:v>
                </c:pt>
                <c:pt idx="80">
                  <c:v>0.3362228204</c:v>
                </c:pt>
                <c:pt idx="81">
                  <c:v>0.3151202831</c:v>
                </c:pt>
                <c:pt idx="82">
                  <c:v>0.2953422158</c:v>
                </c:pt>
                <c:pt idx="83">
                  <c:v>0.2768054903</c:v>
                </c:pt>
                <c:pt idx="84">
                  <c:v>0.2594321954</c:v>
                </c:pt>
                <c:pt idx="85">
                  <c:v>0.2431493101</c:v>
                </c:pt>
                <c:pt idx="86">
                  <c:v>0.2278883965</c:v>
                </c:pt>
                <c:pt idx="87">
                  <c:v>0.2135853121</c:v>
                </c:pt>
                <c:pt idx="88">
                  <c:v>0.2001799399</c:v>
                </c:pt>
                <c:pt idx="89">
                  <c:v>0.1876159365</c:v>
                </c:pt>
                <c:pt idx="90">
                  <c:v>0.1758404945</c:v>
                </c:pt>
                <c:pt idx="91">
                  <c:v>0.1648041211</c:v>
                </c:pt>
                <c:pt idx="92">
                  <c:v>0.1544604296</c:v>
                </c:pt>
                <c:pt idx="93">
                  <c:v>0.1447659449</c:v>
                </c:pt>
                <c:pt idx="94">
                  <c:v>0.1356799204</c:v>
                </c:pt>
                <c:pt idx="95">
                  <c:v>0.1271641671</c:v>
                </c:pt>
                <c:pt idx="96">
                  <c:v>0.1191828927</c:v>
                </c:pt>
                <c:pt idx="97">
                  <c:v>0.1117025514</c:v>
                </c:pt>
                <c:pt idx="98">
                  <c:v>0.1046917029</c:v>
                </c:pt>
                <c:pt idx="99">
                  <c:v>0.0981208801</c:v>
                </c:pt>
                <c:pt idx="100">
                  <c:v>0.09196246546</c:v>
                </c:pt>
                <c:pt idx="101">
                  <c:v>0.08619057477</c:v>
                </c:pt>
                <c:pt idx="102">
                  <c:v>0.08078094843</c:v>
                </c:pt>
                <c:pt idx="103">
                  <c:v>0.07571084944</c:v>
                </c:pt>
                <c:pt idx="104">
                  <c:v>0.07095896785</c:v>
                </c:pt>
                <c:pt idx="105">
                  <c:v>0.06650533121</c:v>
                </c:pt>
                <c:pt idx="106">
                  <c:v>0.06233122061</c:v>
                </c:pt>
                <c:pt idx="107">
                  <c:v>0.05841909201</c:v>
                </c:pt>
                <c:pt idx="108">
                  <c:v>0.05475250248</c:v>
                </c:pt>
                <c:pt idx="109">
                  <c:v>0.05131604112</c:v>
                </c:pt>
                <c:pt idx="110">
                  <c:v>0.04809526427</c:v>
                </c:pt>
                <c:pt idx="111">
                  <c:v>0.04507663481</c:v>
                </c:pt>
                <c:pt idx="112">
                  <c:v>0.04224746524</c:v>
                </c:pt>
                <c:pt idx="113">
                  <c:v>0.0395958644</c:v>
                </c:pt>
                <c:pt idx="114">
                  <c:v>0.03711068743</c:v>
                </c:pt>
                <c:pt idx="115">
                  <c:v>0.03478148899</c:v>
                </c:pt>
                <c:pt idx="116">
                  <c:v>0.03259847931</c:v>
                </c:pt>
                <c:pt idx="117">
                  <c:v>0.03055248306</c:v>
                </c:pt>
                <c:pt idx="118">
                  <c:v>0.0286349008</c:v>
                </c:pt>
                <c:pt idx="119">
                  <c:v>0.02683767281</c:v>
                </c:pt>
                <c:pt idx="120">
                  <c:v>0.02515324523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5"/>
          <c:min val="0"/>
        </c:scaling>
        <c:delete val="0"/>
        <c:axPos val="l"/>
        <c:majorGridlines>
          <c:spPr>
            <a:ln xmlns:a="http://schemas.openxmlformats.org/drawingml/2006/main" w="9525">
              <a:solidFill>
                <a:srgbClr val="E6EAED"/>
              </a:solidFill>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Eᵧ / max |Eᵧ|</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2616B"/>
                </a:solidFill>
                <a:latin typeface="Arial"/>
                <a:ea typeface="Arial"/>
                <a:cs typeface="Arial"/>
              </a:defRPr>
            </a:pPr>
          </a:p>
        </c:txPr>
        <c:crossAx val="48650112"/>
      </c:valAx>
      <c:valAx>
        <c:axId val="48650112"/>
        <c:scaling>
          <c:orientation val="minMax"/>
          <c:max val="10"/>
          <c:min val="-10"/>
        </c:scaling>
        <c:delete val="0"/>
        <c:axPos val="b"/>
        <c:majorGridlines>
          <c:spPr>
            <a:ln xmlns:a="http://schemas.openxmlformats.org/drawingml/2006/main" w="9525">
              <a:solidFill>
                <a:srgbClr val="E6EAED"/>
              </a:solidFill>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x (µm)</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2616B"/>
                </a:solidFill>
                <a:latin typeface="Arial"/>
                <a:ea typeface="Arial"/>
                <a:cs typeface="Arial"/>
              </a:defRPr>
            </a:pPr>
          </a:p>
        </c:txPr>
        <c:crossAx val="48672768"/>
        <c:crossesA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TE0</c:v>
          </c:tx>
          <c:spPr>
            <a:ln xmlns:a="http://schemas.openxmlformats.org/drawingml/2006/main" w="23813">
              <a:solidFill>
                <a:srgbClr val="146078"/>
              </a:solidFill>
            </a:ln>
          </c:spPr>
          <c:marker>
            <c:symbol val="none"/>
          </c:marker>
          <c:xVal>
            <c:numRef>
              <c:f>'Chart Data'!$A$2:$A$181</c:f>
              <c:numCache>
                <c:formatCode>General</c:formatCode>
                <c:ptCount val="180"/>
                <c:pt idx="0">
                  <c:v>0.2</c:v>
                </c:pt>
                <c:pt idx="1">
                  <c:v>0.2659217877</c:v>
                </c:pt>
                <c:pt idx="2">
                  <c:v>0.3318435754</c:v>
                </c:pt>
                <c:pt idx="3">
                  <c:v>0.3977653631</c:v>
                </c:pt>
                <c:pt idx="4">
                  <c:v>0.4636871508</c:v>
                </c:pt>
                <c:pt idx="5">
                  <c:v>0.5296089385</c:v>
                </c:pt>
                <c:pt idx="6">
                  <c:v>0.5955307263</c:v>
                </c:pt>
                <c:pt idx="7">
                  <c:v>0.661452514</c:v>
                </c:pt>
                <c:pt idx="8">
                  <c:v>0.7273743017</c:v>
                </c:pt>
                <c:pt idx="9">
                  <c:v>0.7932960894</c:v>
                </c:pt>
                <c:pt idx="10">
                  <c:v>0.8592178771</c:v>
                </c:pt>
                <c:pt idx="11">
                  <c:v>0.9251396648</c:v>
                </c:pt>
                <c:pt idx="12">
                  <c:v>0.9910614525</c:v>
                </c:pt>
                <c:pt idx="13">
                  <c:v>1.05698324</c:v>
                </c:pt>
                <c:pt idx="14">
                  <c:v>1.122905028</c:v>
                </c:pt>
                <c:pt idx="15">
                  <c:v>1.188826816</c:v>
                </c:pt>
                <c:pt idx="16">
                  <c:v>1.254748603</c:v>
                </c:pt>
                <c:pt idx="17">
                  <c:v>1.320670391</c:v>
                </c:pt>
                <c:pt idx="18">
                  <c:v>1.386592179</c:v>
                </c:pt>
                <c:pt idx="19">
                  <c:v>1.452513966</c:v>
                </c:pt>
                <c:pt idx="20">
                  <c:v>1.518435754</c:v>
                </c:pt>
                <c:pt idx="21">
                  <c:v>1.584357542</c:v>
                </c:pt>
                <c:pt idx="22">
                  <c:v>1.65027933</c:v>
                </c:pt>
                <c:pt idx="23">
                  <c:v>1.716201117</c:v>
                </c:pt>
                <c:pt idx="24">
                  <c:v>1.782122905</c:v>
                </c:pt>
                <c:pt idx="25">
                  <c:v>1.848044693</c:v>
                </c:pt>
                <c:pt idx="26">
                  <c:v>1.91396648</c:v>
                </c:pt>
                <c:pt idx="27">
                  <c:v>1.979888268</c:v>
                </c:pt>
                <c:pt idx="28">
                  <c:v>2.045810056</c:v>
                </c:pt>
                <c:pt idx="29">
                  <c:v>2.111731844</c:v>
                </c:pt>
                <c:pt idx="30">
                  <c:v>2.177653631</c:v>
                </c:pt>
                <c:pt idx="31">
                  <c:v>2.243575419</c:v>
                </c:pt>
                <c:pt idx="32">
                  <c:v>2.309497207</c:v>
                </c:pt>
                <c:pt idx="33">
                  <c:v>2.375418994</c:v>
                </c:pt>
                <c:pt idx="34">
                  <c:v>2.441340782</c:v>
                </c:pt>
                <c:pt idx="35">
                  <c:v>2.50726257</c:v>
                </c:pt>
                <c:pt idx="36">
                  <c:v>2.573184358</c:v>
                </c:pt>
                <c:pt idx="37">
                  <c:v>2.639106145</c:v>
                </c:pt>
                <c:pt idx="38">
                  <c:v>2.705027933</c:v>
                </c:pt>
                <c:pt idx="39">
                  <c:v>2.770949721</c:v>
                </c:pt>
                <c:pt idx="40">
                  <c:v>2.836871508</c:v>
                </c:pt>
                <c:pt idx="41">
                  <c:v>2.902793296</c:v>
                </c:pt>
                <c:pt idx="42">
                  <c:v>2.968715084</c:v>
                </c:pt>
                <c:pt idx="43">
                  <c:v>3.034636872</c:v>
                </c:pt>
                <c:pt idx="44">
                  <c:v>3.100558659</c:v>
                </c:pt>
                <c:pt idx="45">
                  <c:v>3.166480447</c:v>
                </c:pt>
                <c:pt idx="46">
                  <c:v>3.232402235</c:v>
                </c:pt>
                <c:pt idx="47">
                  <c:v>3.298324022</c:v>
                </c:pt>
                <c:pt idx="48">
                  <c:v>3.36424581</c:v>
                </c:pt>
                <c:pt idx="49">
                  <c:v>3.430167598</c:v>
                </c:pt>
                <c:pt idx="50">
                  <c:v>3.496089385</c:v>
                </c:pt>
                <c:pt idx="51">
                  <c:v>3.562011173</c:v>
                </c:pt>
                <c:pt idx="52">
                  <c:v>3.627932961</c:v>
                </c:pt>
                <c:pt idx="53">
                  <c:v>3.693854749</c:v>
                </c:pt>
                <c:pt idx="54">
                  <c:v>3.759776536</c:v>
                </c:pt>
                <c:pt idx="55">
                  <c:v>3.825698324</c:v>
                </c:pt>
                <c:pt idx="56">
                  <c:v>3.891620112</c:v>
                </c:pt>
                <c:pt idx="57">
                  <c:v>3.957541899</c:v>
                </c:pt>
                <c:pt idx="58">
                  <c:v>4.023463687</c:v>
                </c:pt>
                <c:pt idx="59">
                  <c:v>4.089385475</c:v>
                </c:pt>
                <c:pt idx="60">
                  <c:v>4.155307263</c:v>
                </c:pt>
                <c:pt idx="61">
                  <c:v>4.22122905</c:v>
                </c:pt>
                <c:pt idx="62">
                  <c:v>4.287150838</c:v>
                </c:pt>
                <c:pt idx="63">
                  <c:v>4.353072626</c:v>
                </c:pt>
                <c:pt idx="64">
                  <c:v>4.418994413</c:v>
                </c:pt>
                <c:pt idx="65">
                  <c:v>4.484916201</c:v>
                </c:pt>
                <c:pt idx="66">
                  <c:v>4.550837989</c:v>
                </c:pt>
                <c:pt idx="67">
                  <c:v>4.616759777</c:v>
                </c:pt>
                <c:pt idx="68">
                  <c:v>4.682681564</c:v>
                </c:pt>
                <c:pt idx="69">
                  <c:v>4.748603352</c:v>
                </c:pt>
                <c:pt idx="70">
                  <c:v>4.81452514</c:v>
                </c:pt>
                <c:pt idx="71">
                  <c:v>4.880446927</c:v>
                </c:pt>
                <c:pt idx="72">
                  <c:v>4.946368715</c:v>
                </c:pt>
                <c:pt idx="73">
                  <c:v>5.012290503</c:v>
                </c:pt>
                <c:pt idx="74">
                  <c:v>5.078212291</c:v>
                </c:pt>
                <c:pt idx="75">
                  <c:v>5.144134078</c:v>
                </c:pt>
                <c:pt idx="76">
                  <c:v>5.210055866</c:v>
                </c:pt>
                <c:pt idx="77">
                  <c:v>5.275977654</c:v>
                </c:pt>
                <c:pt idx="78">
                  <c:v>5.341899441</c:v>
                </c:pt>
                <c:pt idx="79">
                  <c:v>5.407821229</c:v>
                </c:pt>
                <c:pt idx="80">
                  <c:v>5.473743017</c:v>
                </c:pt>
                <c:pt idx="81">
                  <c:v>5.539664804</c:v>
                </c:pt>
                <c:pt idx="82">
                  <c:v>5.605586592</c:v>
                </c:pt>
                <c:pt idx="83">
                  <c:v>5.67150838</c:v>
                </c:pt>
                <c:pt idx="84">
                  <c:v>5.737430168</c:v>
                </c:pt>
                <c:pt idx="85">
                  <c:v>5.803351955</c:v>
                </c:pt>
                <c:pt idx="86">
                  <c:v>5.869273743</c:v>
                </c:pt>
                <c:pt idx="87">
                  <c:v>5.935195531</c:v>
                </c:pt>
                <c:pt idx="88">
                  <c:v>6.001117318</c:v>
                </c:pt>
                <c:pt idx="89">
                  <c:v>6.067039106</c:v>
                </c:pt>
                <c:pt idx="90">
                  <c:v>6.132960894</c:v>
                </c:pt>
                <c:pt idx="91">
                  <c:v>6.198882682</c:v>
                </c:pt>
                <c:pt idx="92">
                  <c:v>6.264804469</c:v>
                </c:pt>
                <c:pt idx="93">
                  <c:v>6.330726257</c:v>
                </c:pt>
                <c:pt idx="94">
                  <c:v>6.396648045</c:v>
                </c:pt>
                <c:pt idx="95">
                  <c:v>6.462569832</c:v>
                </c:pt>
                <c:pt idx="96">
                  <c:v>6.52849162</c:v>
                </c:pt>
                <c:pt idx="97">
                  <c:v>6.594413408</c:v>
                </c:pt>
                <c:pt idx="98">
                  <c:v>6.660335196</c:v>
                </c:pt>
                <c:pt idx="99">
                  <c:v>6.726256983</c:v>
                </c:pt>
                <c:pt idx="100">
                  <c:v>6.792178771</c:v>
                </c:pt>
                <c:pt idx="101">
                  <c:v>6.858100559</c:v>
                </c:pt>
                <c:pt idx="102">
                  <c:v>6.924022346</c:v>
                </c:pt>
                <c:pt idx="103">
                  <c:v>6.989944134</c:v>
                </c:pt>
                <c:pt idx="104">
                  <c:v>7.055865922</c:v>
                </c:pt>
                <c:pt idx="105">
                  <c:v>7.121787709</c:v>
                </c:pt>
                <c:pt idx="106">
                  <c:v>7.187709497</c:v>
                </c:pt>
                <c:pt idx="107">
                  <c:v>7.253631285</c:v>
                </c:pt>
                <c:pt idx="108">
                  <c:v>7.319553073</c:v>
                </c:pt>
                <c:pt idx="109">
                  <c:v>7.38547486</c:v>
                </c:pt>
                <c:pt idx="110">
                  <c:v>7.451396648</c:v>
                </c:pt>
                <c:pt idx="111">
                  <c:v>7.517318436</c:v>
                </c:pt>
                <c:pt idx="112">
                  <c:v>7.583240223</c:v>
                </c:pt>
                <c:pt idx="113">
                  <c:v>7.649162011</c:v>
                </c:pt>
                <c:pt idx="114">
                  <c:v>7.715083799</c:v>
                </c:pt>
                <c:pt idx="115">
                  <c:v>7.781005587</c:v>
                </c:pt>
                <c:pt idx="116">
                  <c:v>7.846927374</c:v>
                </c:pt>
                <c:pt idx="117">
                  <c:v>7.912849162</c:v>
                </c:pt>
                <c:pt idx="118">
                  <c:v>7.97877095</c:v>
                </c:pt>
                <c:pt idx="119">
                  <c:v>8.044692737</c:v>
                </c:pt>
                <c:pt idx="120">
                  <c:v>8.110614525</c:v>
                </c:pt>
                <c:pt idx="121">
                  <c:v>8.176536313</c:v>
                </c:pt>
                <c:pt idx="122">
                  <c:v>8.242458101</c:v>
                </c:pt>
                <c:pt idx="123">
                  <c:v>8.308379888</c:v>
                </c:pt>
                <c:pt idx="124">
                  <c:v>8.374301676</c:v>
                </c:pt>
                <c:pt idx="125">
                  <c:v>8.440223464</c:v>
                </c:pt>
                <c:pt idx="126">
                  <c:v>8.506145251</c:v>
                </c:pt>
                <c:pt idx="127">
                  <c:v>8.572067039</c:v>
                </c:pt>
                <c:pt idx="128">
                  <c:v>8.637988827</c:v>
                </c:pt>
                <c:pt idx="129">
                  <c:v>8.703910615</c:v>
                </c:pt>
                <c:pt idx="130">
                  <c:v>8.769832402</c:v>
                </c:pt>
                <c:pt idx="131">
                  <c:v>8.83575419</c:v>
                </c:pt>
                <c:pt idx="132">
                  <c:v>8.901675978</c:v>
                </c:pt>
                <c:pt idx="133">
                  <c:v>8.967597765</c:v>
                </c:pt>
                <c:pt idx="134">
                  <c:v>9.033519553</c:v>
                </c:pt>
                <c:pt idx="135">
                  <c:v>9.099441341</c:v>
                </c:pt>
                <c:pt idx="136">
                  <c:v>9.165363128</c:v>
                </c:pt>
                <c:pt idx="137">
                  <c:v>9.231284916</c:v>
                </c:pt>
                <c:pt idx="138">
                  <c:v>9.297206704</c:v>
                </c:pt>
                <c:pt idx="139">
                  <c:v>9.363128492</c:v>
                </c:pt>
                <c:pt idx="140">
                  <c:v>9.429050279</c:v>
                </c:pt>
                <c:pt idx="141">
                  <c:v>9.494972067</c:v>
                </c:pt>
                <c:pt idx="142">
                  <c:v>9.560893855</c:v>
                </c:pt>
                <c:pt idx="143">
                  <c:v>9.626815642</c:v>
                </c:pt>
                <c:pt idx="144">
                  <c:v>9.69273743</c:v>
                </c:pt>
                <c:pt idx="145">
                  <c:v>9.758659218</c:v>
                </c:pt>
                <c:pt idx="146">
                  <c:v>9.824581006</c:v>
                </c:pt>
                <c:pt idx="147">
                  <c:v>9.890502793</c:v>
                </c:pt>
                <c:pt idx="148">
                  <c:v>9.956424581</c:v>
                </c:pt>
                <c:pt idx="149">
                  <c:v>10.02234637</c:v>
                </c:pt>
                <c:pt idx="150">
                  <c:v>10.08826816</c:v>
                </c:pt>
                <c:pt idx="151">
                  <c:v>10.15418994</c:v>
                </c:pt>
                <c:pt idx="152">
                  <c:v>10.22011173</c:v>
                </c:pt>
                <c:pt idx="153">
                  <c:v>10.28603352</c:v>
                </c:pt>
                <c:pt idx="154">
                  <c:v>10.35195531</c:v>
                </c:pt>
                <c:pt idx="155">
                  <c:v>10.41787709</c:v>
                </c:pt>
                <c:pt idx="156">
                  <c:v>10.48379888</c:v>
                </c:pt>
                <c:pt idx="157">
                  <c:v>10.54972067</c:v>
                </c:pt>
                <c:pt idx="158">
                  <c:v>10.61564246</c:v>
                </c:pt>
                <c:pt idx="159">
                  <c:v>10.68156425</c:v>
                </c:pt>
                <c:pt idx="160">
                  <c:v>10.74748603</c:v>
                </c:pt>
                <c:pt idx="161">
                  <c:v>10.81340782</c:v>
                </c:pt>
                <c:pt idx="162">
                  <c:v>10.87932961</c:v>
                </c:pt>
                <c:pt idx="163">
                  <c:v>10.9452514</c:v>
                </c:pt>
                <c:pt idx="164">
                  <c:v>11.01117318</c:v>
                </c:pt>
                <c:pt idx="165">
                  <c:v>11.07709497</c:v>
                </c:pt>
                <c:pt idx="166">
                  <c:v>11.14301676</c:v>
                </c:pt>
                <c:pt idx="167">
                  <c:v>11.20893855</c:v>
                </c:pt>
                <c:pt idx="168">
                  <c:v>11.27486034</c:v>
                </c:pt>
                <c:pt idx="169">
                  <c:v>11.34078212</c:v>
                </c:pt>
                <c:pt idx="170">
                  <c:v>11.40670391</c:v>
                </c:pt>
                <c:pt idx="171">
                  <c:v>11.4726257</c:v>
                </c:pt>
                <c:pt idx="172">
                  <c:v>11.53854749</c:v>
                </c:pt>
                <c:pt idx="173">
                  <c:v>11.60446927</c:v>
                </c:pt>
                <c:pt idx="174">
                  <c:v>11.67039106</c:v>
                </c:pt>
                <c:pt idx="175">
                  <c:v>11.73631285</c:v>
                </c:pt>
                <c:pt idx="176">
                  <c:v>11.80223464</c:v>
                </c:pt>
                <c:pt idx="177">
                  <c:v>11.86815642</c:v>
                </c:pt>
                <c:pt idx="178">
                  <c:v>11.93407821</c:v>
                </c:pt>
                <c:pt idx="179">
                  <c:v>12</c:v>
                </c:pt>
              </c:numCache>
            </c:numRef>
          </c:xVal>
          <c:yVal>
            <c:numRef>
              <c:f>'Chart Data'!$B$2:$B$181</c:f>
              <c:numCache>
                <c:formatCode>0.000</c:formatCode>
                <c:ptCount val="180"/>
                <c:pt idx="0">
                  <c:v>1.5000493</c:v>
                </c:pt>
                <c:pt idx="1">
                  <c:v>1.50008672</c:v>
                </c:pt>
                <c:pt idx="2">
                  <c:v>1.500134184</c:v>
                </c:pt>
                <c:pt idx="3">
                  <c:v>1.500191308</c:v>
                </c:pt>
                <c:pt idx="4">
                  <c:v>1.500257638</c:v>
                </c:pt>
                <c:pt idx="5">
                  <c:v>1.500332664</c:v>
                </c:pt>
                <c:pt idx="6">
                  <c:v>1.500415831</c:v>
                </c:pt>
                <c:pt idx="7">
                  <c:v>1.500506548</c:v>
                </c:pt>
                <c:pt idx="8">
                  <c:v>1.500604198</c:v>
                </c:pt>
                <c:pt idx="9">
                  <c:v>1.50070815</c:v>
                </c:pt>
                <c:pt idx="10">
                  <c:v>1.500817769</c:v>
                </c:pt>
                <c:pt idx="11">
                  <c:v>1.500932422</c:v>
                </c:pt>
                <c:pt idx="12">
                  <c:v>1.501051486</c:v>
                </c:pt>
                <c:pt idx="13">
                  <c:v>1.501174358</c:v>
                </c:pt>
                <c:pt idx="14">
                  <c:v>1.501300457</c:v>
                </c:pt>
                <c:pt idx="15">
                  <c:v>1.501429228</c:v>
                </c:pt>
                <c:pt idx="16">
                  <c:v>1.501560148</c:v>
                </c:pt>
                <c:pt idx="17">
                  <c:v>1.501692726</c:v>
                </c:pt>
                <c:pt idx="18">
                  <c:v>1.501826504</c:v>
                </c:pt>
                <c:pt idx="19">
                  <c:v>1.501961061</c:v>
                </c:pt>
                <c:pt idx="20">
                  <c:v>1.502096009</c:v>
                </c:pt>
                <c:pt idx="21">
                  <c:v>1.502230995</c:v>
                </c:pt>
                <c:pt idx="22">
                  <c:v>1.502365699</c:v>
                </c:pt>
                <c:pt idx="23">
                  <c:v>1.502499833</c:v>
                </c:pt>
                <c:pt idx="24">
                  <c:v>1.502633141</c:v>
                </c:pt>
                <c:pt idx="25">
                  <c:v>1.502765393</c:v>
                </c:pt>
                <c:pt idx="26">
                  <c:v>1.50289639</c:v>
                </c:pt>
                <c:pt idx="27">
                  <c:v>1.503025955</c:v>
                </c:pt>
                <c:pt idx="28">
                  <c:v>1.503153935</c:v>
                </c:pt>
                <c:pt idx="29">
                  <c:v>1.503280201</c:v>
                </c:pt>
                <c:pt idx="30">
                  <c:v>1.50340464</c:v>
                </c:pt>
                <c:pt idx="31">
                  <c:v>1.50352716</c:v>
                </c:pt>
                <c:pt idx="32">
                  <c:v>1.503647684</c:v>
                </c:pt>
                <c:pt idx="33">
                  <c:v>1.503766149</c:v>
                </c:pt>
                <c:pt idx="34">
                  <c:v>1.503882508</c:v>
                </c:pt>
                <c:pt idx="35">
                  <c:v>1.503996723</c:v>
                </c:pt>
                <c:pt idx="36">
                  <c:v>1.504108769</c:v>
                </c:pt>
                <c:pt idx="37">
                  <c:v>1.504218628</c:v>
                </c:pt>
                <c:pt idx="38">
                  <c:v>1.504326294</c:v>
                </c:pt>
                <c:pt idx="39">
                  <c:v>1.504431764</c:v>
                </c:pt>
                <c:pt idx="40">
                  <c:v>1.504535045</c:v>
                </c:pt>
                <c:pt idx="41">
                  <c:v>1.504636149</c:v>
                </c:pt>
                <c:pt idx="42">
                  <c:v>1.504735091</c:v>
                </c:pt>
                <c:pt idx="43">
                  <c:v>1.504831893</c:v>
                </c:pt>
                <c:pt idx="44">
                  <c:v>1.504926579</c:v>
                </c:pt>
                <c:pt idx="45">
                  <c:v>1.505019177</c:v>
                </c:pt>
                <c:pt idx="46">
                  <c:v>1.505109716</c:v>
                </c:pt>
                <c:pt idx="47">
                  <c:v>1.505198229</c:v>
                </c:pt>
                <c:pt idx="48">
                  <c:v>1.505284751</c:v>
                </c:pt>
                <c:pt idx="49">
                  <c:v>1.505369318</c:v>
                </c:pt>
                <c:pt idx="50">
                  <c:v>1.505451965</c:v>
                </c:pt>
                <c:pt idx="51">
                  <c:v>1.505532732</c:v>
                </c:pt>
                <c:pt idx="52">
                  <c:v>1.505611656</c:v>
                </c:pt>
                <c:pt idx="53">
                  <c:v>1.505688776</c:v>
                </c:pt>
                <c:pt idx="54">
                  <c:v>1.505764133</c:v>
                </c:pt>
                <c:pt idx="55">
                  <c:v>1.505837764</c:v>
                </c:pt>
                <c:pt idx="56">
                  <c:v>1.505909709</c:v>
                </c:pt>
                <c:pt idx="57">
                  <c:v>1.505980008</c:v>
                </c:pt>
                <c:pt idx="58">
                  <c:v>1.5060487</c:v>
                </c:pt>
                <c:pt idx="59">
                  <c:v>1.506115822</c:v>
                </c:pt>
                <c:pt idx="60">
                  <c:v>1.506181413</c:v>
                </c:pt>
                <c:pt idx="61">
                  <c:v>1.506245511</c:v>
                </c:pt>
                <c:pt idx="62">
                  <c:v>1.506308152</c:v>
                </c:pt>
                <c:pt idx="63">
                  <c:v>1.506369373</c:v>
                </c:pt>
                <c:pt idx="64">
                  <c:v>1.50642921</c:v>
                </c:pt>
                <c:pt idx="65">
                  <c:v>1.506487697</c:v>
                </c:pt>
                <c:pt idx="66">
                  <c:v>1.50654487</c:v>
                </c:pt>
                <c:pt idx="67">
                  <c:v>1.506600762</c:v>
                </c:pt>
                <c:pt idx="68">
                  <c:v>1.506655405</c:v>
                </c:pt>
                <c:pt idx="69">
                  <c:v>1.506708832</c:v>
                </c:pt>
                <c:pt idx="70">
                  <c:v>1.506761075</c:v>
                </c:pt>
                <c:pt idx="71">
                  <c:v>1.506812165</c:v>
                </c:pt>
                <c:pt idx="72">
                  <c:v>1.50686213</c:v>
                </c:pt>
                <c:pt idx="73">
                  <c:v>1.506911001</c:v>
                </c:pt>
                <c:pt idx="74">
                  <c:v>1.506958805</c:v>
                </c:pt>
                <c:pt idx="75">
                  <c:v>1.507005572</c:v>
                </c:pt>
                <c:pt idx="76">
                  <c:v>1.507051327</c:v>
                </c:pt>
                <c:pt idx="77">
                  <c:v>1.507096097</c:v>
                </c:pt>
                <c:pt idx="78">
                  <c:v>1.507139907</c:v>
                </c:pt>
                <c:pt idx="79">
                  <c:v>1.507182784</c:v>
                </c:pt>
                <c:pt idx="80">
                  <c:v>1.50722475</c:v>
                </c:pt>
                <c:pt idx="81">
                  <c:v>1.507265829</c:v>
                </c:pt>
                <c:pt idx="82">
                  <c:v>1.507306044</c:v>
                </c:pt>
                <c:pt idx="83">
                  <c:v>1.507345418</c:v>
                </c:pt>
                <c:pt idx="84">
                  <c:v>1.507383973</c:v>
                </c:pt>
                <c:pt idx="85">
                  <c:v>1.507421728</c:v>
                </c:pt>
                <c:pt idx="86">
                  <c:v>1.507458705</c:v>
                </c:pt>
                <c:pt idx="87">
                  <c:v>1.507494924</c:v>
                </c:pt>
                <c:pt idx="88">
                  <c:v>1.507530404</c:v>
                </c:pt>
                <c:pt idx="89">
                  <c:v>1.507565164</c:v>
                </c:pt>
                <c:pt idx="90">
                  <c:v>1.507599221</c:v>
                </c:pt>
                <c:pt idx="91">
                  <c:v>1.507632595</c:v>
                </c:pt>
                <c:pt idx="92">
                  <c:v>1.507665301</c:v>
                </c:pt>
                <c:pt idx="93">
                  <c:v>1.507697357</c:v>
                </c:pt>
                <c:pt idx="94">
                  <c:v>1.507728778</c:v>
                </c:pt>
                <c:pt idx="95">
                  <c:v>1.507759582</c:v>
                </c:pt>
                <c:pt idx="96">
                  <c:v>1.507789782</c:v>
                </c:pt>
                <c:pt idx="97">
                  <c:v>1.507819395</c:v>
                </c:pt>
                <c:pt idx="98">
                  <c:v>1.507848434</c:v>
                </c:pt>
                <c:pt idx="99">
                  <c:v>1.507876913</c:v>
                </c:pt>
                <c:pt idx="100">
                  <c:v>1.507904846</c:v>
                </c:pt>
                <c:pt idx="101">
                  <c:v>1.507932247</c:v>
                </c:pt>
                <c:pt idx="102">
                  <c:v>1.507959129</c:v>
                </c:pt>
                <c:pt idx="103">
                  <c:v>1.507985503</c:v>
                </c:pt>
                <c:pt idx="104">
                  <c:v>1.508011382</c:v>
                </c:pt>
                <c:pt idx="105">
                  <c:v>1.508036778</c:v>
                </c:pt>
                <c:pt idx="106">
                  <c:v>1.508061703</c:v>
                </c:pt>
                <c:pt idx="107">
                  <c:v>1.508086167</c:v>
                </c:pt>
                <c:pt idx="108">
                  <c:v>1.508110182</c:v>
                </c:pt>
                <c:pt idx="109">
                  <c:v>1.508133758</c:v>
                </c:pt>
                <c:pt idx="110">
                  <c:v>1.508156905</c:v>
                </c:pt>
                <c:pt idx="111">
                  <c:v>1.508179633</c:v>
                </c:pt>
                <c:pt idx="112">
                  <c:v>1.508201953</c:v>
                </c:pt>
                <c:pt idx="113">
                  <c:v>1.508223873</c:v>
                </c:pt>
                <c:pt idx="114">
                  <c:v>1.508245403</c:v>
                </c:pt>
                <c:pt idx="115">
                  <c:v>1.508266551</c:v>
                </c:pt>
                <c:pt idx="116">
                  <c:v>1.508287327</c:v>
                </c:pt>
                <c:pt idx="117">
                  <c:v>1.508307739</c:v>
                </c:pt>
                <c:pt idx="118">
                  <c:v>1.508327795</c:v>
                </c:pt>
                <c:pt idx="119">
                  <c:v>1.508347503</c:v>
                </c:pt>
                <c:pt idx="120">
                  <c:v>1.50836687</c:v>
                </c:pt>
                <c:pt idx="121">
                  <c:v>1.508385905</c:v>
                </c:pt>
                <c:pt idx="122">
                  <c:v>1.508404615</c:v>
                </c:pt>
                <c:pt idx="123">
                  <c:v>1.508423007</c:v>
                </c:pt>
                <c:pt idx="124">
                  <c:v>1.508441088</c:v>
                </c:pt>
                <c:pt idx="125">
                  <c:v>1.508458865</c:v>
                </c:pt>
                <c:pt idx="126">
                  <c:v>1.508476344</c:v>
                </c:pt>
                <c:pt idx="127">
                  <c:v>1.508493533</c:v>
                </c:pt>
                <c:pt idx="128">
                  <c:v>1.508510436</c:v>
                </c:pt>
                <c:pt idx="129">
                  <c:v>1.508527061</c:v>
                </c:pt>
                <c:pt idx="130">
                  <c:v>1.508543413</c:v>
                </c:pt>
                <c:pt idx="131">
                  <c:v>1.508559498</c:v>
                </c:pt>
                <c:pt idx="132">
                  <c:v>1.508575322</c:v>
                </c:pt>
                <c:pt idx="133">
                  <c:v>1.50859089</c:v>
                </c:pt>
                <c:pt idx="134">
                  <c:v>1.508606208</c:v>
                </c:pt>
                <c:pt idx="135">
                  <c:v>1.508621281</c:v>
                </c:pt>
                <c:pt idx="136">
                  <c:v>1.508636113</c:v>
                </c:pt>
                <c:pt idx="137">
                  <c:v>1.508650711</c:v>
                </c:pt>
                <c:pt idx="138">
                  <c:v>1.508665079</c:v>
                </c:pt>
                <c:pt idx="139">
                  <c:v>1.508679221</c:v>
                </c:pt>
                <c:pt idx="140">
                  <c:v>1.508693142</c:v>
                </c:pt>
                <c:pt idx="141">
                  <c:v>1.508706847</c:v>
                </c:pt>
                <c:pt idx="142">
                  <c:v>1.50872034</c:v>
                </c:pt>
                <c:pt idx="143">
                  <c:v>1.508733625</c:v>
                </c:pt>
                <c:pt idx="144">
                  <c:v>1.508746707</c:v>
                </c:pt>
                <c:pt idx="145">
                  <c:v>1.50875959</c:v>
                </c:pt>
                <c:pt idx="146">
                  <c:v>1.508772277</c:v>
                </c:pt>
                <c:pt idx="147">
                  <c:v>1.508784772</c:v>
                </c:pt>
                <c:pt idx="148">
                  <c:v>1.50879708</c:v>
                </c:pt>
                <c:pt idx="149">
                  <c:v>1.508809203</c:v>
                </c:pt>
                <c:pt idx="150">
                  <c:v>1.508821146</c:v>
                </c:pt>
                <c:pt idx="151">
                  <c:v>1.508832912</c:v>
                </c:pt>
                <c:pt idx="152">
                  <c:v>1.508844505</c:v>
                </c:pt>
                <c:pt idx="153">
                  <c:v>1.508855927</c:v>
                </c:pt>
                <c:pt idx="154">
                  <c:v>1.508867182</c:v>
                </c:pt>
                <c:pt idx="155">
                  <c:v>1.508878274</c:v>
                </c:pt>
                <c:pt idx="156">
                  <c:v>1.508889205</c:v>
                </c:pt>
                <c:pt idx="157">
                  <c:v>1.508899978</c:v>
                </c:pt>
                <c:pt idx="158">
                  <c:v>1.508910597</c:v>
                </c:pt>
                <c:pt idx="159">
                  <c:v>1.508921065</c:v>
                </c:pt>
                <c:pt idx="160">
                  <c:v>1.508931383</c:v>
                </c:pt>
                <c:pt idx="161">
                  <c:v>1.508941555</c:v>
                </c:pt>
                <c:pt idx="162">
                  <c:v>1.508951584</c:v>
                </c:pt>
                <c:pt idx="163">
                  <c:v>1.508961472</c:v>
                </c:pt>
                <c:pt idx="164">
                  <c:v>1.508971223</c:v>
                </c:pt>
                <c:pt idx="165">
                  <c:v>1.508980837</c:v>
                </c:pt>
                <c:pt idx="166">
                  <c:v>1.508990319</c:v>
                </c:pt>
                <c:pt idx="167">
                  <c:v>1.508999669</c:v>
                </c:pt>
                <c:pt idx="168">
                  <c:v>1.509008892</c:v>
                </c:pt>
                <c:pt idx="169">
                  <c:v>1.509017988</c:v>
                </c:pt>
                <c:pt idx="170">
                  <c:v>1.509026961</c:v>
                </c:pt>
                <c:pt idx="171">
                  <c:v>1.509035812</c:v>
                </c:pt>
                <c:pt idx="172">
                  <c:v>1.509044544</c:v>
                </c:pt>
                <c:pt idx="173">
                  <c:v>1.509053159</c:v>
                </c:pt>
                <c:pt idx="174">
                  <c:v>1.509061658</c:v>
                </c:pt>
                <c:pt idx="175">
                  <c:v>1.509070045</c:v>
                </c:pt>
                <c:pt idx="176">
                  <c:v>1.50907832</c:v>
                </c:pt>
                <c:pt idx="177">
                  <c:v>1.509086486</c:v>
                </c:pt>
                <c:pt idx="178">
                  <c:v>1.509094544</c:v>
                </c:pt>
                <c:pt idx="179">
                  <c:v>1.509102497</c:v>
                </c:pt>
              </c:numCache>
            </c:numRef>
          </c:yVal>
        </c:ser>
        <c:ser>
          <c:idx val="1"/>
          <c:order val="1"/>
          <c:tx>
            <c:v>TE1</c:v>
          </c:tx>
          <c:spPr>
            <a:ln xmlns:a="http://schemas.openxmlformats.org/drawingml/2006/main" w="23813">
              <a:solidFill>
                <a:srgbClr val="D06429"/>
              </a:solidFill>
            </a:ln>
          </c:spPr>
          <c:marker>
            <c:symbol val="none"/>
          </c:marker>
          <c:xVal>
            <c:numRef>
              <c:f>'Chart Data'!$C$2:$C$116</c:f>
              <c:numCache>
                <c:formatCode>General</c:formatCode>
                <c:ptCount val="115"/>
                <c:pt idx="0">
                  <c:v>4.484916201</c:v>
                </c:pt>
                <c:pt idx="1">
                  <c:v>4.550837989</c:v>
                </c:pt>
                <c:pt idx="2">
                  <c:v>4.616759777</c:v>
                </c:pt>
                <c:pt idx="3">
                  <c:v>4.682681564</c:v>
                </c:pt>
                <c:pt idx="4">
                  <c:v>4.748603352</c:v>
                </c:pt>
                <c:pt idx="5">
                  <c:v>4.81452514</c:v>
                </c:pt>
                <c:pt idx="6">
                  <c:v>4.880446927</c:v>
                </c:pt>
                <c:pt idx="7">
                  <c:v>4.946368715</c:v>
                </c:pt>
                <c:pt idx="8">
                  <c:v>5.012290503</c:v>
                </c:pt>
                <c:pt idx="9">
                  <c:v>5.078212291</c:v>
                </c:pt>
                <c:pt idx="10">
                  <c:v>5.144134078</c:v>
                </c:pt>
                <c:pt idx="11">
                  <c:v>5.210055866</c:v>
                </c:pt>
                <c:pt idx="12">
                  <c:v>5.275977654</c:v>
                </c:pt>
                <c:pt idx="13">
                  <c:v>5.341899441</c:v>
                </c:pt>
                <c:pt idx="14">
                  <c:v>5.407821229</c:v>
                </c:pt>
                <c:pt idx="15">
                  <c:v>5.473743017</c:v>
                </c:pt>
                <c:pt idx="16">
                  <c:v>5.539664804</c:v>
                </c:pt>
                <c:pt idx="17">
                  <c:v>5.605586592</c:v>
                </c:pt>
                <c:pt idx="18">
                  <c:v>5.67150838</c:v>
                </c:pt>
                <c:pt idx="19">
                  <c:v>5.737430168</c:v>
                </c:pt>
                <c:pt idx="20">
                  <c:v>5.803351955</c:v>
                </c:pt>
                <c:pt idx="21">
                  <c:v>5.869273743</c:v>
                </c:pt>
                <c:pt idx="22">
                  <c:v>5.935195531</c:v>
                </c:pt>
                <c:pt idx="23">
                  <c:v>6.001117318</c:v>
                </c:pt>
                <c:pt idx="24">
                  <c:v>6.067039106</c:v>
                </c:pt>
                <c:pt idx="25">
                  <c:v>6.132960894</c:v>
                </c:pt>
                <c:pt idx="26">
                  <c:v>6.198882682</c:v>
                </c:pt>
                <c:pt idx="27">
                  <c:v>6.264804469</c:v>
                </c:pt>
                <c:pt idx="28">
                  <c:v>6.330726257</c:v>
                </c:pt>
                <c:pt idx="29">
                  <c:v>6.396648045</c:v>
                </c:pt>
                <c:pt idx="30">
                  <c:v>6.462569832</c:v>
                </c:pt>
                <c:pt idx="31">
                  <c:v>6.52849162</c:v>
                </c:pt>
                <c:pt idx="32">
                  <c:v>6.594413408</c:v>
                </c:pt>
                <c:pt idx="33">
                  <c:v>6.660335196</c:v>
                </c:pt>
                <c:pt idx="34">
                  <c:v>6.726256983</c:v>
                </c:pt>
                <c:pt idx="35">
                  <c:v>6.792178771</c:v>
                </c:pt>
                <c:pt idx="36">
                  <c:v>6.858100559</c:v>
                </c:pt>
                <c:pt idx="37">
                  <c:v>6.924022346</c:v>
                </c:pt>
                <c:pt idx="38">
                  <c:v>6.989944134</c:v>
                </c:pt>
                <c:pt idx="39">
                  <c:v>7.055865922</c:v>
                </c:pt>
                <c:pt idx="40">
                  <c:v>7.121787709</c:v>
                </c:pt>
                <c:pt idx="41">
                  <c:v>7.187709497</c:v>
                </c:pt>
                <c:pt idx="42">
                  <c:v>7.253631285</c:v>
                </c:pt>
                <c:pt idx="43">
                  <c:v>7.319553073</c:v>
                </c:pt>
                <c:pt idx="44">
                  <c:v>7.38547486</c:v>
                </c:pt>
                <c:pt idx="45">
                  <c:v>7.451396648</c:v>
                </c:pt>
                <c:pt idx="46">
                  <c:v>7.517318436</c:v>
                </c:pt>
                <c:pt idx="47">
                  <c:v>7.583240223</c:v>
                </c:pt>
                <c:pt idx="48">
                  <c:v>7.649162011</c:v>
                </c:pt>
                <c:pt idx="49">
                  <c:v>7.715083799</c:v>
                </c:pt>
                <c:pt idx="50">
                  <c:v>7.781005587</c:v>
                </c:pt>
                <c:pt idx="51">
                  <c:v>7.846927374</c:v>
                </c:pt>
                <c:pt idx="52">
                  <c:v>7.912849162</c:v>
                </c:pt>
                <c:pt idx="53">
                  <c:v>7.97877095</c:v>
                </c:pt>
                <c:pt idx="54">
                  <c:v>8.044692737</c:v>
                </c:pt>
                <c:pt idx="55">
                  <c:v>8.110614525</c:v>
                </c:pt>
                <c:pt idx="56">
                  <c:v>8.176536313</c:v>
                </c:pt>
                <c:pt idx="57">
                  <c:v>8.242458101</c:v>
                </c:pt>
                <c:pt idx="58">
                  <c:v>8.308379888</c:v>
                </c:pt>
                <c:pt idx="59">
                  <c:v>8.374301676</c:v>
                </c:pt>
                <c:pt idx="60">
                  <c:v>8.440223464</c:v>
                </c:pt>
                <c:pt idx="61">
                  <c:v>8.506145251</c:v>
                </c:pt>
                <c:pt idx="62">
                  <c:v>8.572067039</c:v>
                </c:pt>
                <c:pt idx="63">
                  <c:v>8.637988827</c:v>
                </c:pt>
                <c:pt idx="64">
                  <c:v>8.703910615</c:v>
                </c:pt>
                <c:pt idx="65">
                  <c:v>8.769832402</c:v>
                </c:pt>
                <c:pt idx="66">
                  <c:v>8.83575419</c:v>
                </c:pt>
                <c:pt idx="67">
                  <c:v>8.901675978</c:v>
                </c:pt>
                <c:pt idx="68">
                  <c:v>8.967597765</c:v>
                </c:pt>
                <c:pt idx="69">
                  <c:v>9.033519553</c:v>
                </c:pt>
                <c:pt idx="70">
                  <c:v>9.099441341</c:v>
                </c:pt>
                <c:pt idx="71">
                  <c:v>9.165363128</c:v>
                </c:pt>
                <c:pt idx="72">
                  <c:v>9.231284916</c:v>
                </c:pt>
                <c:pt idx="73">
                  <c:v>9.297206704</c:v>
                </c:pt>
                <c:pt idx="74">
                  <c:v>9.363128492</c:v>
                </c:pt>
                <c:pt idx="75">
                  <c:v>9.429050279</c:v>
                </c:pt>
                <c:pt idx="76">
                  <c:v>9.494972067</c:v>
                </c:pt>
                <c:pt idx="77">
                  <c:v>9.560893855</c:v>
                </c:pt>
                <c:pt idx="78">
                  <c:v>9.626815642</c:v>
                </c:pt>
                <c:pt idx="79">
                  <c:v>9.69273743</c:v>
                </c:pt>
                <c:pt idx="80">
                  <c:v>9.758659218</c:v>
                </c:pt>
                <c:pt idx="81">
                  <c:v>9.824581006</c:v>
                </c:pt>
                <c:pt idx="82">
                  <c:v>9.890502793</c:v>
                </c:pt>
                <c:pt idx="83">
                  <c:v>9.956424581</c:v>
                </c:pt>
                <c:pt idx="84">
                  <c:v>10.02234637</c:v>
                </c:pt>
                <c:pt idx="85">
                  <c:v>10.08826816</c:v>
                </c:pt>
                <c:pt idx="86">
                  <c:v>10.15418994</c:v>
                </c:pt>
                <c:pt idx="87">
                  <c:v>10.22011173</c:v>
                </c:pt>
                <c:pt idx="88">
                  <c:v>10.28603352</c:v>
                </c:pt>
                <c:pt idx="89">
                  <c:v>10.35195531</c:v>
                </c:pt>
                <c:pt idx="90">
                  <c:v>10.41787709</c:v>
                </c:pt>
                <c:pt idx="91">
                  <c:v>10.48379888</c:v>
                </c:pt>
                <c:pt idx="92">
                  <c:v>10.54972067</c:v>
                </c:pt>
                <c:pt idx="93">
                  <c:v>10.61564246</c:v>
                </c:pt>
                <c:pt idx="94">
                  <c:v>10.68156425</c:v>
                </c:pt>
                <c:pt idx="95">
                  <c:v>10.74748603</c:v>
                </c:pt>
                <c:pt idx="96">
                  <c:v>10.81340782</c:v>
                </c:pt>
                <c:pt idx="97">
                  <c:v>10.87932961</c:v>
                </c:pt>
                <c:pt idx="98">
                  <c:v>10.9452514</c:v>
                </c:pt>
                <c:pt idx="99">
                  <c:v>11.01117318</c:v>
                </c:pt>
                <c:pt idx="100">
                  <c:v>11.07709497</c:v>
                </c:pt>
                <c:pt idx="101">
                  <c:v>11.14301676</c:v>
                </c:pt>
                <c:pt idx="102">
                  <c:v>11.20893855</c:v>
                </c:pt>
                <c:pt idx="103">
                  <c:v>11.27486034</c:v>
                </c:pt>
                <c:pt idx="104">
                  <c:v>11.34078212</c:v>
                </c:pt>
                <c:pt idx="105">
                  <c:v>11.40670391</c:v>
                </c:pt>
                <c:pt idx="106">
                  <c:v>11.4726257</c:v>
                </c:pt>
                <c:pt idx="107">
                  <c:v>11.53854749</c:v>
                </c:pt>
                <c:pt idx="108">
                  <c:v>11.60446927</c:v>
                </c:pt>
                <c:pt idx="109">
                  <c:v>11.67039106</c:v>
                </c:pt>
                <c:pt idx="110">
                  <c:v>11.73631285</c:v>
                </c:pt>
                <c:pt idx="111">
                  <c:v>11.80223464</c:v>
                </c:pt>
                <c:pt idx="112">
                  <c:v>11.86815642</c:v>
                </c:pt>
                <c:pt idx="113">
                  <c:v>11.93407821</c:v>
                </c:pt>
                <c:pt idx="114">
                  <c:v>12</c:v>
                </c:pt>
              </c:numCache>
            </c:numRef>
          </c:xVal>
          <c:yVal>
            <c:numRef>
              <c:f>'Chart Data'!$D$2:$D$116</c:f>
              <c:numCache>
                <c:formatCode>0.000</c:formatCode>
                <c:ptCount val="115"/>
                <c:pt idx="0">
                  <c:v>1.500000393</c:v>
                </c:pt>
                <c:pt idx="1">
                  <c:v>1.500008324</c:v>
                </c:pt>
                <c:pt idx="2">
                  <c:v>1.500025643</c:v>
                </c:pt>
                <c:pt idx="3">
                  <c:v>1.500051367</c:v>
                </c:pt>
                <c:pt idx="4">
                  <c:v>1.500084606</c:v>
                </c:pt>
                <c:pt idx="5">
                  <c:v>1.500124557</c:v>
                </c:pt>
                <c:pt idx="6">
                  <c:v>1.500170494</c:v>
                </c:pt>
                <c:pt idx="7">
                  <c:v>1.500221759</c:v>
                </c:pt>
                <c:pt idx="8">
                  <c:v>1.500277756</c:v>
                </c:pt>
                <c:pt idx="9">
                  <c:v>1.500337947</c:v>
                </c:pt>
                <c:pt idx="10">
                  <c:v>1.500401843</c:v>
                </c:pt>
                <c:pt idx="11">
                  <c:v>1.500469</c:v>
                </c:pt>
                <c:pt idx="12">
                  <c:v>1.500539017</c:v>
                </c:pt>
                <c:pt idx="13">
                  <c:v>1.50061153</c:v>
                </c:pt>
                <c:pt idx="14">
                  <c:v>1.500686209</c:v>
                </c:pt>
                <c:pt idx="15">
                  <c:v>1.500762753</c:v>
                </c:pt>
                <c:pt idx="16">
                  <c:v>1.50084089</c:v>
                </c:pt>
                <c:pt idx="17">
                  <c:v>1.500920375</c:v>
                </c:pt>
                <c:pt idx="18">
                  <c:v>1.501000983</c:v>
                </c:pt>
                <c:pt idx="19">
                  <c:v>1.501082511</c:v>
                </c:pt>
                <c:pt idx="20">
                  <c:v>1.501164776</c:v>
                </c:pt>
                <c:pt idx="21">
                  <c:v>1.50124761</c:v>
                </c:pt>
                <c:pt idx="22">
                  <c:v>1.501330863</c:v>
                </c:pt>
                <c:pt idx="23">
                  <c:v>1.501414397</c:v>
                </c:pt>
                <c:pt idx="24">
                  <c:v>1.501498089</c:v>
                </c:pt>
                <c:pt idx="25">
                  <c:v>1.501581828</c:v>
                </c:pt>
                <c:pt idx="26">
                  <c:v>1.50166551</c:v>
                </c:pt>
                <c:pt idx="27">
                  <c:v>1.501749047</c:v>
                </c:pt>
                <c:pt idx="28">
                  <c:v>1.501832354</c:v>
                </c:pt>
                <c:pt idx="29">
                  <c:v>1.501915358</c:v>
                </c:pt>
                <c:pt idx="30">
                  <c:v>1.501997992</c:v>
                </c:pt>
                <c:pt idx="31">
                  <c:v>1.502080197</c:v>
                </c:pt>
                <c:pt idx="32">
                  <c:v>1.502161918</c:v>
                </c:pt>
                <c:pt idx="33">
                  <c:v>1.502243109</c:v>
                </c:pt>
                <c:pt idx="34">
                  <c:v>1.502323725</c:v>
                </c:pt>
                <c:pt idx="35">
                  <c:v>1.50240373</c:v>
                </c:pt>
                <c:pt idx="36">
                  <c:v>1.50248309</c:v>
                </c:pt>
                <c:pt idx="37">
                  <c:v>1.502561774</c:v>
                </c:pt>
                <c:pt idx="38">
                  <c:v>1.502639758</c:v>
                </c:pt>
                <c:pt idx="39">
                  <c:v>1.502717017</c:v>
                </c:pt>
                <c:pt idx="40">
                  <c:v>1.502793534</c:v>
                </c:pt>
                <c:pt idx="41">
                  <c:v>1.502869291</c:v>
                </c:pt>
                <c:pt idx="42">
                  <c:v>1.502944273</c:v>
                </c:pt>
                <c:pt idx="43">
                  <c:v>1.503018468</c:v>
                </c:pt>
                <c:pt idx="44">
                  <c:v>1.503091867</c:v>
                </c:pt>
                <c:pt idx="45">
                  <c:v>1.503164461</c:v>
                </c:pt>
                <c:pt idx="46">
                  <c:v>1.503236244</c:v>
                </c:pt>
                <c:pt idx="47">
                  <c:v>1.503307212</c:v>
                </c:pt>
                <c:pt idx="48">
                  <c:v>1.503377361</c:v>
                </c:pt>
                <c:pt idx="49">
                  <c:v>1.503446689</c:v>
                </c:pt>
                <c:pt idx="50">
                  <c:v>1.503515195</c:v>
                </c:pt>
                <c:pt idx="51">
                  <c:v>1.50358288</c:v>
                </c:pt>
                <c:pt idx="52">
                  <c:v>1.503649745</c:v>
                </c:pt>
                <c:pt idx="53">
                  <c:v>1.503715792</c:v>
                </c:pt>
                <c:pt idx="54">
                  <c:v>1.503781025</c:v>
                </c:pt>
                <c:pt idx="55">
                  <c:v>1.503845446</c:v>
                </c:pt>
                <c:pt idx="56">
                  <c:v>1.503909061</c:v>
                </c:pt>
                <c:pt idx="57">
                  <c:v>1.503971874</c:v>
                </c:pt>
                <c:pt idx="58">
                  <c:v>1.504033892</c:v>
                </c:pt>
                <c:pt idx="59">
                  <c:v>1.504095119</c:v>
                </c:pt>
                <c:pt idx="60">
                  <c:v>1.504155562</c:v>
                </c:pt>
                <c:pt idx="61">
                  <c:v>1.504215228</c:v>
                </c:pt>
                <c:pt idx="62">
                  <c:v>1.504274125</c:v>
                </c:pt>
                <c:pt idx="63">
                  <c:v>1.504332259</c:v>
                </c:pt>
                <c:pt idx="64">
                  <c:v>1.504389638</c:v>
                </c:pt>
                <c:pt idx="65">
                  <c:v>1.504446271</c:v>
                </c:pt>
                <c:pt idx="66">
                  <c:v>1.504502165</c:v>
                </c:pt>
                <c:pt idx="67">
                  <c:v>1.504557328</c:v>
                </c:pt>
                <c:pt idx="68">
                  <c:v>1.504611769</c:v>
                </c:pt>
                <c:pt idx="69">
                  <c:v>1.504665497</c:v>
                </c:pt>
                <c:pt idx="70">
                  <c:v>1.504718519</c:v>
                </c:pt>
                <c:pt idx="71">
                  <c:v>1.504770846</c:v>
                </c:pt>
                <c:pt idx="72">
                  <c:v>1.504822485</c:v>
                </c:pt>
                <c:pt idx="73">
                  <c:v>1.504873445</c:v>
                </c:pt>
                <c:pt idx="74">
                  <c:v>1.504923735</c:v>
                </c:pt>
                <c:pt idx="75">
                  <c:v>1.504973364</c:v>
                </c:pt>
                <c:pt idx="76">
                  <c:v>1.50502234</c:v>
                </c:pt>
                <c:pt idx="77">
                  <c:v>1.505070673</c:v>
                </c:pt>
                <c:pt idx="78">
                  <c:v>1.505118371</c:v>
                </c:pt>
                <c:pt idx="79">
                  <c:v>1.505165443</c:v>
                </c:pt>
                <c:pt idx="80">
                  <c:v>1.505211898</c:v>
                </c:pt>
                <c:pt idx="81">
                  <c:v>1.505257744</c:v>
                </c:pt>
                <c:pt idx="82">
                  <c:v>1.50530299</c:v>
                </c:pt>
                <c:pt idx="83">
                  <c:v>1.505347645</c:v>
                </c:pt>
                <c:pt idx="84">
                  <c:v>1.505391716</c:v>
                </c:pt>
                <c:pt idx="85">
                  <c:v>1.505435213</c:v>
                </c:pt>
                <c:pt idx="86">
                  <c:v>1.505478144</c:v>
                </c:pt>
                <c:pt idx="87">
                  <c:v>1.505520516</c:v>
                </c:pt>
                <c:pt idx="88">
                  <c:v>1.505562339</c:v>
                </c:pt>
                <c:pt idx="89">
                  <c:v>1.50560362</c:v>
                </c:pt>
                <c:pt idx="90">
                  <c:v>1.505644367</c:v>
                </c:pt>
                <c:pt idx="91">
                  <c:v>1.505684588</c:v>
                </c:pt>
                <c:pt idx="92">
                  <c:v>1.505724292</c:v>
                </c:pt>
                <c:pt idx="93">
                  <c:v>1.505763484</c:v>
                </c:pt>
                <c:pt idx="94">
                  <c:v>1.505802174</c:v>
                </c:pt>
                <c:pt idx="95">
                  <c:v>1.505840369</c:v>
                </c:pt>
                <c:pt idx="96">
                  <c:v>1.505878076</c:v>
                </c:pt>
                <c:pt idx="97">
                  <c:v>1.505915303</c:v>
                </c:pt>
                <c:pt idx="98">
                  <c:v>1.505952056</c:v>
                </c:pt>
                <c:pt idx="99">
                  <c:v>1.505988343</c:v>
                </c:pt>
                <c:pt idx="100">
                  <c:v>1.506024171</c:v>
                </c:pt>
                <c:pt idx="101">
                  <c:v>1.506059547</c:v>
                </c:pt>
                <c:pt idx="102">
                  <c:v>1.506094477</c:v>
                </c:pt>
                <c:pt idx="103">
                  <c:v>1.506128969</c:v>
                </c:pt>
                <c:pt idx="104">
                  <c:v>1.506163029</c:v>
                </c:pt>
                <c:pt idx="105">
                  <c:v>1.506196664</c:v>
                </c:pt>
                <c:pt idx="106">
                  <c:v>1.506229879</c:v>
                </c:pt>
                <c:pt idx="107">
                  <c:v>1.506262682</c:v>
                </c:pt>
                <c:pt idx="108">
                  <c:v>1.506295078</c:v>
                </c:pt>
                <c:pt idx="109">
                  <c:v>1.506327073</c:v>
                </c:pt>
                <c:pt idx="110">
                  <c:v>1.506358675</c:v>
                </c:pt>
                <c:pt idx="111">
                  <c:v>1.506389888</c:v>
                </c:pt>
                <c:pt idx="112">
                  <c:v>1.506420719</c:v>
                </c:pt>
                <c:pt idx="113">
                  <c:v>1.506451172</c:v>
                </c:pt>
                <c:pt idx="114">
                  <c:v>1.506481255</c:v>
                </c:pt>
              </c:numCache>
            </c:numRef>
          </c:yVal>
        </c:ser>
        <c:ser>
          <c:idx val="2"/>
          <c:order val="2"/>
          <c:tx>
            <c:v>TE2</c:v>
          </c:tx>
          <c:spPr>
            <a:ln xmlns:a="http://schemas.openxmlformats.org/drawingml/2006/main" w="23813">
              <a:solidFill>
                <a:srgbClr val="6C8552"/>
              </a:solidFill>
            </a:ln>
          </c:spPr>
          <c:marker>
            <c:symbol val="none"/>
          </c:marker>
          <c:xVal>
            <c:numRef>
              <c:f>'Chart Data'!$E$2:$E$48</c:f>
              <c:numCache>
                <c:formatCode>General</c:formatCode>
                <c:ptCount val="47"/>
                <c:pt idx="0">
                  <c:v>8.967597765</c:v>
                </c:pt>
                <c:pt idx="1">
                  <c:v>9.033519553</c:v>
                </c:pt>
                <c:pt idx="2">
                  <c:v>9.099441341</c:v>
                </c:pt>
                <c:pt idx="3">
                  <c:v>9.165363128</c:v>
                </c:pt>
                <c:pt idx="4">
                  <c:v>9.231284916</c:v>
                </c:pt>
                <c:pt idx="5">
                  <c:v>9.297206704</c:v>
                </c:pt>
                <c:pt idx="6">
                  <c:v>9.363128492</c:v>
                </c:pt>
                <c:pt idx="7">
                  <c:v>9.429050279</c:v>
                </c:pt>
                <c:pt idx="8">
                  <c:v>9.494972067</c:v>
                </c:pt>
                <c:pt idx="9">
                  <c:v>9.560893855</c:v>
                </c:pt>
                <c:pt idx="10">
                  <c:v>9.626815642</c:v>
                </c:pt>
                <c:pt idx="11">
                  <c:v>9.69273743</c:v>
                </c:pt>
                <c:pt idx="12">
                  <c:v>9.758659218</c:v>
                </c:pt>
                <c:pt idx="13">
                  <c:v>9.824581006</c:v>
                </c:pt>
                <c:pt idx="14">
                  <c:v>9.890502793</c:v>
                </c:pt>
                <c:pt idx="15">
                  <c:v>9.956424581</c:v>
                </c:pt>
                <c:pt idx="16">
                  <c:v>10.02234637</c:v>
                </c:pt>
                <c:pt idx="17">
                  <c:v>10.08826816</c:v>
                </c:pt>
                <c:pt idx="18">
                  <c:v>10.15418994</c:v>
                </c:pt>
                <c:pt idx="19">
                  <c:v>10.22011173</c:v>
                </c:pt>
                <c:pt idx="20">
                  <c:v>10.28603352</c:v>
                </c:pt>
                <c:pt idx="21">
                  <c:v>10.35195531</c:v>
                </c:pt>
                <c:pt idx="22">
                  <c:v>10.41787709</c:v>
                </c:pt>
                <c:pt idx="23">
                  <c:v>10.48379888</c:v>
                </c:pt>
                <c:pt idx="24">
                  <c:v>10.54972067</c:v>
                </c:pt>
                <c:pt idx="25">
                  <c:v>10.61564246</c:v>
                </c:pt>
                <c:pt idx="26">
                  <c:v>10.68156425</c:v>
                </c:pt>
                <c:pt idx="27">
                  <c:v>10.74748603</c:v>
                </c:pt>
                <c:pt idx="28">
                  <c:v>10.81340782</c:v>
                </c:pt>
                <c:pt idx="29">
                  <c:v>10.87932961</c:v>
                </c:pt>
                <c:pt idx="30">
                  <c:v>10.9452514</c:v>
                </c:pt>
                <c:pt idx="31">
                  <c:v>11.01117318</c:v>
                </c:pt>
                <c:pt idx="32">
                  <c:v>11.07709497</c:v>
                </c:pt>
                <c:pt idx="33">
                  <c:v>11.14301676</c:v>
                </c:pt>
                <c:pt idx="34">
                  <c:v>11.20893855</c:v>
                </c:pt>
                <c:pt idx="35">
                  <c:v>11.27486034</c:v>
                </c:pt>
                <c:pt idx="36">
                  <c:v>11.34078212</c:v>
                </c:pt>
                <c:pt idx="37">
                  <c:v>11.40670391</c:v>
                </c:pt>
                <c:pt idx="38">
                  <c:v>11.4726257</c:v>
                </c:pt>
                <c:pt idx="39">
                  <c:v>11.53854749</c:v>
                </c:pt>
                <c:pt idx="40">
                  <c:v>11.60446927</c:v>
                </c:pt>
                <c:pt idx="41">
                  <c:v>11.67039106</c:v>
                </c:pt>
                <c:pt idx="42">
                  <c:v>11.73631285</c:v>
                </c:pt>
                <c:pt idx="43">
                  <c:v>11.80223464</c:v>
                </c:pt>
                <c:pt idx="44">
                  <c:v>11.86815642</c:v>
                </c:pt>
                <c:pt idx="45">
                  <c:v>11.93407821</c:v>
                </c:pt>
                <c:pt idx="46">
                  <c:v>12</c:v>
                </c:pt>
              </c:numCache>
            </c:numRef>
          </c:xVal>
          <c:yVal>
            <c:numRef>
              <c:f>'Chart Data'!$F$2:$F$48</c:f>
              <c:numCache>
                <c:formatCode>0.000</c:formatCode>
                <c:ptCount val="47"/>
                <c:pt idx="0">
                  <c:v>1.500001346</c:v>
                </c:pt>
                <c:pt idx="1">
                  <c:v>1.500011071</c:v>
                </c:pt>
                <c:pt idx="2">
                  <c:v>1.500028763</c:v>
                </c:pt>
                <c:pt idx="3">
                  <c:v>1.500053083</c:v>
                </c:pt>
                <c:pt idx="4">
                  <c:v>1.500082979</c:v>
                </c:pt>
                <c:pt idx="5">
                  <c:v>1.50011761</c:v>
                </c:pt>
                <c:pt idx="6">
                  <c:v>1.500156287</c:v>
                </c:pt>
                <c:pt idx="7">
                  <c:v>1.500198442</c:v>
                </c:pt>
                <c:pt idx="8">
                  <c:v>1.500243596</c:v>
                </c:pt>
                <c:pt idx="9">
                  <c:v>1.500291342</c:v>
                </c:pt>
                <c:pt idx="10">
                  <c:v>1.500341335</c:v>
                </c:pt>
                <c:pt idx="11">
                  <c:v>1.500393272</c:v>
                </c:pt>
                <c:pt idx="12">
                  <c:v>1.500446895</c:v>
                </c:pt>
                <c:pt idx="13">
                  <c:v>1.500501974</c:v>
                </c:pt>
                <c:pt idx="14">
                  <c:v>1.50055831</c:v>
                </c:pt>
                <c:pt idx="15">
                  <c:v>1.500615726</c:v>
                </c:pt>
                <c:pt idx="16">
                  <c:v>1.500674065</c:v>
                </c:pt>
                <c:pt idx="17">
                  <c:v>1.500733188</c:v>
                </c:pt>
                <c:pt idx="18">
                  <c:v>1.500792971</c:v>
                </c:pt>
                <c:pt idx="19">
                  <c:v>1.500853302</c:v>
                </c:pt>
                <c:pt idx="20">
                  <c:v>1.500914081</c:v>
                </c:pt>
                <c:pt idx="21">
                  <c:v>1.500975219</c:v>
                </c:pt>
                <c:pt idx="22">
                  <c:v>1.501036635</c:v>
                </c:pt>
                <c:pt idx="23">
                  <c:v>1.501098256</c:v>
                </c:pt>
                <c:pt idx="24">
                  <c:v>1.501160016</c:v>
                </c:pt>
                <c:pt idx="25">
                  <c:v>1.501221857</c:v>
                </c:pt>
                <c:pt idx="26">
                  <c:v>1.501283724</c:v>
                </c:pt>
                <c:pt idx="27">
                  <c:v>1.501345568</c:v>
                </c:pt>
                <c:pt idx="28">
                  <c:v>1.501407345</c:v>
                </c:pt>
                <c:pt idx="29">
                  <c:v>1.501469015</c:v>
                </c:pt>
                <c:pt idx="30">
                  <c:v>1.501530542</c:v>
                </c:pt>
                <c:pt idx="31">
                  <c:v>1.501591893</c:v>
                </c:pt>
                <c:pt idx="32">
                  <c:v>1.501653038</c:v>
                </c:pt>
                <c:pt idx="33">
                  <c:v>1.50171395</c:v>
                </c:pt>
                <c:pt idx="34">
                  <c:v>1.501774604</c:v>
                </c:pt>
                <c:pt idx="35">
                  <c:v>1.501834979</c:v>
                </c:pt>
                <c:pt idx="36">
                  <c:v>1.501895053</c:v>
                </c:pt>
                <c:pt idx="37">
                  <c:v>1.501954809</c:v>
                </c:pt>
                <c:pt idx="38">
                  <c:v>1.502014231</c:v>
                </c:pt>
                <c:pt idx="39">
                  <c:v>1.502073303</c:v>
                </c:pt>
                <c:pt idx="40">
                  <c:v>1.502132012</c:v>
                </c:pt>
                <c:pt idx="41">
                  <c:v>1.502190348</c:v>
                </c:pt>
                <c:pt idx="42">
                  <c:v>1.502248297</c:v>
                </c:pt>
                <c:pt idx="43">
                  <c:v>1.502305853</c:v>
                </c:pt>
                <c:pt idx="44">
                  <c:v>1.502363005</c:v>
                </c:pt>
                <c:pt idx="45">
                  <c:v>1.502419747</c:v>
                </c:pt>
                <c:pt idx="46">
                  <c:v>1.502476072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51"/>
          <c:min val="1.5"/>
        </c:scaling>
        <c:delete val="0"/>
        <c:axPos val="l"/>
        <c:majorGridlines>
          <c:spPr>
            <a:ln xmlns:a="http://schemas.openxmlformats.org/drawingml/2006/main" w="9525">
              <a:solidFill>
                <a:srgbClr val="E6EAED"/>
              </a:solidFill>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n efektif</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2616B"/>
                </a:solidFill>
                <a:latin typeface="Arial"/>
                <a:ea typeface="Arial"/>
                <a:cs typeface="Arial"/>
              </a:defRPr>
            </a:pPr>
          </a:p>
        </c:txPr>
        <c:crossAx val="48650112"/>
      </c:valAx>
      <c:valAx>
        <c:axId val="48650112"/>
        <c:scaling>
          <c:orientation val="minMax"/>
          <c:max val="12"/>
          <c:min val="0"/>
        </c:scaling>
        <c:delete val="0"/>
        <c:axPos val="b"/>
        <c:majorGridlines>
          <c:spPr>
            <a:ln xmlns:a="http://schemas.openxmlformats.org/drawingml/2006/main" w="9525">
              <a:solidFill>
                <a:srgbClr val="E6EAED"/>
              </a:solidFill>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d (µm)</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2616B"/>
                </a:solidFill>
                <a:latin typeface="Arial"/>
                <a:ea typeface="Arial"/>
                <a:cs typeface="Arial"/>
              </a:defRPr>
            </a:pPr>
          </a:p>
        </c:txPr>
        <c:crossAx val="48672768"/>
        <c:crossesAt val="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53443"/>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varyColors val="0"/>
        <c:ser>
          <c:idx val="0"/>
          <c:order val="0"/>
          <c:tx>
            <c:v>Pa / P0</c:v>
          </c:tx>
          <c:spPr>
            <a:ln xmlns:a="http://schemas.openxmlformats.org/drawingml/2006/main" w="23813">
              <a:solidFill>
                <a:srgbClr val="146078"/>
              </a:solidFill>
            </a:ln>
          </c:spPr>
          <c:marker>
            <c:symbol val="none"/>
          </c:marker>
          <c:xVal>
            <c:numRef>
              <c:f>'Chart Data'!$A$2:$A$102</c:f>
              <c:numCache>
                <c:formatCode>General</c:formatCode>
                <c:ptCount val="101"/>
                <c:pt idx="0">
                  <c:v>0</c:v>
                </c:pt>
                <c:pt idx="1">
                  <c:v>11.26185473</c:v>
                </c:pt>
                <c:pt idx="2">
                  <c:v>22.52370946</c:v>
                </c:pt>
                <c:pt idx="3">
                  <c:v>33.78556419</c:v>
                </c:pt>
                <c:pt idx="4">
                  <c:v>45.04741892</c:v>
                </c:pt>
                <c:pt idx="5">
                  <c:v>56.30927366</c:v>
                </c:pt>
                <c:pt idx="6">
                  <c:v>67.57112839</c:v>
                </c:pt>
                <c:pt idx="7">
                  <c:v>78.83298312</c:v>
                </c:pt>
                <c:pt idx="8">
                  <c:v>90.09483785</c:v>
                </c:pt>
                <c:pt idx="9">
                  <c:v>101.3566926</c:v>
                </c:pt>
                <c:pt idx="10">
                  <c:v>112.6185473</c:v>
                </c:pt>
                <c:pt idx="11">
                  <c:v>123.880402</c:v>
                </c:pt>
                <c:pt idx="12">
                  <c:v>135.1422568</c:v>
                </c:pt>
                <c:pt idx="13">
                  <c:v>146.4041115</c:v>
                </c:pt>
                <c:pt idx="14">
                  <c:v>157.6659662</c:v>
                </c:pt>
                <c:pt idx="15">
                  <c:v>168.927821</c:v>
                </c:pt>
                <c:pt idx="16">
                  <c:v>180.1896757</c:v>
                </c:pt>
                <c:pt idx="17">
                  <c:v>191.4515304</c:v>
                </c:pt>
                <c:pt idx="18">
                  <c:v>202.7133852</c:v>
                </c:pt>
                <c:pt idx="19">
                  <c:v>213.9752399</c:v>
                </c:pt>
                <c:pt idx="20">
                  <c:v>225.2370946</c:v>
                </c:pt>
                <c:pt idx="21">
                  <c:v>236.4989494</c:v>
                </c:pt>
                <c:pt idx="22">
                  <c:v>247.7608041</c:v>
                </c:pt>
                <c:pt idx="23">
                  <c:v>259.0226588</c:v>
                </c:pt>
                <c:pt idx="24">
                  <c:v>270.2845135</c:v>
                </c:pt>
                <c:pt idx="25">
                  <c:v>281.5463683</c:v>
                </c:pt>
                <c:pt idx="26">
                  <c:v>292.808223</c:v>
                </c:pt>
                <c:pt idx="27">
                  <c:v>304.0700777</c:v>
                </c:pt>
                <c:pt idx="28">
                  <c:v>315.3319325</c:v>
                </c:pt>
                <c:pt idx="29">
                  <c:v>326.5937872</c:v>
                </c:pt>
                <c:pt idx="30">
                  <c:v>337.8556419</c:v>
                </c:pt>
                <c:pt idx="31">
                  <c:v>349.1174967</c:v>
                </c:pt>
                <c:pt idx="32">
                  <c:v>360.3793514</c:v>
                </c:pt>
                <c:pt idx="33">
                  <c:v>371.6412061</c:v>
                </c:pt>
                <c:pt idx="34">
                  <c:v>382.9030609</c:v>
                </c:pt>
                <c:pt idx="35">
                  <c:v>394.1649156</c:v>
                </c:pt>
                <c:pt idx="36">
                  <c:v>405.4267703</c:v>
                </c:pt>
                <c:pt idx="37">
                  <c:v>416.688625</c:v>
                </c:pt>
                <c:pt idx="38">
                  <c:v>427.9504798</c:v>
                </c:pt>
                <c:pt idx="39">
                  <c:v>439.2123345</c:v>
                </c:pt>
                <c:pt idx="40">
                  <c:v>450.4741892</c:v>
                </c:pt>
                <c:pt idx="41">
                  <c:v>461.736044</c:v>
                </c:pt>
                <c:pt idx="42">
                  <c:v>472.9978987</c:v>
                </c:pt>
                <c:pt idx="43">
                  <c:v>484.2597534</c:v>
                </c:pt>
                <c:pt idx="44">
                  <c:v>495.5216082</c:v>
                </c:pt>
                <c:pt idx="45">
                  <c:v>506.7834629</c:v>
                </c:pt>
                <c:pt idx="46">
                  <c:v>518.0453176</c:v>
                </c:pt>
                <c:pt idx="47">
                  <c:v>529.3071724</c:v>
                </c:pt>
                <c:pt idx="48">
                  <c:v>540.5690271</c:v>
                </c:pt>
                <c:pt idx="49">
                  <c:v>551.8308818</c:v>
                </c:pt>
                <c:pt idx="50">
                  <c:v>563.0927366</c:v>
                </c:pt>
                <c:pt idx="51">
                  <c:v>574.3545913</c:v>
                </c:pt>
                <c:pt idx="52">
                  <c:v>585.616446</c:v>
                </c:pt>
                <c:pt idx="53">
                  <c:v>596.8783007</c:v>
                </c:pt>
                <c:pt idx="54">
                  <c:v>608.1401555</c:v>
                </c:pt>
                <c:pt idx="55">
                  <c:v>619.4020102</c:v>
                </c:pt>
                <c:pt idx="56">
                  <c:v>630.6638649</c:v>
                </c:pt>
                <c:pt idx="57">
                  <c:v>641.9257197</c:v>
                </c:pt>
                <c:pt idx="58">
                  <c:v>653.1875744</c:v>
                </c:pt>
                <c:pt idx="59">
                  <c:v>664.4494291</c:v>
                </c:pt>
                <c:pt idx="60">
                  <c:v>675.7112839</c:v>
                </c:pt>
                <c:pt idx="61">
                  <c:v>686.9731386</c:v>
                </c:pt>
                <c:pt idx="62">
                  <c:v>698.2349933</c:v>
                </c:pt>
                <c:pt idx="63">
                  <c:v>709.4968481</c:v>
                </c:pt>
                <c:pt idx="64">
                  <c:v>720.7587028</c:v>
                </c:pt>
                <c:pt idx="65">
                  <c:v>732.0205575</c:v>
                </c:pt>
                <c:pt idx="66">
                  <c:v>743.2824123</c:v>
                </c:pt>
                <c:pt idx="67">
                  <c:v>754.544267</c:v>
                </c:pt>
                <c:pt idx="68">
                  <c:v>765.8061217</c:v>
                </c:pt>
                <c:pt idx="69">
                  <c:v>777.0679764</c:v>
                </c:pt>
                <c:pt idx="70">
                  <c:v>788.3298312</c:v>
                </c:pt>
                <c:pt idx="71">
                  <c:v>799.5916859</c:v>
                </c:pt>
                <c:pt idx="72">
                  <c:v>810.8535406</c:v>
                </c:pt>
                <c:pt idx="73">
                  <c:v>822.1153954</c:v>
                </c:pt>
                <c:pt idx="74">
                  <c:v>833.3772501</c:v>
                </c:pt>
                <c:pt idx="75">
                  <c:v>844.6391048</c:v>
                </c:pt>
                <c:pt idx="76">
                  <c:v>855.9009596</c:v>
                </c:pt>
                <c:pt idx="77">
                  <c:v>867.1628143</c:v>
                </c:pt>
                <c:pt idx="78">
                  <c:v>878.424669</c:v>
                </c:pt>
                <c:pt idx="79">
                  <c:v>889.6865238</c:v>
                </c:pt>
                <c:pt idx="80">
                  <c:v>900.9483785</c:v>
                </c:pt>
                <c:pt idx="81">
                  <c:v>912.2102332</c:v>
                </c:pt>
                <c:pt idx="82">
                  <c:v>923.4720879</c:v>
                </c:pt>
                <c:pt idx="83">
                  <c:v>934.7339427</c:v>
                </c:pt>
                <c:pt idx="84">
                  <c:v>945.9957974</c:v>
                </c:pt>
                <c:pt idx="85">
                  <c:v>957.2576521</c:v>
                </c:pt>
                <c:pt idx="86">
                  <c:v>968.5195069</c:v>
                </c:pt>
                <c:pt idx="87">
                  <c:v>979.7813616</c:v>
                </c:pt>
                <c:pt idx="88">
                  <c:v>991.0432163</c:v>
                </c:pt>
                <c:pt idx="89">
                  <c:v>1002.305071</c:v>
                </c:pt>
                <c:pt idx="90">
                  <c:v>1013.566926</c:v>
                </c:pt>
                <c:pt idx="91">
                  <c:v>1024.828781</c:v>
                </c:pt>
                <c:pt idx="92">
                  <c:v>1036.090635</c:v>
                </c:pt>
                <c:pt idx="93">
                  <c:v>1047.35249</c:v>
                </c:pt>
                <c:pt idx="94">
                  <c:v>1058.614345</c:v>
                </c:pt>
                <c:pt idx="95">
                  <c:v>1069.876199</c:v>
                </c:pt>
                <c:pt idx="96">
                  <c:v>1081.138054</c:v>
                </c:pt>
                <c:pt idx="97">
                  <c:v>1092.399909</c:v>
                </c:pt>
                <c:pt idx="98">
                  <c:v>1103.661764</c:v>
                </c:pt>
                <c:pt idx="99">
                  <c:v>1114.923618</c:v>
                </c:pt>
                <c:pt idx="100">
                  <c:v>1126.185473</c:v>
                </c:pt>
              </c:numCache>
            </c:numRef>
          </c:xVal>
          <c:yVal>
            <c:numRef>
              <c:f>'Chart Data'!$B$2:$B$102</c:f>
              <c:numCache>
                <c:formatCode>0.0</c:formatCode>
                <c:ptCount val="101"/>
                <c:pt idx="0">
                  <c:v>1</c:v>
                </c:pt>
                <c:pt idx="1">
                  <c:v>0.9990133642</c:v>
                </c:pt>
                <c:pt idx="2">
                  <c:v>0.9960573507</c:v>
                </c:pt>
                <c:pt idx="3">
                  <c:v>0.9911436254</c:v>
                </c:pt>
                <c:pt idx="4">
                  <c:v>0.9842915806</c:v>
                </c:pt>
                <c:pt idx="5">
                  <c:v>0.9755282581</c:v>
                </c:pt>
                <c:pt idx="6">
                  <c:v>0.9648882429</c:v>
                </c:pt>
                <c:pt idx="7">
                  <c:v>0.9524135262</c:v>
                </c:pt>
                <c:pt idx="8">
                  <c:v>0.93815334</c:v>
                </c:pt>
                <c:pt idx="9">
                  <c:v>0.9221639628</c:v>
                </c:pt>
                <c:pt idx="10">
                  <c:v>0.9045084972</c:v>
                </c:pt>
                <c:pt idx="11">
                  <c:v>0.8852566214</c:v>
                </c:pt>
                <c:pt idx="12">
                  <c:v>0.8644843137</c:v>
                </c:pt>
                <c:pt idx="13">
                  <c:v>0.842273553</c:v>
                </c:pt>
                <c:pt idx="14">
                  <c:v>0.8187119949</c:v>
                </c:pt>
                <c:pt idx="15">
                  <c:v>0.7938926261</c:v>
                </c:pt>
                <c:pt idx="16">
                  <c:v>0.7679133975</c:v>
                </c:pt>
                <c:pt idx="17">
                  <c:v>0.7408768371</c:v>
                </c:pt>
                <c:pt idx="18">
                  <c:v>0.7128896458</c:v>
                </c:pt>
                <c:pt idx="19">
                  <c:v>0.6840622763</c:v>
                </c:pt>
                <c:pt idx="20">
                  <c:v>0.6545084972</c:v>
                </c:pt>
                <c:pt idx="21">
                  <c:v>0.6243449436</c:v>
                </c:pt>
                <c:pt idx="22">
                  <c:v>0.5936906573</c:v>
                </c:pt>
                <c:pt idx="23">
                  <c:v>0.5626666168</c:v>
                </c:pt>
                <c:pt idx="24">
                  <c:v>0.5313952598</c:v>
                </c:pt>
                <c:pt idx="25">
                  <c:v>0.5</c:v>
                </c:pt>
                <c:pt idx="26">
                  <c:v>0.4686047402</c:v>
                </c:pt>
                <c:pt idx="27">
                  <c:v>0.4373333832</c:v>
                </c:pt>
                <c:pt idx="28">
                  <c:v>0.4063093427</c:v>
                </c:pt>
                <c:pt idx="29">
                  <c:v>0.3756550564</c:v>
                </c:pt>
                <c:pt idx="30">
                  <c:v>0.3454915028</c:v>
                </c:pt>
                <c:pt idx="31">
                  <c:v>0.3159377237</c:v>
                </c:pt>
                <c:pt idx="32">
                  <c:v>0.2871103542</c:v>
                </c:pt>
                <c:pt idx="33">
                  <c:v>0.2591231629</c:v>
                </c:pt>
                <c:pt idx="34">
                  <c:v>0.2320866025</c:v>
                </c:pt>
                <c:pt idx="35">
                  <c:v>0.2061073739</c:v>
                </c:pt>
                <c:pt idx="36">
                  <c:v>0.1812880051</c:v>
                </c:pt>
                <c:pt idx="37">
                  <c:v>0.157726447</c:v>
                </c:pt>
                <c:pt idx="38">
                  <c:v>0.1355156863</c:v>
                </c:pt>
                <c:pt idx="39">
                  <c:v>0.1147433786</c:v>
                </c:pt>
                <c:pt idx="40">
                  <c:v>0.09549150281</c:v>
                </c:pt>
                <c:pt idx="41">
                  <c:v>0.07783603725</c:v>
                </c:pt>
                <c:pt idx="42">
                  <c:v>0.06184665998</c:v>
                </c:pt>
                <c:pt idx="43">
                  <c:v>0.04758647377</c:v>
                </c:pt>
                <c:pt idx="44">
                  <c:v>0.03511175706</c:v>
                </c:pt>
                <c:pt idx="45">
                  <c:v>0.02447174185</c:v>
                </c:pt>
                <c:pt idx="46">
                  <c:v>0.01570841944</c:v>
                </c:pt>
                <c:pt idx="47">
                  <c:v>0.008856374636</c:v>
                </c:pt>
                <c:pt idx="48">
                  <c:v>0.003942649343</c:v>
                </c:pt>
                <c:pt idx="49">
                  <c:v>0.0009866357859</c:v>
                </c:pt>
                <c:pt idx="50">
                  <c:v>3.749399457E-33</c:v>
                </c:pt>
                <c:pt idx="51">
                  <c:v>0.0009866357859</c:v>
                </c:pt>
                <c:pt idx="52">
                  <c:v>0.003942649343</c:v>
                </c:pt>
                <c:pt idx="53">
                  <c:v>0.008856374636</c:v>
                </c:pt>
                <c:pt idx="54">
                  <c:v>0.01570841944</c:v>
                </c:pt>
                <c:pt idx="55">
                  <c:v>0.02447174185</c:v>
                </c:pt>
                <c:pt idx="56">
                  <c:v>0.03511175706</c:v>
                </c:pt>
                <c:pt idx="57">
                  <c:v>0.04758647377</c:v>
                </c:pt>
                <c:pt idx="58">
                  <c:v>0.06184665998</c:v>
                </c:pt>
                <c:pt idx="59">
                  <c:v>0.07783603725</c:v>
                </c:pt>
                <c:pt idx="60">
                  <c:v>0.09549150281</c:v>
                </c:pt>
                <c:pt idx="61">
                  <c:v>0.1147433786</c:v>
                </c:pt>
                <c:pt idx="62">
                  <c:v>0.1355156863</c:v>
                </c:pt>
                <c:pt idx="63">
                  <c:v>0.157726447</c:v>
                </c:pt>
                <c:pt idx="64">
                  <c:v>0.1812880051</c:v>
                </c:pt>
                <c:pt idx="65">
                  <c:v>0.2061073739</c:v>
                </c:pt>
                <c:pt idx="66">
                  <c:v>0.2320866025</c:v>
                </c:pt>
                <c:pt idx="67">
                  <c:v>0.2591231629</c:v>
                </c:pt>
                <c:pt idx="68">
                  <c:v>0.2871103542</c:v>
                </c:pt>
                <c:pt idx="69">
                  <c:v>0.3159377237</c:v>
                </c:pt>
                <c:pt idx="70">
                  <c:v>0.3454915028</c:v>
                </c:pt>
                <c:pt idx="71">
                  <c:v>0.3756550564</c:v>
                </c:pt>
                <c:pt idx="72">
                  <c:v>0.4063093427</c:v>
                </c:pt>
                <c:pt idx="73">
                  <c:v>0.4373333832</c:v>
                </c:pt>
                <c:pt idx="74">
                  <c:v>0.4686047402</c:v>
                </c:pt>
                <c:pt idx="75">
                  <c:v>0.5</c:v>
                </c:pt>
                <c:pt idx="76">
                  <c:v>0.5313952598</c:v>
                </c:pt>
                <c:pt idx="77">
                  <c:v>0.5626666168</c:v>
                </c:pt>
                <c:pt idx="78">
                  <c:v>0.5936906573</c:v>
                </c:pt>
                <c:pt idx="79">
                  <c:v>0.6243449436</c:v>
                </c:pt>
                <c:pt idx="80">
                  <c:v>0.6545084972</c:v>
                </c:pt>
                <c:pt idx="81">
                  <c:v>0.6840622763</c:v>
                </c:pt>
                <c:pt idx="82">
                  <c:v>0.7128896458</c:v>
                </c:pt>
                <c:pt idx="83">
                  <c:v>0.7408768371</c:v>
                </c:pt>
                <c:pt idx="84">
                  <c:v>0.7679133975</c:v>
                </c:pt>
                <c:pt idx="85">
                  <c:v>0.7938926261</c:v>
                </c:pt>
                <c:pt idx="86">
                  <c:v>0.8187119949</c:v>
                </c:pt>
                <c:pt idx="87">
                  <c:v>0.842273553</c:v>
                </c:pt>
                <c:pt idx="88">
                  <c:v>0.8644843137</c:v>
                </c:pt>
                <c:pt idx="89">
                  <c:v>0.8852566214</c:v>
                </c:pt>
                <c:pt idx="90">
                  <c:v>0.9045084972</c:v>
                </c:pt>
                <c:pt idx="91">
                  <c:v>0.9221639628</c:v>
                </c:pt>
                <c:pt idx="92">
                  <c:v>0.93815334</c:v>
                </c:pt>
                <c:pt idx="93">
                  <c:v>0.9524135262</c:v>
                </c:pt>
                <c:pt idx="94">
                  <c:v>0.9648882429</c:v>
                </c:pt>
                <c:pt idx="95">
                  <c:v>0.9755282581</c:v>
                </c:pt>
                <c:pt idx="96">
                  <c:v>0.9842915806</c:v>
                </c:pt>
                <c:pt idx="97">
                  <c:v>0.9911436254</c:v>
                </c:pt>
                <c:pt idx="98">
                  <c:v>0.9960573507</c:v>
                </c:pt>
                <c:pt idx="99">
                  <c:v>0.9990133642</c:v>
                </c:pt>
                <c:pt idx="100">
                  <c:v>1</c:v>
                </c:pt>
              </c:numCache>
            </c:numRef>
          </c:yVal>
        </c:ser>
        <c:ser>
          <c:idx val="1"/>
          <c:order val="1"/>
          <c:tx>
            <c:v>Pb / P0</c:v>
          </c:tx>
          <c:spPr>
            <a:ln xmlns:a="http://schemas.openxmlformats.org/drawingml/2006/main" w="23813">
              <a:solidFill>
                <a:srgbClr val="D06429"/>
              </a:solidFill>
            </a:ln>
          </c:spPr>
          <c:marker>
            <c:symbol val="none"/>
          </c:marker>
          <c:xVal>
            <c:numRef>
              <c:f>'Chart Data'!$C$2:$C$102</c:f>
              <c:numCache>
                <c:formatCode>General</c:formatCode>
                <c:ptCount val="101"/>
                <c:pt idx="0">
                  <c:v>0</c:v>
                </c:pt>
                <c:pt idx="1">
                  <c:v>11.26185473</c:v>
                </c:pt>
                <c:pt idx="2">
                  <c:v>22.52370946</c:v>
                </c:pt>
                <c:pt idx="3">
                  <c:v>33.78556419</c:v>
                </c:pt>
                <c:pt idx="4">
                  <c:v>45.04741892</c:v>
                </c:pt>
                <c:pt idx="5">
                  <c:v>56.30927366</c:v>
                </c:pt>
                <c:pt idx="6">
                  <c:v>67.57112839</c:v>
                </c:pt>
                <c:pt idx="7">
                  <c:v>78.83298312</c:v>
                </c:pt>
                <c:pt idx="8">
                  <c:v>90.09483785</c:v>
                </c:pt>
                <c:pt idx="9">
                  <c:v>101.3566926</c:v>
                </c:pt>
                <c:pt idx="10">
                  <c:v>112.6185473</c:v>
                </c:pt>
                <c:pt idx="11">
                  <c:v>123.880402</c:v>
                </c:pt>
                <c:pt idx="12">
                  <c:v>135.1422568</c:v>
                </c:pt>
                <c:pt idx="13">
                  <c:v>146.4041115</c:v>
                </c:pt>
                <c:pt idx="14">
                  <c:v>157.6659662</c:v>
                </c:pt>
                <c:pt idx="15">
                  <c:v>168.927821</c:v>
                </c:pt>
                <c:pt idx="16">
                  <c:v>180.1896757</c:v>
                </c:pt>
                <c:pt idx="17">
                  <c:v>191.4515304</c:v>
                </c:pt>
                <c:pt idx="18">
                  <c:v>202.7133852</c:v>
                </c:pt>
                <c:pt idx="19">
                  <c:v>213.9752399</c:v>
                </c:pt>
                <c:pt idx="20">
                  <c:v>225.2370946</c:v>
                </c:pt>
                <c:pt idx="21">
                  <c:v>236.4989494</c:v>
                </c:pt>
                <c:pt idx="22">
                  <c:v>247.7608041</c:v>
                </c:pt>
                <c:pt idx="23">
                  <c:v>259.0226588</c:v>
                </c:pt>
                <c:pt idx="24">
                  <c:v>270.2845135</c:v>
                </c:pt>
                <c:pt idx="25">
                  <c:v>281.5463683</c:v>
                </c:pt>
                <c:pt idx="26">
                  <c:v>292.808223</c:v>
                </c:pt>
                <c:pt idx="27">
                  <c:v>304.0700777</c:v>
                </c:pt>
                <c:pt idx="28">
                  <c:v>315.3319325</c:v>
                </c:pt>
                <c:pt idx="29">
                  <c:v>326.5937872</c:v>
                </c:pt>
                <c:pt idx="30">
                  <c:v>337.8556419</c:v>
                </c:pt>
                <c:pt idx="31">
                  <c:v>349.1174967</c:v>
                </c:pt>
                <c:pt idx="32">
                  <c:v>360.3793514</c:v>
                </c:pt>
                <c:pt idx="33">
                  <c:v>371.6412061</c:v>
                </c:pt>
                <c:pt idx="34">
                  <c:v>382.9030609</c:v>
                </c:pt>
                <c:pt idx="35">
                  <c:v>394.1649156</c:v>
                </c:pt>
                <c:pt idx="36">
                  <c:v>405.4267703</c:v>
                </c:pt>
                <c:pt idx="37">
                  <c:v>416.688625</c:v>
                </c:pt>
                <c:pt idx="38">
                  <c:v>427.9504798</c:v>
                </c:pt>
                <c:pt idx="39">
                  <c:v>439.2123345</c:v>
                </c:pt>
                <c:pt idx="40">
                  <c:v>450.4741892</c:v>
                </c:pt>
                <c:pt idx="41">
                  <c:v>461.736044</c:v>
                </c:pt>
                <c:pt idx="42">
                  <c:v>472.9978987</c:v>
                </c:pt>
                <c:pt idx="43">
                  <c:v>484.2597534</c:v>
                </c:pt>
                <c:pt idx="44">
                  <c:v>495.5216082</c:v>
                </c:pt>
                <c:pt idx="45">
                  <c:v>506.7834629</c:v>
                </c:pt>
                <c:pt idx="46">
                  <c:v>518.0453176</c:v>
                </c:pt>
                <c:pt idx="47">
                  <c:v>529.3071724</c:v>
                </c:pt>
                <c:pt idx="48">
                  <c:v>540.5690271</c:v>
                </c:pt>
                <c:pt idx="49">
                  <c:v>551.8308818</c:v>
                </c:pt>
                <c:pt idx="50">
                  <c:v>563.0927366</c:v>
                </c:pt>
                <c:pt idx="51">
                  <c:v>574.3545913</c:v>
                </c:pt>
                <c:pt idx="52">
                  <c:v>585.616446</c:v>
                </c:pt>
                <c:pt idx="53">
                  <c:v>596.8783007</c:v>
                </c:pt>
                <c:pt idx="54">
                  <c:v>608.1401555</c:v>
                </c:pt>
                <c:pt idx="55">
                  <c:v>619.4020102</c:v>
                </c:pt>
                <c:pt idx="56">
                  <c:v>630.6638649</c:v>
                </c:pt>
                <c:pt idx="57">
                  <c:v>641.9257197</c:v>
                </c:pt>
                <c:pt idx="58">
                  <c:v>653.1875744</c:v>
                </c:pt>
                <c:pt idx="59">
                  <c:v>664.4494291</c:v>
                </c:pt>
                <c:pt idx="60">
                  <c:v>675.7112839</c:v>
                </c:pt>
                <c:pt idx="61">
                  <c:v>686.9731386</c:v>
                </c:pt>
                <c:pt idx="62">
                  <c:v>698.2349933</c:v>
                </c:pt>
                <c:pt idx="63">
                  <c:v>709.4968481</c:v>
                </c:pt>
                <c:pt idx="64">
                  <c:v>720.7587028</c:v>
                </c:pt>
                <c:pt idx="65">
                  <c:v>732.0205575</c:v>
                </c:pt>
                <c:pt idx="66">
                  <c:v>743.2824123</c:v>
                </c:pt>
                <c:pt idx="67">
                  <c:v>754.544267</c:v>
                </c:pt>
                <c:pt idx="68">
                  <c:v>765.8061217</c:v>
                </c:pt>
                <c:pt idx="69">
                  <c:v>777.0679764</c:v>
                </c:pt>
                <c:pt idx="70">
                  <c:v>788.3298312</c:v>
                </c:pt>
                <c:pt idx="71">
                  <c:v>799.5916859</c:v>
                </c:pt>
                <c:pt idx="72">
                  <c:v>810.8535406</c:v>
                </c:pt>
                <c:pt idx="73">
                  <c:v>822.1153954</c:v>
                </c:pt>
                <c:pt idx="74">
                  <c:v>833.3772501</c:v>
                </c:pt>
                <c:pt idx="75">
                  <c:v>844.6391048</c:v>
                </c:pt>
                <c:pt idx="76">
                  <c:v>855.9009596</c:v>
                </c:pt>
                <c:pt idx="77">
                  <c:v>867.1628143</c:v>
                </c:pt>
                <c:pt idx="78">
                  <c:v>878.424669</c:v>
                </c:pt>
                <c:pt idx="79">
                  <c:v>889.6865238</c:v>
                </c:pt>
                <c:pt idx="80">
                  <c:v>900.9483785</c:v>
                </c:pt>
                <c:pt idx="81">
                  <c:v>912.2102332</c:v>
                </c:pt>
                <c:pt idx="82">
                  <c:v>923.4720879</c:v>
                </c:pt>
                <c:pt idx="83">
                  <c:v>934.7339427</c:v>
                </c:pt>
                <c:pt idx="84">
                  <c:v>945.9957974</c:v>
                </c:pt>
                <c:pt idx="85">
                  <c:v>957.2576521</c:v>
                </c:pt>
                <c:pt idx="86">
                  <c:v>968.5195069</c:v>
                </c:pt>
                <c:pt idx="87">
                  <c:v>979.7813616</c:v>
                </c:pt>
                <c:pt idx="88">
                  <c:v>991.0432163</c:v>
                </c:pt>
                <c:pt idx="89">
                  <c:v>1002.305071</c:v>
                </c:pt>
                <c:pt idx="90">
                  <c:v>1013.566926</c:v>
                </c:pt>
                <c:pt idx="91">
                  <c:v>1024.828781</c:v>
                </c:pt>
                <c:pt idx="92">
                  <c:v>1036.090635</c:v>
                </c:pt>
                <c:pt idx="93">
                  <c:v>1047.35249</c:v>
                </c:pt>
                <c:pt idx="94">
                  <c:v>1058.614345</c:v>
                </c:pt>
                <c:pt idx="95">
                  <c:v>1069.876199</c:v>
                </c:pt>
                <c:pt idx="96">
                  <c:v>1081.138054</c:v>
                </c:pt>
                <c:pt idx="97">
                  <c:v>1092.399909</c:v>
                </c:pt>
                <c:pt idx="98">
                  <c:v>1103.661764</c:v>
                </c:pt>
                <c:pt idx="99">
                  <c:v>1114.923618</c:v>
                </c:pt>
                <c:pt idx="100">
                  <c:v>1126.185473</c:v>
                </c:pt>
              </c:numCache>
            </c:numRef>
          </c:xVal>
          <c:yVal>
            <c:numRef>
              <c:f>'Chart Data'!$D$2:$D$102</c:f>
              <c:numCache>
                <c:formatCode>0.0</c:formatCode>
                <c:ptCount val="101"/>
                <c:pt idx="0">
                  <c:v>0</c:v>
                </c:pt>
                <c:pt idx="1">
                  <c:v>0.0009866357859</c:v>
                </c:pt>
                <c:pt idx="2">
                  <c:v>0.003942649343</c:v>
                </c:pt>
                <c:pt idx="3">
                  <c:v>0.008856374636</c:v>
                </c:pt>
                <c:pt idx="4">
                  <c:v>0.01570841944</c:v>
                </c:pt>
                <c:pt idx="5">
                  <c:v>0.02447174185</c:v>
                </c:pt>
                <c:pt idx="6">
                  <c:v>0.03511175706</c:v>
                </c:pt>
                <c:pt idx="7">
                  <c:v>0.04758647377</c:v>
                </c:pt>
                <c:pt idx="8">
                  <c:v>0.06184665998</c:v>
                </c:pt>
                <c:pt idx="9">
                  <c:v>0.07783603725</c:v>
                </c:pt>
                <c:pt idx="10">
                  <c:v>0.09549150281</c:v>
                </c:pt>
                <c:pt idx="11">
                  <c:v>0.1147433786</c:v>
                </c:pt>
                <c:pt idx="12">
                  <c:v>0.1355156863</c:v>
                </c:pt>
                <c:pt idx="13">
                  <c:v>0.157726447</c:v>
                </c:pt>
                <c:pt idx="14">
                  <c:v>0.1812880051</c:v>
                </c:pt>
                <c:pt idx="15">
                  <c:v>0.2061073739</c:v>
                </c:pt>
                <c:pt idx="16">
                  <c:v>0.2320866025</c:v>
                </c:pt>
                <c:pt idx="17">
                  <c:v>0.2591231629</c:v>
                </c:pt>
                <c:pt idx="18">
                  <c:v>0.2871103542</c:v>
                </c:pt>
                <c:pt idx="19">
                  <c:v>0.3159377237</c:v>
                </c:pt>
                <c:pt idx="20">
                  <c:v>0.3454915028</c:v>
                </c:pt>
                <c:pt idx="21">
                  <c:v>0.3756550564</c:v>
                </c:pt>
                <c:pt idx="22">
                  <c:v>0.4063093427</c:v>
                </c:pt>
                <c:pt idx="23">
                  <c:v>0.4373333832</c:v>
                </c:pt>
                <c:pt idx="24">
                  <c:v>0.4686047402</c:v>
                </c:pt>
                <c:pt idx="25">
                  <c:v>0.5</c:v>
                </c:pt>
                <c:pt idx="26">
                  <c:v>0.5313952598</c:v>
                </c:pt>
                <c:pt idx="27">
                  <c:v>0.5626666168</c:v>
                </c:pt>
                <c:pt idx="28">
                  <c:v>0.5936906573</c:v>
                </c:pt>
                <c:pt idx="29">
                  <c:v>0.6243449436</c:v>
                </c:pt>
                <c:pt idx="30">
                  <c:v>0.6545084972</c:v>
                </c:pt>
                <c:pt idx="31">
                  <c:v>0.6840622763</c:v>
                </c:pt>
                <c:pt idx="32">
                  <c:v>0.7128896458</c:v>
                </c:pt>
                <c:pt idx="33">
                  <c:v>0.7408768371</c:v>
                </c:pt>
                <c:pt idx="34">
                  <c:v>0.7679133975</c:v>
                </c:pt>
                <c:pt idx="35">
                  <c:v>0.7938926261</c:v>
                </c:pt>
                <c:pt idx="36">
                  <c:v>0.8187119949</c:v>
                </c:pt>
                <c:pt idx="37">
                  <c:v>0.842273553</c:v>
                </c:pt>
                <c:pt idx="38">
                  <c:v>0.8644843137</c:v>
                </c:pt>
                <c:pt idx="39">
                  <c:v>0.8852566214</c:v>
                </c:pt>
                <c:pt idx="40">
                  <c:v>0.9045084972</c:v>
                </c:pt>
                <c:pt idx="41">
                  <c:v>0.9221639628</c:v>
                </c:pt>
                <c:pt idx="42">
                  <c:v>0.93815334</c:v>
                </c:pt>
                <c:pt idx="43">
                  <c:v>0.9524135262</c:v>
                </c:pt>
                <c:pt idx="44">
                  <c:v>0.9648882429</c:v>
                </c:pt>
                <c:pt idx="45">
                  <c:v>0.9755282581</c:v>
                </c:pt>
                <c:pt idx="46">
                  <c:v>0.9842915806</c:v>
                </c:pt>
                <c:pt idx="47">
                  <c:v>0.9911436254</c:v>
                </c:pt>
                <c:pt idx="48">
                  <c:v>0.9960573507</c:v>
                </c:pt>
                <c:pt idx="49">
                  <c:v>0.9990133642</c:v>
                </c:pt>
                <c:pt idx="50">
                  <c:v>1</c:v>
                </c:pt>
                <c:pt idx="51">
                  <c:v>0.9990133642</c:v>
                </c:pt>
                <c:pt idx="52">
                  <c:v>0.9960573507</c:v>
                </c:pt>
                <c:pt idx="53">
                  <c:v>0.9911436254</c:v>
                </c:pt>
                <c:pt idx="54">
                  <c:v>0.9842915806</c:v>
                </c:pt>
                <c:pt idx="55">
                  <c:v>0.9755282581</c:v>
                </c:pt>
                <c:pt idx="56">
                  <c:v>0.9648882429</c:v>
                </c:pt>
                <c:pt idx="57">
                  <c:v>0.9524135262</c:v>
                </c:pt>
                <c:pt idx="58">
                  <c:v>0.93815334</c:v>
                </c:pt>
                <c:pt idx="59">
                  <c:v>0.9221639628</c:v>
                </c:pt>
                <c:pt idx="60">
                  <c:v>0.9045084972</c:v>
                </c:pt>
                <c:pt idx="61">
                  <c:v>0.8852566214</c:v>
                </c:pt>
                <c:pt idx="62">
                  <c:v>0.8644843137</c:v>
                </c:pt>
                <c:pt idx="63">
                  <c:v>0.842273553</c:v>
                </c:pt>
                <c:pt idx="64">
                  <c:v>0.8187119949</c:v>
                </c:pt>
                <c:pt idx="65">
                  <c:v>0.7938926261</c:v>
                </c:pt>
                <c:pt idx="66">
                  <c:v>0.7679133975</c:v>
                </c:pt>
                <c:pt idx="67">
                  <c:v>0.7408768371</c:v>
                </c:pt>
                <c:pt idx="68">
                  <c:v>0.7128896458</c:v>
                </c:pt>
                <c:pt idx="69">
                  <c:v>0.6840622763</c:v>
                </c:pt>
                <c:pt idx="70">
                  <c:v>0.6545084972</c:v>
                </c:pt>
                <c:pt idx="71">
                  <c:v>0.6243449436</c:v>
                </c:pt>
                <c:pt idx="72">
                  <c:v>0.5936906573</c:v>
                </c:pt>
                <c:pt idx="73">
                  <c:v>0.5626666168</c:v>
                </c:pt>
                <c:pt idx="74">
                  <c:v>0.5313952598</c:v>
                </c:pt>
                <c:pt idx="75">
                  <c:v>0.5</c:v>
                </c:pt>
                <c:pt idx="76">
                  <c:v>0.4686047402</c:v>
                </c:pt>
                <c:pt idx="77">
                  <c:v>0.4373333832</c:v>
                </c:pt>
                <c:pt idx="78">
                  <c:v>0.4063093427</c:v>
                </c:pt>
                <c:pt idx="79">
                  <c:v>0.3756550564</c:v>
                </c:pt>
                <c:pt idx="80">
                  <c:v>0.3454915028</c:v>
                </c:pt>
                <c:pt idx="81">
                  <c:v>0.3159377237</c:v>
                </c:pt>
                <c:pt idx="82">
                  <c:v>0.2871103542</c:v>
                </c:pt>
                <c:pt idx="83">
                  <c:v>0.2591231629</c:v>
                </c:pt>
                <c:pt idx="84">
                  <c:v>0.2320866025</c:v>
                </c:pt>
                <c:pt idx="85">
                  <c:v>0.2061073739</c:v>
                </c:pt>
                <c:pt idx="86">
                  <c:v>0.1812880051</c:v>
                </c:pt>
                <c:pt idx="87">
                  <c:v>0.157726447</c:v>
                </c:pt>
                <c:pt idx="88">
                  <c:v>0.1355156863</c:v>
                </c:pt>
                <c:pt idx="89">
                  <c:v>0.1147433786</c:v>
                </c:pt>
                <c:pt idx="90">
                  <c:v>0.09549150281</c:v>
                </c:pt>
                <c:pt idx="91">
                  <c:v>0.07783603725</c:v>
                </c:pt>
                <c:pt idx="92">
                  <c:v>0.06184665998</c:v>
                </c:pt>
                <c:pt idx="93">
                  <c:v>0.04758647377</c:v>
                </c:pt>
                <c:pt idx="94">
                  <c:v>0.03511175706</c:v>
                </c:pt>
                <c:pt idx="95">
                  <c:v>0.02447174185</c:v>
                </c:pt>
                <c:pt idx="96">
                  <c:v>0.01570841944</c:v>
                </c:pt>
                <c:pt idx="97">
                  <c:v>0.008856374636</c:v>
                </c:pt>
                <c:pt idx="98">
                  <c:v>0.003942649343</c:v>
                </c:pt>
                <c:pt idx="99">
                  <c:v>0.0009866357859</c:v>
                </c:pt>
                <c:pt idx="100">
                  <c:v>1.499759783E-32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5"/>
          <c:min val="0"/>
        </c:scaling>
        <c:delete val="0"/>
        <c:axPos val="l"/>
        <c:majorGridlines>
          <c:spPr>
            <a:ln xmlns:a="http://schemas.openxmlformats.org/drawingml/2006/main" w="9525">
              <a:solidFill>
                <a:srgbClr val="E6EAED"/>
              </a:solidFill>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Daya / P₀</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2616B"/>
                </a:solidFill>
                <a:latin typeface="Arial"/>
                <a:ea typeface="Arial"/>
                <a:cs typeface="Arial"/>
              </a:defRPr>
            </a:pPr>
          </a:p>
        </c:txPr>
        <c:crossAx val="48650112"/>
      </c:valAx>
      <c:valAx>
        <c:axId val="48650112"/>
        <c:scaling>
          <c:orientation val="minMax"/>
          <c:max val="1126.1854731069755"/>
          <c:min val="0"/>
        </c:scaling>
        <c:delete val="0"/>
        <c:axPos val="b"/>
        <c:majorGridlines>
          <c:spPr>
            <a:ln xmlns:a="http://schemas.openxmlformats.org/drawingml/2006/main" w="9525">
              <a:solidFill>
                <a:srgbClr val="E6EAED"/>
              </a:solidFill>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z (µm)</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2616B"/>
                </a:solidFill>
                <a:latin typeface="Arial"/>
                <a:ea typeface="Arial"/>
                <a:cs typeface="Arial"/>
              </a:defRPr>
            </a:pPr>
          </a:p>
        </c:txPr>
        <c:crossAx val="48672768"/>
        <c:crossesAt val="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53443"/>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varyColors val="0"/>
        <c:ser>
          <c:idx val="0"/>
          <c:order val="0"/>
          <c:tx>
            <c:v>Panjang transfer</c:v>
          </c:tx>
          <c:spPr>
            <a:ln xmlns:a="http://schemas.openxmlformats.org/drawingml/2006/main" w="23813">
              <a:solidFill>
                <a:srgbClr val="146078"/>
              </a:solidFill>
            </a:ln>
          </c:spPr>
          <c:marker>
            <c:symbol val="none"/>
          </c:marker>
          <c:xVal>
            <c:numRef>
              <c:f>'Chart Data'!$A$2:$A$42</c:f>
              <c:numCache>
                <c:formatCode>General</c:formatCode>
                <c:ptCount val="41"/>
                <c:pt idx="0">
                  <c:v>2</c:v>
                </c:pt>
                <c:pt idx="1">
                  <c:v>2.1</c:v>
                </c:pt>
                <c:pt idx="2">
                  <c:v>2.2</c:v>
                </c:pt>
                <c:pt idx="3">
                  <c:v>2.3</c:v>
                </c:pt>
                <c:pt idx="4">
                  <c:v>2.4</c:v>
                </c:pt>
                <c:pt idx="5">
                  <c:v>2.5</c:v>
                </c:pt>
                <c:pt idx="6">
                  <c:v>2.6</c:v>
                </c:pt>
                <c:pt idx="7">
                  <c:v>2.7</c:v>
                </c:pt>
                <c:pt idx="8">
                  <c:v>2.8</c:v>
                </c:pt>
                <c:pt idx="9">
                  <c:v>2.9</c:v>
                </c:pt>
                <c:pt idx="10">
                  <c:v>3</c:v>
                </c:pt>
                <c:pt idx="11">
                  <c:v>3.1</c:v>
                </c:pt>
                <c:pt idx="12">
                  <c:v>3.2</c:v>
                </c:pt>
                <c:pt idx="13">
                  <c:v>3.3</c:v>
                </c:pt>
                <c:pt idx="14">
                  <c:v>3.4</c:v>
                </c:pt>
                <c:pt idx="15">
                  <c:v>3.5</c:v>
                </c:pt>
                <c:pt idx="16">
                  <c:v>3.6</c:v>
                </c:pt>
                <c:pt idx="17">
                  <c:v>3.7</c:v>
                </c:pt>
                <c:pt idx="18">
                  <c:v>3.8</c:v>
                </c:pt>
                <c:pt idx="19">
                  <c:v>3.9</c:v>
                </c:pt>
                <c:pt idx="20">
                  <c:v>4</c:v>
                </c:pt>
                <c:pt idx="21">
                  <c:v>4.1</c:v>
                </c:pt>
                <c:pt idx="22">
                  <c:v>4.2</c:v>
                </c:pt>
                <c:pt idx="23">
                  <c:v>4.3</c:v>
                </c:pt>
                <c:pt idx="24">
                  <c:v>4.4</c:v>
                </c:pt>
                <c:pt idx="25">
                  <c:v>4.5</c:v>
                </c:pt>
                <c:pt idx="26">
                  <c:v>4.6</c:v>
                </c:pt>
                <c:pt idx="27">
                  <c:v>4.7</c:v>
                </c:pt>
                <c:pt idx="28">
                  <c:v>4.8</c:v>
                </c:pt>
                <c:pt idx="29">
                  <c:v>4.9</c:v>
                </c:pt>
                <c:pt idx="30">
                  <c:v>5</c:v>
                </c:pt>
                <c:pt idx="31">
                  <c:v>5.1</c:v>
                </c:pt>
                <c:pt idx="32">
                  <c:v>5.2</c:v>
                </c:pt>
                <c:pt idx="33">
                  <c:v>5.3</c:v>
                </c:pt>
                <c:pt idx="34">
                  <c:v>5.4</c:v>
                </c:pt>
                <c:pt idx="35">
                  <c:v>5.5</c:v>
                </c:pt>
                <c:pt idx="36">
                  <c:v>5.6</c:v>
                </c:pt>
                <c:pt idx="37">
                  <c:v>5.7</c:v>
                </c:pt>
                <c:pt idx="38">
                  <c:v>5.8</c:v>
                </c:pt>
                <c:pt idx="39">
                  <c:v>5.9</c:v>
                </c:pt>
                <c:pt idx="40">
                  <c:v>6</c:v>
                </c:pt>
              </c:numCache>
            </c:numRef>
          </c:xVal>
          <c:yVal>
            <c:numRef>
              <c:f>'Chart Data'!$B$2:$B$42</c:f>
              <c:numCache>
                <c:formatCode>0</c:formatCode>
                <c:ptCount val="41"/>
                <c:pt idx="0">
                  <c:v>243.5477122</c:v>
                </c:pt>
                <c:pt idx="1">
                  <c:v>253.8057481</c:v>
                </c:pt>
                <c:pt idx="2">
                  <c:v>264.5602928</c:v>
                </c:pt>
                <c:pt idx="3">
                  <c:v>275.8245242</c:v>
                </c:pt>
                <c:pt idx="4">
                  <c:v>287.6126699</c:v>
                </c:pt>
                <c:pt idx="5">
                  <c:v>299.9399869</c:v>
                </c:pt>
                <c:pt idx="6">
                  <c:v>312.8227503</c:v>
                </c:pt>
                <c:pt idx="7">
                  <c:v>326.2782483</c:v>
                </c:pt>
                <c:pt idx="8">
                  <c:v>340.3247835</c:v>
                </c:pt>
                <c:pt idx="9">
                  <c:v>354.9816796</c:v>
                </c:pt>
                <c:pt idx="10">
                  <c:v>370.2692926</c:v>
                </c:pt>
                <c:pt idx="11">
                  <c:v>386.2090261</c:v>
                </c:pt>
                <c:pt idx="12">
                  <c:v>402.8233509</c:v>
                </c:pt>
                <c:pt idx="13">
                  <c:v>420.1358275</c:v>
                </c:pt>
                <c:pt idx="14">
                  <c:v>438.1711323</c:v>
                </c:pt>
                <c:pt idx="15">
                  <c:v>456.9550863</c:v>
                </c:pt>
                <c:pt idx="16">
                  <c:v>476.5146877</c:v>
                </c:pt>
                <c:pt idx="17">
                  <c:v>496.8781459</c:v>
                </c:pt>
                <c:pt idx="18">
                  <c:v>518.0749196</c:v>
                </c:pt>
                <c:pt idx="19">
                  <c:v>540.1357566</c:v>
                </c:pt>
                <c:pt idx="20">
                  <c:v>563.0927366</c:v>
                </c:pt>
                <c:pt idx="21">
                  <c:v>586.9793161</c:v>
                </c:pt>
                <c:pt idx="22">
                  <c:v>611.830377</c:v>
                </c:pt>
                <c:pt idx="23">
                  <c:v>637.6822762</c:v>
                </c:pt>
                <c:pt idx="24">
                  <c:v>664.5728993</c:v>
                </c:pt>
                <c:pt idx="25">
                  <c:v>692.5417158</c:v>
                </c:pt>
                <c:pt idx="26">
                  <c:v>721.6298378</c:v>
                </c:pt>
                <c:pt idx="27">
                  <c:v>751.8800807</c:v>
                </c:pt>
                <c:pt idx="28">
                  <c:v>783.3370275</c:v>
                </c:pt>
                <c:pt idx="29">
                  <c:v>816.0470951</c:v>
                </c:pt>
                <c:pt idx="30">
                  <c:v>850.0586043</c:v>
                </c:pt>
                <c:pt idx="31">
                  <c:v>885.4218524</c:v>
                </c:pt>
                <c:pt idx="32">
                  <c:v>922.1891888</c:v>
                </c:pt>
                <c:pt idx="33">
                  <c:v>960.4150943</c:v>
                </c:pt>
                <c:pt idx="34">
                  <c:v>1000.156263</c:v>
                </c:pt>
                <c:pt idx="35">
                  <c:v>1041.47169</c:v>
                </c:pt>
                <c:pt idx="36">
                  <c:v>1084.422756</c:v>
                </c:pt>
                <c:pt idx="37">
                  <c:v>1129.073325</c:v>
                </c:pt>
                <c:pt idx="38">
                  <c:v>1175.489841</c:v>
                </c:pt>
                <c:pt idx="39">
                  <c:v>1223.741425</c:v>
                </c:pt>
                <c:pt idx="40">
                  <c:v>1273.899983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400"/>
          <c:min val="0"/>
        </c:scaling>
        <c:delete val="0"/>
        <c:axPos val="l"/>
        <c:majorGridlines>
          <c:spPr>
            <a:ln xmlns:a="http://schemas.openxmlformats.org/drawingml/2006/main" w="9525">
              <a:solidFill>
                <a:srgbClr val="E6EAED"/>
              </a:solidFill>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Lc (µm)</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2616B"/>
                </a:solidFill>
                <a:latin typeface="Arial"/>
                <a:ea typeface="Arial"/>
                <a:cs typeface="Arial"/>
              </a:defRPr>
            </a:pPr>
          </a:p>
        </c:txPr>
        <c:crossAx val="48650112"/>
      </c:valAx>
      <c:valAx>
        <c:axId val="48650112"/>
        <c:scaling>
          <c:orientation val="minMax"/>
          <c:max val="6"/>
          <c:min val="2"/>
        </c:scaling>
        <c:delete val="0"/>
        <c:axPos val="b"/>
        <c:majorGridlines>
          <c:spPr>
            <a:ln xmlns:a="http://schemas.openxmlformats.org/drawingml/2006/main" w="9525">
              <a:solidFill>
                <a:srgbClr val="E6EAED"/>
              </a:solidFill>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g (µm)</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2616B"/>
                </a:solidFill>
                <a:latin typeface="Arial"/>
                <a:ea typeface="Arial"/>
                <a:cs typeface="Arial"/>
              </a:defRPr>
            </a:pPr>
          </a:p>
        </c:txPr>
        <c:crossAx val="48672768"/>
        <c:crossesA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96208C-FDD7-401F-9BC0-F62A5ACF4DB4}"/>
              </a:ext>
            </a:extLst>
          </p:cNvPr>
          <p:cNvSpPr>
            <a:spLocks xmlns:a="http://schemas.openxmlformats.org/drawingml/2006/main" noGrp="1"/>
          </p:cNvSpPr>
          <p:nvPr/>
        </p:nvSpPr>
        <p:spPr>
          <a:xfrm xmlns:a="http://schemas.openxmlformats.org/drawingml/2006/main">
            <a:off x="609600" y="3810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443"/>
                </a:solidFill>
                <a:latin typeface="Arial"/>
                <a:ea typeface="Arial"/>
                <a:cs typeface="Arial"/>
              </a:defRPr>
            </a:defPPr>
            <a:lvl1pPr>
              <a:defRPr sz="3225" b="1">
                <a:solidFill>
                  <a:srgbClr val="153443"/>
                </a:solidFill>
                <a:latin typeface="Arial"/>
                <a:ea typeface="Arial"/>
                <a:cs typeface="Arial"/>
              </a:defRPr>
            </a:lvl1pPr>
            <a:lvl2pPr>
              <a:defRPr sz="3225" b="1">
                <a:solidFill>
                  <a:srgbClr val="153443"/>
                </a:solidFill>
                <a:latin typeface="Arial"/>
                <a:ea typeface="Arial"/>
                <a:cs typeface="Arial"/>
              </a:defRPr>
            </a:lvl2pPr>
            <a:lvl3pPr>
              <a:defRPr sz="3225" b="1">
                <a:solidFill>
                  <a:srgbClr val="153443"/>
                </a:solidFill>
                <a:latin typeface="Arial"/>
                <a:ea typeface="Arial"/>
                <a:cs typeface="Arial"/>
              </a:defRPr>
            </a:lvl3pPr>
            <a:lvl4pPr>
              <a:defRPr sz="3225" b="1">
                <a:solidFill>
                  <a:srgbClr val="153443"/>
                </a:solidFill>
                <a:latin typeface="Arial"/>
                <a:ea typeface="Arial"/>
                <a:cs typeface="Arial"/>
              </a:defRPr>
            </a:lvl4pPr>
            <a:lvl5pPr>
              <a:defRPr sz="3225" b="1">
                <a:solidFill>
                  <a:srgbClr val="153443"/>
                </a:solidFill>
                <a:latin typeface="Arial"/>
                <a:ea typeface="Arial"/>
                <a:cs typeface="Arial"/>
              </a:defRPr>
            </a:lvl5pPr>
            <a:lvl6pPr>
              <a:defRPr sz="3225" b="1">
                <a:solidFill>
                  <a:srgbClr val="153443"/>
                </a:solidFill>
                <a:latin typeface="Arial"/>
                <a:ea typeface="Arial"/>
                <a:cs typeface="Arial"/>
              </a:defRPr>
            </a:lvl6pPr>
            <a:lvl7pPr>
              <a:defRPr sz="3225" b="1">
                <a:solidFill>
                  <a:srgbClr val="153443"/>
                </a:solidFill>
                <a:latin typeface="Arial"/>
                <a:ea typeface="Arial"/>
                <a:cs typeface="Arial"/>
              </a:defRPr>
            </a:lvl7pPr>
            <a:lvl8pPr>
              <a:defRPr sz="3225" b="1">
                <a:solidFill>
                  <a:srgbClr val="153443"/>
                </a:solidFill>
                <a:latin typeface="Arial"/>
                <a:ea typeface="Arial"/>
                <a:cs typeface="Arial"/>
              </a:defRPr>
            </a:lvl8pPr>
            <a:lvl9pPr>
              <a:defRPr sz="3225" b="1">
                <a:solidFill>
                  <a:srgbClr val="153443"/>
                </a:solidFill>
                <a:latin typeface="Arial"/>
                <a:ea typeface="Arial"/>
                <a:cs typeface="Arial"/>
              </a:defRPr>
            </a:lvl9pPr>
          </a:lstStyle>
          <a:p xmlns:a="http://schemas.openxmlformats.org/drawingml/2006/main">
            <a:pPr>
              <a:defRPr sz="3225" b="1">
                <a:solidFill>
                  <a:srgbClr val="153443"/>
                </a:solidFill>
                <a:latin typeface="Arial"/>
                <a:ea typeface="Arial"/>
                <a:cs typeface="Arial"/>
              </a:defRPr>
            </a:pPr>
            <a:r>
              <a:rPr sz="3225" b="1">
                <a:solidFill>
                  <a:srgbClr val="153443"/>
                </a:solidFill>
                <a:latin typeface="Arial"/>
                <a:ea typeface="Arial"/>
                <a:cs typeface="Arial"/>
              </a:rPr>
              <a:t>Pandu Gelombang Planar</a:t>
            </a:r>
          </a:p>
          <a:p xmlns:a="http://schemas.openxmlformats.org/drawingml/2006/main">
            <a:pPr>
              <a:defRPr sz="3225" b="1">
                <a:solidFill>
                  <a:srgbClr val="153443"/>
                </a:solidFill>
                <a:latin typeface="Arial"/>
                <a:ea typeface="Arial"/>
                <a:cs typeface="Arial"/>
              </a:defRPr>
            </a:pPr>
            <a:r>
              <a:rPr sz="3225" b="1">
                <a:solidFill>
                  <a:srgbClr val="153443"/>
                </a:solidFill>
                <a:latin typeface="Arial"/>
                <a:ea typeface="Arial"/>
                <a:cs typeface="Arial"/>
              </a:rPr>
              <a:t>dan Directional Coupler</a:t>
            </a:r>
          </a:p>
        </p:txBody>
      </p:sp>
      <p:sp>
        <p:nvSpPr>
          <p:cNvPr id="2" name="">
            <a:extLst xmlns:a="http://schemas.openxmlformats.org/drawingml/2006/main">
              <a:ext uri="{FF2B5EF4-FFF2-40B4-BE49-F238E27FC236}">
                <a16:creationId xmlns:a16="http://schemas.microsoft.com/office/drawing/2014/main" id="{99508ECA-CFC5-4979-8108-5532170C7027}"/>
              </a:ext>
            </a:extLst>
          </p:cNvPr>
          <p:cNvSpPr>
            <a:spLocks xmlns:a="http://schemas.openxmlformats.org/drawingml/2006/main" noGrp="1"/>
          </p:cNvSpPr>
          <p:nvPr/>
        </p:nvSpPr>
        <p:spPr>
          <a:xfrm xmlns:a="http://schemas.openxmlformats.org/drawingml/2006/main">
            <a:off x="609600" y="63817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OPTIK MODERN  ·  PENUGASAN 1</a:t>
            </a:r>
          </a:p>
        </p:txBody>
      </p:sp>
      <p:sp>
        <p:nvSpPr>
          <p:cNvPr id="3" name="">
            <a:extLst xmlns:a="http://schemas.openxmlformats.org/drawingml/2006/main">
              <a:ext uri="{FF2B5EF4-FFF2-40B4-BE49-F238E27FC236}">
                <a16:creationId xmlns:a16="http://schemas.microsoft.com/office/drawing/2014/main" id="{9E765D65-9154-4456-B13B-DEE368406BF4}"/>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84E7AF4D-B39A-4A7C-BC0E-1061C975F826}"/>
              </a:ext>
            </a:extLst>
          </p:cNvPr>
          <p:cNvSpPr>
            <a:spLocks xmlns:a="http://schemas.openxmlformats.org/drawingml/2006/main" noGrp="1"/>
          </p:cNvSpPr>
          <p:nvPr/>
        </p:nvSpPr>
        <p:spPr>
          <a:xfrm xmlns:a="http://schemas.openxmlformats.org/drawingml/2006/main">
            <a:off x="609600" y="2762250"/>
            <a:ext cx="1019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46078"/>
                </a:solidFill>
                <a:latin typeface="Arial"/>
                <a:ea typeface="Arial"/>
                <a:cs typeface="Arial"/>
              </a:defRPr>
            </a:defPPr>
            <a:lvl1pPr>
              <a:defRPr sz="2325" b="0">
                <a:solidFill>
                  <a:srgbClr val="146078"/>
                </a:solidFill>
                <a:latin typeface="Arial"/>
                <a:ea typeface="Arial"/>
                <a:cs typeface="Arial"/>
              </a:defRPr>
            </a:lvl1pPr>
            <a:lvl2pPr>
              <a:defRPr sz="2325" b="0">
                <a:solidFill>
                  <a:srgbClr val="146078"/>
                </a:solidFill>
                <a:latin typeface="Arial"/>
                <a:ea typeface="Arial"/>
                <a:cs typeface="Arial"/>
              </a:defRPr>
            </a:lvl2pPr>
            <a:lvl3pPr>
              <a:defRPr sz="2325" b="0">
                <a:solidFill>
                  <a:srgbClr val="146078"/>
                </a:solidFill>
                <a:latin typeface="Arial"/>
                <a:ea typeface="Arial"/>
                <a:cs typeface="Arial"/>
              </a:defRPr>
            </a:lvl3pPr>
            <a:lvl4pPr>
              <a:defRPr sz="2325" b="0">
                <a:solidFill>
                  <a:srgbClr val="146078"/>
                </a:solidFill>
                <a:latin typeface="Arial"/>
                <a:ea typeface="Arial"/>
                <a:cs typeface="Arial"/>
              </a:defRPr>
            </a:lvl4pPr>
            <a:lvl5pPr>
              <a:defRPr sz="2325" b="0">
                <a:solidFill>
                  <a:srgbClr val="146078"/>
                </a:solidFill>
                <a:latin typeface="Arial"/>
                <a:ea typeface="Arial"/>
                <a:cs typeface="Arial"/>
              </a:defRPr>
            </a:lvl5pPr>
            <a:lvl6pPr>
              <a:defRPr sz="2325" b="0">
                <a:solidFill>
                  <a:srgbClr val="146078"/>
                </a:solidFill>
                <a:latin typeface="Arial"/>
                <a:ea typeface="Arial"/>
                <a:cs typeface="Arial"/>
              </a:defRPr>
            </a:lvl6pPr>
            <a:lvl7pPr>
              <a:defRPr sz="2325" b="0">
                <a:solidFill>
                  <a:srgbClr val="146078"/>
                </a:solidFill>
                <a:latin typeface="Arial"/>
                <a:ea typeface="Arial"/>
                <a:cs typeface="Arial"/>
              </a:defRPr>
            </a:lvl7pPr>
            <a:lvl8pPr>
              <a:defRPr sz="2325" b="0">
                <a:solidFill>
                  <a:srgbClr val="146078"/>
                </a:solidFill>
                <a:latin typeface="Arial"/>
                <a:ea typeface="Arial"/>
                <a:cs typeface="Arial"/>
              </a:defRPr>
            </a:lvl8pPr>
            <a:lvl9pPr>
              <a:defRPr sz="2325" b="0">
                <a:solidFill>
                  <a:srgbClr val="146078"/>
                </a:solidFill>
                <a:latin typeface="Arial"/>
                <a:ea typeface="Arial"/>
                <a:cs typeface="Arial"/>
              </a:defRPr>
            </a:lvl9pPr>
          </a:lstStyle>
          <a:p xmlns:a="http://schemas.openxmlformats.org/drawingml/2006/main">
            <a:pPr>
              <a:defRPr sz="2325" b="0">
                <a:solidFill>
                  <a:srgbClr val="146078"/>
                </a:solidFill>
                <a:latin typeface="Arial"/>
                <a:ea typeface="Arial"/>
                <a:cs typeface="Arial"/>
              </a:defRPr>
            </a:pPr>
            <a:r>
              <a:rPr sz="2325" b="0">
                <a:solidFill>
                  <a:srgbClr val="146078"/>
                </a:solidFill>
                <a:latin typeface="Arial"/>
                <a:ea typeface="Arial"/>
                <a:cs typeface="Arial"/>
              </a:rPr>
              <a:t>Analisis modus TE dan simulasi perpindahan daya</a:t>
            </a:r>
          </a:p>
        </p:txBody>
      </p:sp>
      <p:sp>
        <p:nvSpPr>
          <p:cNvPr id="5" name="">
            <a:extLst xmlns:a="http://schemas.openxmlformats.org/drawingml/2006/main">
              <a:ext uri="{FF2B5EF4-FFF2-40B4-BE49-F238E27FC236}">
                <a16:creationId xmlns:a16="http://schemas.microsoft.com/office/drawing/2014/main" id="{094E730C-3F15-4967-BA72-7E47203D84E9}"/>
              </a:ext>
            </a:extLst>
          </p:cNvPr>
          <p:cNvSpPr>
            <a:spLocks xmlns:a="http://schemas.openxmlformats.org/drawingml/2006/main" noGrp="1"/>
          </p:cNvSpPr>
          <p:nvPr/>
        </p:nvSpPr>
        <p:spPr>
          <a:xfrm xmlns:a="http://schemas.openxmlformats.org/drawingml/2006/main">
            <a:off x="609600" y="3714750"/>
            <a:ext cx="1019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53443"/>
                </a:solidFill>
                <a:latin typeface="Arial"/>
                <a:ea typeface="Arial"/>
                <a:cs typeface="Arial"/>
              </a:defRPr>
            </a:defPPr>
            <a:lvl1pPr>
              <a:defRPr sz="2175" b="0">
                <a:solidFill>
                  <a:srgbClr val="153443"/>
                </a:solidFill>
                <a:latin typeface="Arial"/>
                <a:ea typeface="Arial"/>
                <a:cs typeface="Arial"/>
              </a:defRPr>
            </a:lvl1pPr>
            <a:lvl2pPr>
              <a:defRPr sz="2175" b="0">
                <a:solidFill>
                  <a:srgbClr val="153443"/>
                </a:solidFill>
                <a:latin typeface="Arial"/>
                <a:ea typeface="Arial"/>
                <a:cs typeface="Arial"/>
              </a:defRPr>
            </a:lvl2pPr>
            <a:lvl3pPr>
              <a:defRPr sz="2175" b="0">
                <a:solidFill>
                  <a:srgbClr val="153443"/>
                </a:solidFill>
                <a:latin typeface="Arial"/>
                <a:ea typeface="Arial"/>
                <a:cs typeface="Arial"/>
              </a:defRPr>
            </a:lvl3pPr>
            <a:lvl4pPr>
              <a:defRPr sz="2175" b="0">
                <a:solidFill>
                  <a:srgbClr val="153443"/>
                </a:solidFill>
                <a:latin typeface="Arial"/>
                <a:ea typeface="Arial"/>
                <a:cs typeface="Arial"/>
              </a:defRPr>
            </a:lvl4pPr>
            <a:lvl5pPr>
              <a:defRPr sz="2175" b="0">
                <a:solidFill>
                  <a:srgbClr val="153443"/>
                </a:solidFill>
                <a:latin typeface="Arial"/>
                <a:ea typeface="Arial"/>
                <a:cs typeface="Arial"/>
              </a:defRPr>
            </a:lvl5pPr>
            <a:lvl6pPr>
              <a:defRPr sz="2175" b="0">
                <a:solidFill>
                  <a:srgbClr val="153443"/>
                </a:solidFill>
                <a:latin typeface="Arial"/>
                <a:ea typeface="Arial"/>
                <a:cs typeface="Arial"/>
              </a:defRPr>
            </a:lvl6pPr>
            <a:lvl7pPr>
              <a:defRPr sz="2175" b="0">
                <a:solidFill>
                  <a:srgbClr val="153443"/>
                </a:solidFill>
                <a:latin typeface="Arial"/>
                <a:ea typeface="Arial"/>
                <a:cs typeface="Arial"/>
              </a:defRPr>
            </a:lvl7pPr>
            <a:lvl8pPr>
              <a:defRPr sz="2175" b="0">
                <a:solidFill>
                  <a:srgbClr val="153443"/>
                </a:solidFill>
                <a:latin typeface="Arial"/>
                <a:ea typeface="Arial"/>
                <a:cs typeface="Arial"/>
              </a:defRPr>
            </a:lvl8pPr>
            <a:lvl9pPr>
              <a:defRPr sz="2175" b="0">
                <a:solidFill>
                  <a:srgbClr val="153443"/>
                </a:solidFill>
                <a:latin typeface="Arial"/>
                <a:ea typeface="Arial"/>
                <a:cs typeface="Arial"/>
              </a:defRPr>
            </a:lvl9pPr>
          </a:lstStyle>
          <a:p xmlns:a="http://schemas.openxmlformats.org/drawingml/2006/main">
            <a:pPr>
              <a:defRPr sz="2175" b="0">
                <a:solidFill>
                  <a:srgbClr val="153443"/>
                </a:solidFill>
                <a:latin typeface="Arial"/>
                <a:ea typeface="Arial"/>
                <a:cs typeface="Arial"/>
              </a:defRPr>
            </a:pPr>
            <a:r>
              <a:rPr sz="2175" b="0">
                <a:solidFill>
                  <a:srgbClr val="153443"/>
                </a:solidFill>
                <a:latin typeface="Arial"/>
                <a:ea typeface="Arial"/>
                <a:cs typeface="Arial"/>
              </a:rPr>
              <a:t>Struktur simetris  ·  λ = 1,55 µm</a:t>
            </a:r>
          </a:p>
        </p:txBody>
      </p:sp>
      <p:sp>
        <p:nvSpPr>
          <p:cNvPr id="6" name="">
            <a:extLst xmlns:a="http://schemas.openxmlformats.org/drawingml/2006/main">
              <a:ext uri="{FF2B5EF4-FFF2-40B4-BE49-F238E27FC236}">
                <a16:creationId xmlns:a16="http://schemas.microsoft.com/office/drawing/2014/main" id="{47C51EE0-885A-41F8-9BA6-C4EBAC6EEF33}"/>
              </a:ext>
            </a:extLst>
          </p:cNvPr>
          <p:cNvSpPr>
            <a:spLocks xmlns:a="http://schemas.openxmlformats.org/drawingml/2006/main" noGrp="1"/>
          </p:cNvSpPr>
          <p:nvPr/>
        </p:nvSpPr>
        <p:spPr>
          <a:xfrm xmlns:a="http://schemas.openxmlformats.org/drawingml/2006/main">
            <a:off x="609600" y="5143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2616B"/>
                </a:solidFill>
                <a:latin typeface="Arial"/>
                <a:ea typeface="Arial"/>
                <a:cs typeface="Arial"/>
              </a:defRPr>
            </a:defPPr>
            <a:lvl1pPr>
              <a:defRPr sz="1725" b="0">
                <a:solidFill>
                  <a:srgbClr val="52616B"/>
                </a:solidFill>
                <a:latin typeface="Arial"/>
                <a:ea typeface="Arial"/>
                <a:cs typeface="Arial"/>
              </a:defRPr>
            </a:lvl1pPr>
            <a:lvl2pPr>
              <a:defRPr sz="1725" b="0">
                <a:solidFill>
                  <a:srgbClr val="52616B"/>
                </a:solidFill>
                <a:latin typeface="Arial"/>
                <a:ea typeface="Arial"/>
                <a:cs typeface="Arial"/>
              </a:defRPr>
            </a:lvl2pPr>
            <a:lvl3pPr>
              <a:defRPr sz="1725" b="0">
                <a:solidFill>
                  <a:srgbClr val="52616B"/>
                </a:solidFill>
                <a:latin typeface="Arial"/>
                <a:ea typeface="Arial"/>
                <a:cs typeface="Arial"/>
              </a:defRPr>
            </a:lvl3pPr>
            <a:lvl4pPr>
              <a:defRPr sz="1725" b="0">
                <a:solidFill>
                  <a:srgbClr val="52616B"/>
                </a:solidFill>
                <a:latin typeface="Arial"/>
                <a:ea typeface="Arial"/>
                <a:cs typeface="Arial"/>
              </a:defRPr>
            </a:lvl4pPr>
            <a:lvl5pPr>
              <a:defRPr sz="1725" b="0">
                <a:solidFill>
                  <a:srgbClr val="52616B"/>
                </a:solidFill>
                <a:latin typeface="Arial"/>
                <a:ea typeface="Arial"/>
                <a:cs typeface="Arial"/>
              </a:defRPr>
            </a:lvl5pPr>
            <a:lvl6pPr>
              <a:defRPr sz="1725" b="0">
                <a:solidFill>
                  <a:srgbClr val="52616B"/>
                </a:solidFill>
                <a:latin typeface="Arial"/>
                <a:ea typeface="Arial"/>
                <a:cs typeface="Arial"/>
              </a:defRPr>
            </a:lvl6pPr>
            <a:lvl7pPr>
              <a:defRPr sz="1725" b="0">
                <a:solidFill>
                  <a:srgbClr val="52616B"/>
                </a:solidFill>
                <a:latin typeface="Arial"/>
                <a:ea typeface="Arial"/>
                <a:cs typeface="Arial"/>
              </a:defRPr>
            </a:lvl7pPr>
            <a:lvl8pPr>
              <a:defRPr sz="1725" b="0">
                <a:solidFill>
                  <a:srgbClr val="52616B"/>
                </a:solidFill>
                <a:latin typeface="Arial"/>
                <a:ea typeface="Arial"/>
                <a:cs typeface="Arial"/>
              </a:defRPr>
            </a:lvl8pPr>
            <a:lvl9pPr>
              <a:defRPr sz="1725" b="0">
                <a:solidFill>
                  <a:srgbClr val="52616B"/>
                </a:solidFill>
                <a:latin typeface="Arial"/>
                <a:ea typeface="Arial"/>
                <a:cs typeface="Arial"/>
              </a:defRPr>
            </a:lvl9pPr>
          </a:lstStyle>
          <a:p xmlns:a="http://schemas.openxmlformats.org/drawingml/2006/main">
            <a:pPr>
              <a:defRPr sz="1725" b="0">
                <a:solidFill>
                  <a:srgbClr val="52616B"/>
                </a:solidFill>
                <a:latin typeface="Arial"/>
                <a:ea typeface="Arial"/>
                <a:cs typeface="Arial"/>
              </a:defRPr>
            </a:pPr>
            <a:r>
              <a:rPr sz="1725" b="0">
                <a:solidFill>
                  <a:srgbClr val="52616B"/>
                </a:solidFill>
                <a:latin typeface="Arial"/>
                <a:ea typeface="Arial"/>
                <a:cs typeface="Arial"/>
              </a:rPr>
              <a:t>Program Studi Fisika FMIPA Universitas Padjadjaran</a:t>
            </a:r>
          </a:p>
        </p:txBody>
      </p:sp>
    </p:spTree>
    <p:extLst>
      <p:ext uri="{BB962C8B-B14F-4D97-AF65-F5344CB8AC3E}">
        <p14:creationId xmlns:p14="http://schemas.microsoft.com/office/powerpoint/2010/main" val="5783243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9BEB8D2-6E44-433E-BEC7-683202E5D77A}"/>
              </a:ext>
            </a:extLst>
          </p:cNvPr>
          <p:cNvSpPr>
            <a:spLocks xmlns:a="http://schemas.openxmlformats.org/drawingml/2006/main" noGrp="1"/>
          </p:cNvSpPr>
          <p:nvPr/>
        </p:nvSpPr>
        <p:spPr>
          <a:xfrm xmlns:a="http://schemas.openxmlformats.org/drawingml/2006/main">
            <a:off x="609600" y="3810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443"/>
                </a:solidFill>
                <a:latin typeface="Arial"/>
                <a:ea typeface="Arial"/>
                <a:cs typeface="Arial"/>
              </a:defRPr>
            </a:defPPr>
            <a:lvl1pPr>
              <a:defRPr sz="3225" b="1">
                <a:solidFill>
                  <a:srgbClr val="153443"/>
                </a:solidFill>
                <a:latin typeface="Arial"/>
                <a:ea typeface="Arial"/>
                <a:cs typeface="Arial"/>
              </a:defRPr>
            </a:lvl1pPr>
            <a:lvl2pPr>
              <a:defRPr sz="3225" b="1">
                <a:solidFill>
                  <a:srgbClr val="153443"/>
                </a:solidFill>
                <a:latin typeface="Arial"/>
                <a:ea typeface="Arial"/>
                <a:cs typeface="Arial"/>
              </a:defRPr>
            </a:lvl2pPr>
            <a:lvl3pPr>
              <a:defRPr sz="3225" b="1">
                <a:solidFill>
                  <a:srgbClr val="153443"/>
                </a:solidFill>
                <a:latin typeface="Arial"/>
                <a:ea typeface="Arial"/>
                <a:cs typeface="Arial"/>
              </a:defRPr>
            </a:lvl3pPr>
            <a:lvl4pPr>
              <a:defRPr sz="3225" b="1">
                <a:solidFill>
                  <a:srgbClr val="153443"/>
                </a:solidFill>
                <a:latin typeface="Arial"/>
                <a:ea typeface="Arial"/>
                <a:cs typeface="Arial"/>
              </a:defRPr>
            </a:lvl4pPr>
            <a:lvl5pPr>
              <a:defRPr sz="3225" b="1">
                <a:solidFill>
                  <a:srgbClr val="153443"/>
                </a:solidFill>
                <a:latin typeface="Arial"/>
                <a:ea typeface="Arial"/>
                <a:cs typeface="Arial"/>
              </a:defRPr>
            </a:lvl5pPr>
            <a:lvl6pPr>
              <a:defRPr sz="3225" b="1">
                <a:solidFill>
                  <a:srgbClr val="153443"/>
                </a:solidFill>
                <a:latin typeface="Arial"/>
                <a:ea typeface="Arial"/>
                <a:cs typeface="Arial"/>
              </a:defRPr>
            </a:lvl6pPr>
            <a:lvl7pPr>
              <a:defRPr sz="3225" b="1">
                <a:solidFill>
                  <a:srgbClr val="153443"/>
                </a:solidFill>
                <a:latin typeface="Arial"/>
                <a:ea typeface="Arial"/>
                <a:cs typeface="Arial"/>
              </a:defRPr>
            </a:lvl7pPr>
            <a:lvl8pPr>
              <a:defRPr sz="3225" b="1">
                <a:solidFill>
                  <a:srgbClr val="153443"/>
                </a:solidFill>
                <a:latin typeface="Arial"/>
                <a:ea typeface="Arial"/>
                <a:cs typeface="Arial"/>
              </a:defRPr>
            </a:lvl8pPr>
            <a:lvl9pPr>
              <a:defRPr sz="3225" b="1">
                <a:solidFill>
                  <a:srgbClr val="153443"/>
                </a:solidFill>
                <a:latin typeface="Arial"/>
                <a:ea typeface="Arial"/>
                <a:cs typeface="Arial"/>
              </a:defRPr>
            </a:lvl9pPr>
          </a:lstStyle>
          <a:p xmlns:a="http://schemas.openxmlformats.org/drawingml/2006/main">
            <a:pPr>
              <a:defRPr sz="3225" b="1">
                <a:solidFill>
                  <a:srgbClr val="153443"/>
                </a:solidFill>
                <a:latin typeface="Arial"/>
                <a:ea typeface="Arial"/>
                <a:cs typeface="Arial"/>
              </a:defRPr>
            </a:pPr>
            <a:r>
              <a:rPr sz="3225" b="1">
                <a:solidFill>
                  <a:srgbClr val="153443"/>
                </a:solidFill>
                <a:latin typeface="Arial"/>
                <a:ea typeface="Arial"/>
                <a:cs typeface="Arial"/>
              </a:rPr>
              <a:t>Struktur pandu gelombang planar</a:t>
            </a:r>
          </a:p>
        </p:txBody>
      </p:sp>
      <p:sp>
        <p:nvSpPr>
          <p:cNvPr id="2" name="">
            <a:extLst xmlns:a="http://schemas.openxmlformats.org/drawingml/2006/main">
              <a:ext uri="{FF2B5EF4-FFF2-40B4-BE49-F238E27FC236}">
                <a16:creationId xmlns:a16="http://schemas.microsoft.com/office/drawing/2014/main" id="{95F66ACF-8A0A-425B-9664-174E5FF2C401}"/>
              </a:ext>
            </a:extLst>
          </p:cNvPr>
          <p:cNvSpPr>
            <a:spLocks xmlns:a="http://schemas.openxmlformats.org/drawingml/2006/main" noGrp="1"/>
          </p:cNvSpPr>
          <p:nvPr/>
        </p:nvSpPr>
        <p:spPr>
          <a:xfrm xmlns:a="http://schemas.openxmlformats.org/drawingml/2006/main">
            <a:off x="609600" y="63817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OPTIK MODERN  ·  PENUGASAN 1</a:t>
            </a:r>
          </a:p>
        </p:txBody>
      </p:sp>
      <p:sp>
        <p:nvSpPr>
          <p:cNvPr id="3" name="">
            <a:extLst xmlns:a="http://schemas.openxmlformats.org/drawingml/2006/main">
              <a:ext uri="{FF2B5EF4-FFF2-40B4-BE49-F238E27FC236}">
                <a16:creationId xmlns:a16="http://schemas.microsoft.com/office/drawing/2014/main" id="{34968DD7-E5E4-482A-9729-41C560EE9C23}"/>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7E474A5-4936-4605-BE9A-ACC171ABEBD7}"/>
              </a:ext>
            </a:extLst>
          </p:cNvPr>
          <p:cNvSpPr>
            <a:spLocks xmlns:a="http://schemas.openxmlformats.org/drawingml/2006/main" noGrp="1"/>
          </p:cNvSpPr>
          <p:nvPr/>
        </p:nvSpPr>
        <p:spPr>
          <a:xfrm xmlns:a="http://schemas.openxmlformats.org/drawingml/2006/main">
            <a:off x="609600" y="1809750"/>
            <a:ext cx="6667500" cy="3238500"/>
          </a:xfrm>
          <a:prstGeom xmlns:a="http://schemas.openxmlformats.org/drawingml/2006/main" prst="rect">
            <a:avLst/>
          </a:prstGeom>
          <a:solidFill xmlns:a="http://schemas.openxmlformats.org/drawingml/2006/main">
            <a:srgbClr val="EDF2F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424DB9F-B877-4174-B98E-800BF277F5E1}"/>
              </a:ext>
            </a:extLst>
          </p:cNvPr>
          <p:cNvSpPr>
            <a:spLocks xmlns:a="http://schemas.openxmlformats.org/drawingml/2006/main" noGrp="1"/>
          </p:cNvSpPr>
          <p:nvPr/>
        </p:nvSpPr>
        <p:spPr>
          <a:xfrm xmlns:a="http://schemas.openxmlformats.org/drawingml/2006/main">
            <a:off x="609600" y="2905125"/>
            <a:ext cx="6667500" cy="1000125"/>
          </a:xfrm>
          <a:prstGeom xmlns:a="http://schemas.openxmlformats.org/drawingml/2006/main" prst="rect">
            <a:avLst/>
          </a:prstGeom>
          <a:solidFill xmlns:a="http://schemas.openxmlformats.org/drawingml/2006/main">
            <a:srgbClr val="B9D6D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9D1D332-419C-47A5-9C12-011AE72D3E38}"/>
              </a:ext>
            </a:extLst>
          </p:cNvPr>
          <p:cNvSpPr>
            <a:spLocks xmlns:a="http://schemas.openxmlformats.org/drawingml/2006/main" noGrp="1"/>
          </p:cNvSpPr>
          <p:nvPr/>
        </p:nvSpPr>
        <p:spPr>
          <a:xfrm xmlns:a="http://schemas.openxmlformats.org/drawingml/2006/main">
            <a:off x="914400" y="211455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53443"/>
                </a:solidFill>
                <a:latin typeface="Arial"/>
                <a:ea typeface="Arial"/>
                <a:cs typeface="Arial"/>
              </a:defRPr>
            </a:defPPr>
            <a:lvl1pPr>
              <a:defRPr sz="2250" b="0">
                <a:solidFill>
                  <a:srgbClr val="153443"/>
                </a:solidFill>
                <a:latin typeface="Arial"/>
                <a:ea typeface="Arial"/>
                <a:cs typeface="Arial"/>
              </a:defRPr>
            </a:lvl1pPr>
            <a:lvl2pPr>
              <a:defRPr sz="2250" b="0">
                <a:solidFill>
                  <a:srgbClr val="153443"/>
                </a:solidFill>
                <a:latin typeface="Arial"/>
                <a:ea typeface="Arial"/>
                <a:cs typeface="Arial"/>
              </a:defRPr>
            </a:lvl2pPr>
            <a:lvl3pPr>
              <a:defRPr sz="2250" b="0">
                <a:solidFill>
                  <a:srgbClr val="153443"/>
                </a:solidFill>
                <a:latin typeface="Arial"/>
                <a:ea typeface="Arial"/>
                <a:cs typeface="Arial"/>
              </a:defRPr>
            </a:lvl3pPr>
            <a:lvl4pPr>
              <a:defRPr sz="2250" b="0">
                <a:solidFill>
                  <a:srgbClr val="153443"/>
                </a:solidFill>
                <a:latin typeface="Arial"/>
                <a:ea typeface="Arial"/>
                <a:cs typeface="Arial"/>
              </a:defRPr>
            </a:lvl4pPr>
            <a:lvl5pPr>
              <a:defRPr sz="2250" b="0">
                <a:solidFill>
                  <a:srgbClr val="153443"/>
                </a:solidFill>
                <a:latin typeface="Arial"/>
                <a:ea typeface="Arial"/>
                <a:cs typeface="Arial"/>
              </a:defRPr>
            </a:lvl5pPr>
            <a:lvl6pPr>
              <a:defRPr sz="2250" b="0">
                <a:solidFill>
                  <a:srgbClr val="153443"/>
                </a:solidFill>
                <a:latin typeface="Arial"/>
                <a:ea typeface="Arial"/>
                <a:cs typeface="Arial"/>
              </a:defRPr>
            </a:lvl6pPr>
            <a:lvl7pPr>
              <a:defRPr sz="2250" b="0">
                <a:solidFill>
                  <a:srgbClr val="153443"/>
                </a:solidFill>
                <a:latin typeface="Arial"/>
                <a:ea typeface="Arial"/>
                <a:cs typeface="Arial"/>
              </a:defRPr>
            </a:lvl7pPr>
            <a:lvl8pPr>
              <a:defRPr sz="2250" b="0">
                <a:solidFill>
                  <a:srgbClr val="153443"/>
                </a:solidFill>
                <a:latin typeface="Arial"/>
                <a:ea typeface="Arial"/>
                <a:cs typeface="Arial"/>
              </a:defRPr>
            </a:lvl8pPr>
            <a:lvl9pPr>
              <a:defRPr sz="2250" b="0">
                <a:solidFill>
                  <a:srgbClr val="153443"/>
                </a:solidFill>
                <a:latin typeface="Arial"/>
                <a:ea typeface="Arial"/>
                <a:cs typeface="Arial"/>
              </a:defRPr>
            </a:lvl9pPr>
          </a:lstStyle>
          <a:p xmlns:a="http://schemas.openxmlformats.org/drawingml/2006/main">
            <a:pPr>
              <a:defRPr sz="2250" b="0">
                <a:solidFill>
                  <a:srgbClr val="153443"/>
                </a:solidFill>
                <a:latin typeface="Arial"/>
                <a:ea typeface="Arial"/>
                <a:cs typeface="Arial"/>
              </a:defRPr>
            </a:pPr>
            <a:r>
              <a:rPr sz="2250" b="0">
                <a:solidFill>
                  <a:srgbClr val="153443"/>
                </a:solidFill>
                <a:latin typeface="Arial"/>
                <a:ea typeface="Arial"/>
                <a:cs typeface="Arial"/>
              </a:rPr>
              <a:t>Selubung n₁</a:t>
            </a:r>
          </a:p>
        </p:txBody>
      </p:sp>
      <p:sp>
        <p:nvSpPr>
          <p:cNvPr id="7" name="">
            <a:extLst xmlns:a="http://schemas.openxmlformats.org/drawingml/2006/main">
              <a:ext uri="{FF2B5EF4-FFF2-40B4-BE49-F238E27FC236}">
                <a16:creationId xmlns:a16="http://schemas.microsoft.com/office/drawing/2014/main" id="{390F4B2B-BC79-4803-B3F0-965AB1EA6D94}"/>
              </a:ext>
            </a:extLst>
          </p:cNvPr>
          <p:cNvSpPr>
            <a:spLocks xmlns:a="http://schemas.openxmlformats.org/drawingml/2006/main" noGrp="1"/>
          </p:cNvSpPr>
          <p:nvPr/>
        </p:nvSpPr>
        <p:spPr>
          <a:xfrm xmlns:a="http://schemas.openxmlformats.org/drawingml/2006/main">
            <a:off x="914400" y="32004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53443"/>
                </a:solidFill>
                <a:latin typeface="Arial"/>
                <a:ea typeface="Arial"/>
                <a:cs typeface="Arial"/>
              </a:defRPr>
            </a:defPPr>
            <a:lvl1pPr>
              <a:defRPr sz="2250" b="1">
                <a:solidFill>
                  <a:srgbClr val="153443"/>
                </a:solidFill>
                <a:latin typeface="Arial"/>
                <a:ea typeface="Arial"/>
                <a:cs typeface="Arial"/>
              </a:defRPr>
            </a:lvl1pPr>
            <a:lvl2pPr>
              <a:defRPr sz="2250" b="1">
                <a:solidFill>
                  <a:srgbClr val="153443"/>
                </a:solidFill>
                <a:latin typeface="Arial"/>
                <a:ea typeface="Arial"/>
                <a:cs typeface="Arial"/>
              </a:defRPr>
            </a:lvl2pPr>
            <a:lvl3pPr>
              <a:defRPr sz="2250" b="1">
                <a:solidFill>
                  <a:srgbClr val="153443"/>
                </a:solidFill>
                <a:latin typeface="Arial"/>
                <a:ea typeface="Arial"/>
                <a:cs typeface="Arial"/>
              </a:defRPr>
            </a:lvl3pPr>
            <a:lvl4pPr>
              <a:defRPr sz="2250" b="1">
                <a:solidFill>
                  <a:srgbClr val="153443"/>
                </a:solidFill>
                <a:latin typeface="Arial"/>
                <a:ea typeface="Arial"/>
                <a:cs typeface="Arial"/>
              </a:defRPr>
            </a:lvl4pPr>
            <a:lvl5pPr>
              <a:defRPr sz="2250" b="1">
                <a:solidFill>
                  <a:srgbClr val="153443"/>
                </a:solidFill>
                <a:latin typeface="Arial"/>
                <a:ea typeface="Arial"/>
                <a:cs typeface="Arial"/>
              </a:defRPr>
            </a:lvl5pPr>
            <a:lvl6pPr>
              <a:defRPr sz="2250" b="1">
                <a:solidFill>
                  <a:srgbClr val="153443"/>
                </a:solidFill>
                <a:latin typeface="Arial"/>
                <a:ea typeface="Arial"/>
                <a:cs typeface="Arial"/>
              </a:defRPr>
            </a:lvl6pPr>
            <a:lvl7pPr>
              <a:defRPr sz="2250" b="1">
                <a:solidFill>
                  <a:srgbClr val="153443"/>
                </a:solidFill>
                <a:latin typeface="Arial"/>
                <a:ea typeface="Arial"/>
                <a:cs typeface="Arial"/>
              </a:defRPr>
            </a:lvl7pPr>
            <a:lvl8pPr>
              <a:defRPr sz="2250" b="1">
                <a:solidFill>
                  <a:srgbClr val="153443"/>
                </a:solidFill>
                <a:latin typeface="Arial"/>
                <a:ea typeface="Arial"/>
                <a:cs typeface="Arial"/>
              </a:defRPr>
            </a:lvl8pPr>
            <a:lvl9pPr>
              <a:defRPr sz="2250" b="1">
                <a:solidFill>
                  <a:srgbClr val="153443"/>
                </a:solidFill>
                <a:latin typeface="Arial"/>
                <a:ea typeface="Arial"/>
                <a:cs typeface="Arial"/>
              </a:defRPr>
            </a:lvl9pPr>
          </a:lstStyle>
          <a:p xmlns:a="http://schemas.openxmlformats.org/drawingml/2006/main">
            <a:pPr>
              <a:defRPr sz="2250" b="1">
                <a:solidFill>
                  <a:srgbClr val="153443"/>
                </a:solidFill>
                <a:latin typeface="Arial"/>
                <a:ea typeface="Arial"/>
                <a:cs typeface="Arial"/>
              </a:defRPr>
            </a:pPr>
            <a:r>
              <a:rPr sz="2250" b="1">
                <a:solidFill>
                  <a:srgbClr val="153443"/>
                </a:solidFill>
                <a:latin typeface="Arial"/>
                <a:ea typeface="Arial"/>
                <a:cs typeface="Arial"/>
              </a:rPr>
              <a:t>Teras n₂ &gt; n₁, n₃</a:t>
            </a:r>
          </a:p>
        </p:txBody>
      </p:sp>
      <p:sp>
        <p:nvSpPr>
          <p:cNvPr id="8" name="">
            <a:extLst xmlns:a="http://schemas.openxmlformats.org/drawingml/2006/main">
              <a:ext uri="{FF2B5EF4-FFF2-40B4-BE49-F238E27FC236}">
                <a16:creationId xmlns:a16="http://schemas.microsoft.com/office/drawing/2014/main" id="{1BB42BE7-8540-4265-937E-D631F729187C}"/>
              </a:ext>
            </a:extLst>
          </p:cNvPr>
          <p:cNvSpPr>
            <a:spLocks xmlns:a="http://schemas.openxmlformats.org/drawingml/2006/main" noGrp="1"/>
          </p:cNvSpPr>
          <p:nvPr/>
        </p:nvSpPr>
        <p:spPr>
          <a:xfrm xmlns:a="http://schemas.openxmlformats.org/drawingml/2006/main">
            <a:off x="914400" y="43434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53443"/>
                </a:solidFill>
                <a:latin typeface="Arial"/>
                <a:ea typeface="Arial"/>
                <a:cs typeface="Arial"/>
              </a:defRPr>
            </a:defPPr>
            <a:lvl1pPr>
              <a:defRPr sz="2250" b="0">
                <a:solidFill>
                  <a:srgbClr val="153443"/>
                </a:solidFill>
                <a:latin typeface="Arial"/>
                <a:ea typeface="Arial"/>
                <a:cs typeface="Arial"/>
              </a:defRPr>
            </a:lvl1pPr>
            <a:lvl2pPr>
              <a:defRPr sz="2250" b="0">
                <a:solidFill>
                  <a:srgbClr val="153443"/>
                </a:solidFill>
                <a:latin typeface="Arial"/>
                <a:ea typeface="Arial"/>
                <a:cs typeface="Arial"/>
              </a:defRPr>
            </a:lvl2pPr>
            <a:lvl3pPr>
              <a:defRPr sz="2250" b="0">
                <a:solidFill>
                  <a:srgbClr val="153443"/>
                </a:solidFill>
                <a:latin typeface="Arial"/>
                <a:ea typeface="Arial"/>
                <a:cs typeface="Arial"/>
              </a:defRPr>
            </a:lvl3pPr>
            <a:lvl4pPr>
              <a:defRPr sz="2250" b="0">
                <a:solidFill>
                  <a:srgbClr val="153443"/>
                </a:solidFill>
                <a:latin typeface="Arial"/>
                <a:ea typeface="Arial"/>
                <a:cs typeface="Arial"/>
              </a:defRPr>
            </a:lvl4pPr>
            <a:lvl5pPr>
              <a:defRPr sz="2250" b="0">
                <a:solidFill>
                  <a:srgbClr val="153443"/>
                </a:solidFill>
                <a:latin typeface="Arial"/>
                <a:ea typeface="Arial"/>
                <a:cs typeface="Arial"/>
              </a:defRPr>
            </a:lvl5pPr>
            <a:lvl6pPr>
              <a:defRPr sz="2250" b="0">
                <a:solidFill>
                  <a:srgbClr val="153443"/>
                </a:solidFill>
                <a:latin typeface="Arial"/>
                <a:ea typeface="Arial"/>
                <a:cs typeface="Arial"/>
              </a:defRPr>
            </a:lvl6pPr>
            <a:lvl7pPr>
              <a:defRPr sz="2250" b="0">
                <a:solidFill>
                  <a:srgbClr val="153443"/>
                </a:solidFill>
                <a:latin typeface="Arial"/>
                <a:ea typeface="Arial"/>
                <a:cs typeface="Arial"/>
              </a:defRPr>
            </a:lvl7pPr>
            <a:lvl8pPr>
              <a:defRPr sz="2250" b="0">
                <a:solidFill>
                  <a:srgbClr val="153443"/>
                </a:solidFill>
                <a:latin typeface="Arial"/>
                <a:ea typeface="Arial"/>
                <a:cs typeface="Arial"/>
              </a:defRPr>
            </a:lvl8pPr>
            <a:lvl9pPr>
              <a:defRPr sz="2250" b="0">
                <a:solidFill>
                  <a:srgbClr val="153443"/>
                </a:solidFill>
                <a:latin typeface="Arial"/>
                <a:ea typeface="Arial"/>
                <a:cs typeface="Arial"/>
              </a:defRPr>
            </a:lvl9pPr>
          </a:lstStyle>
          <a:p xmlns:a="http://schemas.openxmlformats.org/drawingml/2006/main">
            <a:pPr>
              <a:defRPr sz="2250" b="0">
                <a:solidFill>
                  <a:srgbClr val="153443"/>
                </a:solidFill>
                <a:latin typeface="Arial"/>
                <a:ea typeface="Arial"/>
                <a:cs typeface="Arial"/>
              </a:defRPr>
            </a:pPr>
            <a:r>
              <a:rPr sz="2250" b="0">
                <a:solidFill>
                  <a:srgbClr val="153443"/>
                </a:solidFill>
                <a:latin typeface="Arial"/>
                <a:ea typeface="Arial"/>
                <a:cs typeface="Arial"/>
              </a:rPr>
              <a:t>Selubung n₃</a:t>
            </a:r>
          </a:p>
        </p:txBody>
      </p:sp>
      <p:sp>
        <p:nvSpPr>
          <p:cNvPr id="9" name="">
            <a:extLst xmlns:a="http://schemas.openxmlformats.org/drawingml/2006/main">
              <a:ext uri="{FF2B5EF4-FFF2-40B4-BE49-F238E27FC236}">
                <a16:creationId xmlns:a16="http://schemas.microsoft.com/office/drawing/2014/main" id="{1937BF04-B1E5-440C-952E-414DB6FBAB34}"/>
              </a:ext>
            </a:extLst>
          </p:cNvPr>
          <p:cNvSpPr>
            <a:spLocks xmlns:a="http://schemas.openxmlformats.org/drawingml/2006/main" noGrp="1"/>
          </p:cNvSpPr>
          <p:nvPr/>
        </p:nvSpPr>
        <p:spPr>
          <a:xfrm xmlns:a="http://schemas.openxmlformats.org/drawingml/2006/main">
            <a:off x="609600" y="14287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2616B"/>
                </a:solidFill>
                <a:latin typeface="Arial"/>
                <a:ea typeface="Arial"/>
                <a:cs typeface="Arial"/>
              </a:defRPr>
            </a:defPPr>
            <a:lvl1pPr>
              <a:defRPr sz="1725" b="0">
                <a:solidFill>
                  <a:srgbClr val="52616B"/>
                </a:solidFill>
                <a:latin typeface="Arial"/>
                <a:ea typeface="Arial"/>
                <a:cs typeface="Arial"/>
              </a:defRPr>
            </a:lvl1pPr>
            <a:lvl2pPr>
              <a:defRPr sz="1725" b="0">
                <a:solidFill>
                  <a:srgbClr val="52616B"/>
                </a:solidFill>
                <a:latin typeface="Arial"/>
                <a:ea typeface="Arial"/>
                <a:cs typeface="Arial"/>
              </a:defRPr>
            </a:lvl2pPr>
            <a:lvl3pPr>
              <a:defRPr sz="1725" b="0">
                <a:solidFill>
                  <a:srgbClr val="52616B"/>
                </a:solidFill>
                <a:latin typeface="Arial"/>
                <a:ea typeface="Arial"/>
                <a:cs typeface="Arial"/>
              </a:defRPr>
            </a:lvl3pPr>
            <a:lvl4pPr>
              <a:defRPr sz="1725" b="0">
                <a:solidFill>
                  <a:srgbClr val="52616B"/>
                </a:solidFill>
                <a:latin typeface="Arial"/>
                <a:ea typeface="Arial"/>
                <a:cs typeface="Arial"/>
              </a:defRPr>
            </a:lvl4pPr>
            <a:lvl5pPr>
              <a:defRPr sz="1725" b="0">
                <a:solidFill>
                  <a:srgbClr val="52616B"/>
                </a:solidFill>
                <a:latin typeface="Arial"/>
                <a:ea typeface="Arial"/>
                <a:cs typeface="Arial"/>
              </a:defRPr>
            </a:lvl5pPr>
            <a:lvl6pPr>
              <a:defRPr sz="1725" b="0">
                <a:solidFill>
                  <a:srgbClr val="52616B"/>
                </a:solidFill>
                <a:latin typeface="Arial"/>
                <a:ea typeface="Arial"/>
                <a:cs typeface="Arial"/>
              </a:defRPr>
            </a:lvl6pPr>
            <a:lvl7pPr>
              <a:defRPr sz="1725" b="0">
                <a:solidFill>
                  <a:srgbClr val="52616B"/>
                </a:solidFill>
                <a:latin typeface="Arial"/>
                <a:ea typeface="Arial"/>
                <a:cs typeface="Arial"/>
              </a:defRPr>
            </a:lvl7pPr>
            <a:lvl8pPr>
              <a:defRPr sz="1725" b="0">
                <a:solidFill>
                  <a:srgbClr val="52616B"/>
                </a:solidFill>
                <a:latin typeface="Arial"/>
                <a:ea typeface="Arial"/>
                <a:cs typeface="Arial"/>
              </a:defRPr>
            </a:lvl8pPr>
            <a:lvl9pPr>
              <a:defRPr sz="1725" b="0">
                <a:solidFill>
                  <a:srgbClr val="52616B"/>
                </a:solidFill>
                <a:latin typeface="Arial"/>
                <a:ea typeface="Arial"/>
                <a:cs typeface="Arial"/>
              </a:defRPr>
            </a:lvl9pPr>
          </a:lstStyle>
          <a:p xmlns:a="http://schemas.openxmlformats.org/drawingml/2006/main">
            <a:pPr>
              <a:defRPr sz="1725" b="0">
                <a:solidFill>
                  <a:srgbClr val="52616B"/>
                </a:solidFill>
                <a:latin typeface="Arial"/>
                <a:ea typeface="Arial"/>
                <a:cs typeface="Arial"/>
              </a:defRPr>
            </a:pPr>
            <a:r>
              <a:rPr sz="1725" b="0">
                <a:solidFill>
                  <a:srgbClr val="52616B"/>
                </a:solidFill>
                <a:latin typeface="Arial"/>
                <a:ea typeface="Arial"/>
                <a:cs typeface="Arial"/>
              </a:rPr>
              <a:t>x melintang</a:t>
            </a:r>
          </a:p>
        </p:txBody>
      </p:sp>
      <p:sp>
        <p:nvSpPr>
          <p:cNvPr id="10" name="">
            <a:extLst xmlns:a="http://schemas.openxmlformats.org/drawingml/2006/main">
              <a:ext uri="{FF2B5EF4-FFF2-40B4-BE49-F238E27FC236}">
                <a16:creationId xmlns:a16="http://schemas.microsoft.com/office/drawing/2014/main" id="{9AD48A40-CF00-4D09-8F95-AA28B2CA01F1}"/>
              </a:ext>
            </a:extLst>
          </p:cNvPr>
          <p:cNvSpPr>
            <a:spLocks xmlns:a="http://schemas.openxmlformats.org/drawingml/2006/main" noGrp="1"/>
          </p:cNvSpPr>
          <p:nvPr/>
        </p:nvSpPr>
        <p:spPr>
          <a:xfrm xmlns:a="http://schemas.openxmlformats.org/drawingml/2006/main">
            <a:off x="4286250" y="53340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6078"/>
                </a:solidFill>
                <a:latin typeface="Arial"/>
                <a:ea typeface="Arial"/>
                <a:cs typeface="Arial"/>
              </a:defRPr>
            </a:defPPr>
            <a:lvl1pPr>
              <a:defRPr sz="1875" b="0">
                <a:solidFill>
                  <a:srgbClr val="146078"/>
                </a:solidFill>
                <a:latin typeface="Arial"/>
                <a:ea typeface="Arial"/>
                <a:cs typeface="Arial"/>
              </a:defRPr>
            </a:lvl1pPr>
            <a:lvl2pPr>
              <a:defRPr sz="1875" b="0">
                <a:solidFill>
                  <a:srgbClr val="146078"/>
                </a:solidFill>
                <a:latin typeface="Arial"/>
                <a:ea typeface="Arial"/>
                <a:cs typeface="Arial"/>
              </a:defRPr>
            </a:lvl2pPr>
            <a:lvl3pPr>
              <a:defRPr sz="1875" b="0">
                <a:solidFill>
                  <a:srgbClr val="146078"/>
                </a:solidFill>
                <a:latin typeface="Arial"/>
                <a:ea typeface="Arial"/>
                <a:cs typeface="Arial"/>
              </a:defRPr>
            </a:lvl3pPr>
            <a:lvl4pPr>
              <a:defRPr sz="1875" b="0">
                <a:solidFill>
                  <a:srgbClr val="146078"/>
                </a:solidFill>
                <a:latin typeface="Arial"/>
                <a:ea typeface="Arial"/>
                <a:cs typeface="Arial"/>
              </a:defRPr>
            </a:lvl4pPr>
            <a:lvl5pPr>
              <a:defRPr sz="1875" b="0">
                <a:solidFill>
                  <a:srgbClr val="146078"/>
                </a:solidFill>
                <a:latin typeface="Arial"/>
                <a:ea typeface="Arial"/>
                <a:cs typeface="Arial"/>
              </a:defRPr>
            </a:lvl5pPr>
            <a:lvl6pPr>
              <a:defRPr sz="1875" b="0">
                <a:solidFill>
                  <a:srgbClr val="146078"/>
                </a:solidFill>
                <a:latin typeface="Arial"/>
                <a:ea typeface="Arial"/>
                <a:cs typeface="Arial"/>
              </a:defRPr>
            </a:lvl6pPr>
            <a:lvl7pPr>
              <a:defRPr sz="1875" b="0">
                <a:solidFill>
                  <a:srgbClr val="146078"/>
                </a:solidFill>
                <a:latin typeface="Arial"/>
                <a:ea typeface="Arial"/>
                <a:cs typeface="Arial"/>
              </a:defRPr>
            </a:lvl7pPr>
            <a:lvl8pPr>
              <a:defRPr sz="1875" b="0">
                <a:solidFill>
                  <a:srgbClr val="146078"/>
                </a:solidFill>
                <a:latin typeface="Arial"/>
                <a:ea typeface="Arial"/>
                <a:cs typeface="Arial"/>
              </a:defRPr>
            </a:lvl8pPr>
            <a:lvl9pPr>
              <a:defRPr sz="1875" b="0">
                <a:solidFill>
                  <a:srgbClr val="146078"/>
                </a:solidFill>
                <a:latin typeface="Arial"/>
                <a:ea typeface="Arial"/>
                <a:cs typeface="Arial"/>
              </a:defRPr>
            </a:lvl9pPr>
          </a:lstStyle>
          <a:p xmlns:a="http://schemas.openxmlformats.org/drawingml/2006/main">
            <a:pPr>
              <a:defRPr sz="1875" b="0">
                <a:solidFill>
                  <a:srgbClr val="146078"/>
                </a:solidFill>
                <a:latin typeface="Arial"/>
                <a:ea typeface="Arial"/>
                <a:cs typeface="Arial"/>
              </a:defRPr>
            </a:pPr>
            <a:r>
              <a:rPr sz="1875" b="0">
                <a:solidFill>
                  <a:srgbClr val="146078"/>
                </a:solidFill>
                <a:latin typeface="Arial"/>
                <a:ea typeface="Arial"/>
                <a:cs typeface="Arial"/>
              </a:rPr>
              <a:t>z arah propagasi</a:t>
            </a:r>
          </a:p>
        </p:txBody>
      </p:sp>
      <p:sp>
        <p:nvSpPr>
          <p:cNvPr id="11" name="">
            <a:extLst xmlns:a="http://schemas.openxmlformats.org/drawingml/2006/main">
              <a:ext uri="{FF2B5EF4-FFF2-40B4-BE49-F238E27FC236}">
                <a16:creationId xmlns:a16="http://schemas.microsoft.com/office/drawing/2014/main" id="{2CEAA084-2100-4B85-829C-F9DE12A6FAD9}"/>
              </a:ext>
            </a:extLst>
          </p:cNvPr>
          <p:cNvSpPr>
            <a:spLocks xmlns:a="http://schemas.openxmlformats.org/drawingml/2006/main" noGrp="1"/>
          </p:cNvSpPr>
          <p:nvPr/>
        </p:nvSpPr>
        <p:spPr>
          <a:xfrm xmlns:a="http://schemas.openxmlformats.org/drawingml/2006/main">
            <a:off x="7905750" y="1905000"/>
            <a:ext cx="35718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443"/>
                </a:solidFill>
                <a:latin typeface="Arial"/>
                <a:ea typeface="Arial"/>
                <a:cs typeface="Arial"/>
              </a:defRPr>
            </a:defPPr>
            <a:lvl1pPr>
              <a:defRPr sz="2025" b="0">
                <a:solidFill>
                  <a:srgbClr val="153443"/>
                </a:solidFill>
                <a:latin typeface="Arial"/>
                <a:ea typeface="Arial"/>
                <a:cs typeface="Arial"/>
              </a:defRPr>
            </a:lvl1pPr>
            <a:lvl2pPr>
              <a:defRPr sz="2025" b="0">
                <a:solidFill>
                  <a:srgbClr val="153443"/>
                </a:solidFill>
                <a:latin typeface="Arial"/>
                <a:ea typeface="Arial"/>
                <a:cs typeface="Arial"/>
              </a:defRPr>
            </a:lvl2pPr>
            <a:lvl3pPr>
              <a:defRPr sz="2025" b="0">
                <a:solidFill>
                  <a:srgbClr val="153443"/>
                </a:solidFill>
                <a:latin typeface="Arial"/>
                <a:ea typeface="Arial"/>
                <a:cs typeface="Arial"/>
              </a:defRPr>
            </a:lvl3pPr>
            <a:lvl4pPr>
              <a:defRPr sz="2025" b="0">
                <a:solidFill>
                  <a:srgbClr val="153443"/>
                </a:solidFill>
                <a:latin typeface="Arial"/>
                <a:ea typeface="Arial"/>
                <a:cs typeface="Arial"/>
              </a:defRPr>
            </a:lvl4pPr>
            <a:lvl5pPr>
              <a:defRPr sz="2025" b="0">
                <a:solidFill>
                  <a:srgbClr val="153443"/>
                </a:solidFill>
                <a:latin typeface="Arial"/>
                <a:ea typeface="Arial"/>
                <a:cs typeface="Arial"/>
              </a:defRPr>
            </a:lvl5pPr>
            <a:lvl6pPr>
              <a:defRPr sz="2025" b="0">
                <a:solidFill>
                  <a:srgbClr val="153443"/>
                </a:solidFill>
                <a:latin typeface="Arial"/>
                <a:ea typeface="Arial"/>
                <a:cs typeface="Arial"/>
              </a:defRPr>
            </a:lvl6pPr>
            <a:lvl7pPr>
              <a:defRPr sz="2025" b="0">
                <a:solidFill>
                  <a:srgbClr val="153443"/>
                </a:solidFill>
                <a:latin typeface="Arial"/>
                <a:ea typeface="Arial"/>
                <a:cs typeface="Arial"/>
              </a:defRPr>
            </a:lvl7pPr>
            <a:lvl8pPr>
              <a:defRPr sz="2025" b="0">
                <a:solidFill>
                  <a:srgbClr val="153443"/>
                </a:solidFill>
                <a:latin typeface="Arial"/>
                <a:ea typeface="Arial"/>
                <a:cs typeface="Arial"/>
              </a:defRPr>
            </a:lvl8pPr>
            <a:lvl9pPr>
              <a:defRPr sz="2025" b="0">
                <a:solidFill>
                  <a:srgbClr val="153443"/>
                </a:solidFill>
                <a:latin typeface="Arial"/>
                <a:ea typeface="Arial"/>
                <a:cs typeface="Arial"/>
              </a:defRPr>
            </a:lvl9pPr>
          </a:lstStyle>
          <a:p xmlns:a="http://schemas.openxmlformats.org/drawingml/2006/main">
            <a:pPr>
              <a:defRPr sz="2025" b="0">
                <a:solidFill>
                  <a:srgbClr val="153443"/>
                </a:solidFill>
                <a:latin typeface="Arial"/>
                <a:ea typeface="Arial"/>
                <a:cs typeface="Arial"/>
              </a:defRPr>
            </a:pPr>
            <a:r>
              <a:rPr sz="2025" b="0">
                <a:solidFill>
                  <a:srgbClr val="153443"/>
                </a:solidFill>
                <a:latin typeface="Arial"/>
                <a:ea typeface="Arial"/>
                <a:cs typeface="Arial"/>
              </a:rPr>
              <a:t>Simetris</a:t>
            </a:r>
          </a:p>
          <a:p xmlns:a="http://schemas.openxmlformats.org/drawingml/2006/main">
            <a:pPr>
              <a:defRPr sz="2025" b="0">
                <a:solidFill>
                  <a:srgbClr val="153443"/>
                </a:solidFill>
                <a:latin typeface="Arial"/>
                <a:ea typeface="Arial"/>
                <a:cs typeface="Arial"/>
              </a:defRPr>
            </a:pPr>
            <a:r>
              <a:rPr sz="2025" b="0">
                <a:solidFill>
                  <a:srgbClr val="153443"/>
                </a:solidFill>
                <a:latin typeface="Arial"/>
                <a:ea typeface="Arial"/>
                <a:cs typeface="Arial"/>
              </a:rPr>
              <a:t>n₁ = n₃</a:t>
            </a:r>
          </a:p>
        </p:txBody>
      </p:sp>
      <p:sp>
        <p:nvSpPr>
          <p:cNvPr id="12" name="">
            <a:extLst xmlns:a="http://schemas.openxmlformats.org/drawingml/2006/main">
              <a:ext uri="{FF2B5EF4-FFF2-40B4-BE49-F238E27FC236}">
                <a16:creationId xmlns:a16="http://schemas.microsoft.com/office/drawing/2014/main" id="{AF6E7949-A2FA-4147-B00F-35A910B68D2B}"/>
              </a:ext>
            </a:extLst>
          </p:cNvPr>
          <p:cNvSpPr>
            <a:spLocks xmlns:a="http://schemas.openxmlformats.org/drawingml/2006/main" noGrp="1"/>
          </p:cNvSpPr>
          <p:nvPr/>
        </p:nvSpPr>
        <p:spPr>
          <a:xfrm xmlns:a="http://schemas.openxmlformats.org/drawingml/2006/main">
            <a:off x="7905750" y="3190875"/>
            <a:ext cx="35718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443"/>
                </a:solidFill>
                <a:latin typeface="Arial"/>
                <a:ea typeface="Arial"/>
                <a:cs typeface="Arial"/>
              </a:defRPr>
            </a:defPPr>
            <a:lvl1pPr>
              <a:defRPr sz="2025" b="0">
                <a:solidFill>
                  <a:srgbClr val="153443"/>
                </a:solidFill>
                <a:latin typeface="Arial"/>
                <a:ea typeface="Arial"/>
                <a:cs typeface="Arial"/>
              </a:defRPr>
            </a:lvl1pPr>
            <a:lvl2pPr>
              <a:defRPr sz="2025" b="0">
                <a:solidFill>
                  <a:srgbClr val="153443"/>
                </a:solidFill>
                <a:latin typeface="Arial"/>
                <a:ea typeface="Arial"/>
                <a:cs typeface="Arial"/>
              </a:defRPr>
            </a:lvl2pPr>
            <a:lvl3pPr>
              <a:defRPr sz="2025" b="0">
                <a:solidFill>
                  <a:srgbClr val="153443"/>
                </a:solidFill>
                <a:latin typeface="Arial"/>
                <a:ea typeface="Arial"/>
                <a:cs typeface="Arial"/>
              </a:defRPr>
            </a:lvl3pPr>
            <a:lvl4pPr>
              <a:defRPr sz="2025" b="0">
                <a:solidFill>
                  <a:srgbClr val="153443"/>
                </a:solidFill>
                <a:latin typeface="Arial"/>
                <a:ea typeface="Arial"/>
                <a:cs typeface="Arial"/>
              </a:defRPr>
            </a:lvl4pPr>
            <a:lvl5pPr>
              <a:defRPr sz="2025" b="0">
                <a:solidFill>
                  <a:srgbClr val="153443"/>
                </a:solidFill>
                <a:latin typeface="Arial"/>
                <a:ea typeface="Arial"/>
                <a:cs typeface="Arial"/>
              </a:defRPr>
            </a:lvl5pPr>
            <a:lvl6pPr>
              <a:defRPr sz="2025" b="0">
                <a:solidFill>
                  <a:srgbClr val="153443"/>
                </a:solidFill>
                <a:latin typeface="Arial"/>
                <a:ea typeface="Arial"/>
                <a:cs typeface="Arial"/>
              </a:defRPr>
            </a:lvl6pPr>
            <a:lvl7pPr>
              <a:defRPr sz="2025" b="0">
                <a:solidFill>
                  <a:srgbClr val="153443"/>
                </a:solidFill>
                <a:latin typeface="Arial"/>
                <a:ea typeface="Arial"/>
                <a:cs typeface="Arial"/>
              </a:defRPr>
            </a:lvl7pPr>
            <a:lvl8pPr>
              <a:defRPr sz="2025" b="0">
                <a:solidFill>
                  <a:srgbClr val="153443"/>
                </a:solidFill>
                <a:latin typeface="Arial"/>
                <a:ea typeface="Arial"/>
                <a:cs typeface="Arial"/>
              </a:defRPr>
            </a:lvl8pPr>
            <a:lvl9pPr>
              <a:defRPr sz="2025" b="0">
                <a:solidFill>
                  <a:srgbClr val="153443"/>
                </a:solidFill>
                <a:latin typeface="Arial"/>
                <a:ea typeface="Arial"/>
                <a:cs typeface="Arial"/>
              </a:defRPr>
            </a:lvl9pPr>
          </a:lstStyle>
          <a:p xmlns:a="http://schemas.openxmlformats.org/drawingml/2006/main">
            <a:pPr>
              <a:defRPr sz="2025" b="0">
                <a:solidFill>
                  <a:srgbClr val="153443"/>
                </a:solidFill>
                <a:latin typeface="Arial"/>
                <a:ea typeface="Arial"/>
                <a:cs typeface="Arial"/>
              </a:defRPr>
            </a:pPr>
            <a:r>
              <a:rPr sz="2025" b="0">
                <a:solidFill>
                  <a:srgbClr val="153443"/>
                </a:solidFill>
                <a:latin typeface="Arial"/>
                <a:ea typeface="Arial"/>
                <a:cs typeface="Arial"/>
              </a:rPr>
              <a:t>Asimetris</a:t>
            </a:r>
          </a:p>
          <a:p xmlns:a="http://schemas.openxmlformats.org/drawingml/2006/main">
            <a:pPr>
              <a:defRPr sz="2025" b="0">
                <a:solidFill>
                  <a:srgbClr val="153443"/>
                </a:solidFill>
                <a:latin typeface="Arial"/>
                <a:ea typeface="Arial"/>
                <a:cs typeface="Arial"/>
              </a:defRPr>
            </a:pPr>
            <a:r>
              <a:rPr sz="2025" b="0">
                <a:solidFill>
                  <a:srgbClr val="153443"/>
                </a:solidFill>
                <a:latin typeface="Arial"/>
                <a:ea typeface="Arial"/>
                <a:cs typeface="Arial"/>
              </a:rPr>
              <a:t>n₁ ≠ n₃</a:t>
            </a:r>
          </a:p>
        </p:txBody>
      </p:sp>
      <p:sp>
        <p:nvSpPr>
          <p:cNvPr id="13" name="">
            <a:extLst xmlns:a="http://schemas.openxmlformats.org/drawingml/2006/main">
              <a:ext uri="{FF2B5EF4-FFF2-40B4-BE49-F238E27FC236}">
                <a16:creationId xmlns:a16="http://schemas.microsoft.com/office/drawing/2014/main" id="{C4D7B807-977A-4680-B4D5-DEE57D8A2BF4}"/>
              </a:ext>
            </a:extLst>
          </p:cNvPr>
          <p:cNvSpPr>
            <a:spLocks xmlns:a="http://schemas.openxmlformats.org/drawingml/2006/main" noGrp="1"/>
          </p:cNvSpPr>
          <p:nvPr/>
        </p:nvSpPr>
        <p:spPr>
          <a:xfrm xmlns:a="http://schemas.openxmlformats.org/drawingml/2006/main">
            <a:off x="7905750" y="4476750"/>
            <a:ext cx="35718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443"/>
                </a:solidFill>
                <a:latin typeface="Arial"/>
                <a:ea typeface="Arial"/>
                <a:cs typeface="Arial"/>
              </a:defRPr>
            </a:defPPr>
            <a:lvl1pPr>
              <a:defRPr sz="2025" b="0">
                <a:solidFill>
                  <a:srgbClr val="153443"/>
                </a:solidFill>
                <a:latin typeface="Arial"/>
                <a:ea typeface="Arial"/>
                <a:cs typeface="Arial"/>
              </a:defRPr>
            </a:lvl1pPr>
            <a:lvl2pPr>
              <a:defRPr sz="2025" b="0">
                <a:solidFill>
                  <a:srgbClr val="153443"/>
                </a:solidFill>
                <a:latin typeface="Arial"/>
                <a:ea typeface="Arial"/>
                <a:cs typeface="Arial"/>
              </a:defRPr>
            </a:lvl2pPr>
            <a:lvl3pPr>
              <a:defRPr sz="2025" b="0">
                <a:solidFill>
                  <a:srgbClr val="153443"/>
                </a:solidFill>
                <a:latin typeface="Arial"/>
                <a:ea typeface="Arial"/>
                <a:cs typeface="Arial"/>
              </a:defRPr>
            </a:lvl3pPr>
            <a:lvl4pPr>
              <a:defRPr sz="2025" b="0">
                <a:solidFill>
                  <a:srgbClr val="153443"/>
                </a:solidFill>
                <a:latin typeface="Arial"/>
                <a:ea typeface="Arial"/>
                <a:cs typeface="Arial"/>
              </a:defRPr>
            </a:lvl4pPr>
            <a:lvl5pPr>
              <a:defRPr sz="2025" b="0">
                <a:solidFill>
                  <a:srgbClr val="153443"/>
                </a:solidFill>
                <a:latin typeface="Arial"/>
                <a:ea typeface="Arial"/>
                <a:cs typeface="Arial"/>
              </a:defRPr>
            </a:lvl5pPr>
            <a:lvl6pPr>
              <a:defRPr sz="2025" b="0">
                <a:solidFill>
                  <a:srgbClr val="153443"/>
                </a:solidFill>
                <a:latin typeface="Arial"/>
                <a:ea typeface="Arial"/>
                <a:cs typeface="Arial"/>
              </a:defRPr>
            </a:lvl6pPr>
            <a:lvl7pPr>
              <a:defRPr sz="2025" b="0">
                <a:solidFill>
                  <a:srgbClr val="153443"/>
                </a:solidFill>
                <a:latin typeface="Arial"/>
                <a:ea typeface="Arial"/>
                <a:cs typeface="Arial"/>
              </a:defRPr>
            </a:lvl7pPr>
            <a:lvl8pPr>
              <a:defRPr sz="2025" b="0">
                <a:solidFill>
                  <a:srgbClr val="153443"/>
                </a:solidFill>
                <a:latin typeface="Arial"/>
                <a:ea typeface="Arial"/>
                <a:cs typeface="Arial"/>
              </a:defRPr>
            </a:lvl8pPr>
            <a:lvl9pPr>
              <a:defRPr sz="2025" b="0">
                <a:solidFill>
                  <a:srgbClr val="153443"/>
                </a:solidFill>
                <a:latin typeface="Arial"/>
                <a:ea typeface="Arial"/>
                <a:cs typeface="Arial"/>
              </a:defRPr>
            </a:lvl9pPr>
          </a:lstStyle>
          <a:p xmlns:a="http://schemas.openxmlformats.org/drawingml/2006/main">
            <a:pPr>
              <a:defRPr sz="2025" b="0">
                <a:solidFill>
                  <a:srgbClr val="153443"/>
                </a:solidFill>
                <a:latin typeface="Arial"/>
                <a:ea typeface="Arial"/>
                <a:cs typeface="Arial"/>
              </a:defRPr>
            </a:pPr>
            <a:r>
              <a:rPr sz="2025" b="0">
                <a:solidFill>
                  <a:srgbClr val="153443"/>
                </a:solidFill>
                <a:latin typeface="Arial"/>
                <a:ea typeface="Arial"/>
                <a:cs typeface="Arial"/>
              </a:rPr>
              <a:t>d = ketebalan penuh teras</a:t>
            </a:r>
          </a:p>
        </p:txBody>
      </p:sp>
    </p:spTree>
    <p:extLst>
      <p:ext uri="{BB962C8B-B14F-4D97-AF65-F5344CB8AC3E}">
        <p14:creationId xmlns:p14="http://schemas.microsoft.com/office/powerpoint/2010/main" val="8615434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D572C4-BB1B-4154-BD71-44384DD5F4D9}"/>
              </a:ext>
            </a:extLst>
          </p:cNvPr>
          <p:cNvSpPr>
            <a:spLocks xmlns:a="http://schemas.openxmlformats.org/drawingml/2006/main" noGrp="1"/>
          </p:cNvSpPr>
          <p:nvPr/>
        </p:nvSpPr>
        <p:spPr>
          <a:xfrm xmlns:a="http://schemas.openxmlformats.org/drawingml/2006/main">
            <a:off x="609600" y="3810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443"/>
                </a:solidFill>
                <a:latin typeface="Arial"/>
                <a:ea typeface="Arial"/>
                <a:cs typeface="Arial"/>
              </a:defRPr>
            </a:defPPr>
            <a:lvl1pPr>
              <a:defRPr sz="3225" b="1">
                <a:solidFill>
                  <a:srgbClr val="153443"/>
                </a:solidFill>
                <a:latin typeface="Arial"/>
                <a:ea typeface="Arial"/>
                <a:cs typeface="Arial"/>
              </a:defRPr>
            </a:lvl1pPr>
            <a:lvl2pPr>
              <a:defRPr sz="3225" b="1">
                <a:solidFill>
                  <a:srgbClr val="153443"/>
                </a:solidFill>
                <a:latin typeface="Arial"/>
                <a:ea typeface="Arial"/>
                <a:cs typeface="Arial"/>
              </a:defRPr>
            </a:lvl2pPr>
            <a:lvl3pPr>
              <a:defRPr sz="3225" b="1">
                <a:solidFill>
                  <a:srgbClr val="153443"/>
                </a:solidFill>
                <a:latin typeface="Arial"/>
                <a:ea typeface="Arial"/>
                <a:cs typeface="Arial"/>
              </a:defRPr>
            </a:lvl3pPr>
            <a:lvl4pPr>
              <a:defRPr sz="3225" b="1">
                <a:solidFill>
                  <a:srgbClr val="153443"/>
                </a:solidFill>
                <a:latin typeface="Arial"/>
                <a:ea typeface="Arial"/>
                <a:cs typeface="Arial"/>
              </a:defRPr>
            </a:lvl4pPr>
            <a:lvl5pPr>
              <a:defRPr sz="3225" b="1">
                <a:solidFill>
                  <a:srgbClr val="153443"/>
                </a:solidFill>
                <a:latin typeface="Arial"/>
                <a:ea typeface="Arial"/>
                <a:cs typeface="Arial"/>
              </a:defRPr>
            </a:lvl5pPr>
            <a:lvl6pPr>
              <a:defRPr sz="3225" b="1">
                <a:solidFill>
                  <a:srgbClr val="153443"/>
                </a:solidFill>
                <a:latin typeface="Arial"/>
                <a:ea typeface="Arial"/>
                <a:cs typeface="Arial"/>
              </a:defRPr>
            </a:lvl6pPr>
            <a:lvl7pPr>
              <a:defRPr sz="3225" b="1">
                <a:solidFill>
                  <a:srgbClr val="153443"/>
                </a:solidFill>
                <a:latin typeface="Arial"/>
                <a:ea typeface="Arial"/>
                <a:cs typeface="Arial"/>
              </a:defRPr>
            </a:lvl7pPr>
            <a:lvl8pPr>
              <a:defRPr sz="3225" b="1">
                <a:solidFill>
                  <a:srgbClr val="153443"/>
                </a:solidFill>
                <a:latin typeface="Arial"/>
                <a:ea typeface="Arial"/>
                <a:cs typeface="Arial"/>
              </a:defRPr>
            </a:lvl8pPr>
            <a:lvl9pPr>
              <a:defRPr sz="3225" b="1">
                <a:solidFill>
                  <a:srgbClr val="153443"/>
                </a:solidFill>
                <a:latin typeface="Arial"/>
                <a:ea typeface="Arial"/>
                <a:cs typeface="Arial"/>
              </a:defRPr>
            </a:lvl9pPr>
          </a:lstStyle>
          <a:p xmlns:a="http://schemas.openxmlformats.org/drawingml/2006/main">
            <a:pPr>
              <a:defRPr sz="3225" b="1">
                <a:solidFill>
                  <a:srgbClr val="153443"/>
                </a:solidFill>
                <a:latin typeface="Arial"/>
                <a:ea typeface="Arial"/>
                <a:cs typeface="Arial"/>
              </a:defRPr>
            </a:pPr>
            <a:r>
              <a:rPr sz="3225" b="1">
                <a:solidFill>
                  <a:srgbClr val="153443"/>
                </a:solidFill>
                <a:latin typeface="Arial"/>
                <a:ea typeface="Arial"/>
                <a:cs typeface="Arial"/>
              </a:rPr>
              <a:t>Syarat modus terpandu</a:t>
            </a:r>
          </a:p>
        </p:txBody>
      </p:sp>
      <p:sp>
        <p:nvSpPr>
          <p:cNvPr id="2" name="">
            <a:extLst xmlns:a="http://schemas.openxmlformats.org/drawingml/2006/main">
              <a:ext uri="{FF2B5EF4-FFF2-40B4-BE49-F238E27FC236}">
                <a16:creationId xmlns:a16="http://schemas.microsoft.com/office/drawing/2014/main" id="{491066A8-AEAE-4608-9CF1-983D5C1DB732}"/>
              </a:ext>
            </a:extLst>
          </p:cNvPr>
          <p:cNvSpPr>
            <a:spLocks xmlns:a="http://schemas.openxmlformats.org/drawingml/2006/main" noGrp="1"/>
          </p:cNvSpPr>
          <p:nvPr/>
        </p:nvSpPr>
        <p:spPr>
          <a:xfrm xmlns:a="http://schemas.openxmlformats.org/drawingml/2006/main">
            <a:off x="609600" y="63817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OPTIK MODERN  ·  PENUGASAN 1</a:t>
            </a:r>
          </a:p>
        </p:txBody>
      </p:sp>
      <p:sp>
        <p:nvSpPr>
          <p:cNvPr id="3" name="">
            <a:extLst xmlns:a="http://schemas.openxmlformats.org/drawingml/2006/main">
              <a:ext uri="{FF2B5EF4-FFF2-40B4-BE49-F238E27FC236}">
                <a16:creationId xmlns:a16="http://schemas.microsoft.com/office/drawing/2014/main" id="{1D0DEA94-848E-4E41-915E-2DE2E817DA29}"/>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1A214745-4831-4CA4-B34D-14E7E3FEFDF4}"/>
              </a:ext>
            </a:extLst>
          </p:cNvPr>
          <p:cNvSpPr>
            <a:spLocks xmlns:a="http://schemas.openxmlformats.org/drawingml/2006/main" noGrp="1"/>
          </p:cNvSpPr>
          <p:nvPr/>
        </p:nvSpPr>
        <p:spPr>
          <a:xfrm xmlns:a="http://schemas.openxmlformats.org/drawingml/2006/main">
            <a:off x="609600" y="1571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46078"/>
                </a:solidFill>
                <a:latin typeface="Arial"/>
                <a:ea typeface="Arial"/>
                <a:cs typeface="Arial"/>
              </a:defRPr>
            </a:defPPr>
            <a:lvl1pPr>
              <a:defRPr sz="2850" b="1">
                <a:solidFill>
                  <a:srgbClr val="146078"/>
                </a:solidFill>
                <a:latin typeface="Arial"/>
                <a:ea typeface="Arial"/>
                <a:cs typeface="Arial"/>
              </a:defRPr>
            </a:lvl1pPr>
            <a:lvl2pPr>
              <a:defRPr sz="2850" b="1">
                <a:solidFill>
                  <a:srgbClr val="146078"/>
                </a:solidFill>
                <a:latin typeface="Arial"/>
                <a:ea typeface="Arial"/>
                <a:cs typeface="Arial"/>
              </a:defRPr>
            </a:lvl2pPr>
            <a:lvl3pPr>
              <a:defRPr sz="2850" b="1">
                <a:solidFill>
                  <a:srgbClr val="146078"/>
                </a:solidFill>
                <a:latin typeface="Arial"/>
                <a:ea typeface="Arial"/>
                <a:cs typeface="Arial"/>
              </a:defRPr>
            </a:lvl3pPr>
            <a:lvl4pPr>
              <a:defRPr sz="2850" b="1">
                <a:solidFill>
                  <a:srgbClr val="146078"/>
                </a:solidFill>
                <a:latin typeface="Arial"/>
                <a:ea typeface="Arial"/>
                <a:cs typeface="Arial"/>
              </a:defRPr>
            </a:lvl4pPr>
            <a:lvl5pPr>
              <a:defRPr sz="2850" b="1">
                <a:solidFill>
                  <a:srgbClr val="146078"/>
                </a:solidFill>
                <a:latin typeface="Arial"/>
                <a:ea typeface="Arial"/>
                <a:cs typeface="Arial"/>
              </a:defRPr>
            </a:lvl5pPr>
            <a:lvl6pPr>
              <a:defRPr sz="2850" b="1">
                <a:solidFill>
                  <a:srgbClr val="146078"/>
                </a:solidFill>
                <a:latin typeface="Arial"/>
                <a:ea typeface="Arial"/>
                <a:cs typeface="Arial"/>
              </a:defRPr>
            </a:lvl6pPr>
            <a:lvl7pPr>
              <a:defRPr sz="2850" b="1">
                <a:solidFill>
                  <a:srgbClr val="146078"/>
                </a:solidFill>
                <a:latin typeface="Arial"/>
                <a:ea typeface="Arial"/>
                <a:cs typeface="Arial"/>
              </a:defRPr>
            </a:lvl7pPr>
            <a:lvl8pPr>
              <a:defRPr sz="2850" b="1">
                <a:solidFill>
                  <a:srgbClr val="146078"/>
                </a:solidFill>
                <a:latin typeface="Arial"/>
                <a:ea typeface="Arial"/>
                <a:cs typeface="Arial"/>
              </a:defRPr>
            </a:lvl8pPr>
            <a:lvl9pPr>
              <a:defRPr sz="2850" b="1">
                <a:solidFill>
                  <a:srgbClr val="146078"/>
                </a:solidFill>
                <a:latin typeface="Arial"/>
                <a:ea typeface="Arial"/>
                <a:cs typeface="Arial"/>
              </a:defRPr>
            </a:lvl9pPr>
          </a:lstStyle>
          <a:p xmlns:a="http://schemas.openxmlformats.org/drawingml/2006/main">
            <a:pPr>
              <a:defRPr sz="2850" b="1">
                <a:solidFill>
                  <a:srgbClr val="146078"/>
                </a:solidFill>
                <a:latin typeface="Arial"/>
                <a:ea typeface="Arial"/>
                <a:cs typeface="Arial"/>
              </a:defRPr>
            </a:pPr>
            <a:r>
              <a:rPr sz="2850" b="1">
                <a:solidFill>
                  <a:srgbClr val="146078"/>
                </a:solidFill>
                <a:latin typeface="Arial"/>
                <a:ea typeface="Arial"/>
                <a:cs typeface="Arial"/>
              </a:rPr>
              <a:t>n efektif = β/k₀</a:t>
            </a:r>
          </a:p>
        </p:txBody>
      </p:sp>
      <p:sp>
        <p:nvSpPr>
          <p:cNvPr id="5" name="">
            <a:extLst xmlns:a="http://schemas.openxmlformats.org/drawingml/2006/main">
              <a:ext uri="{FF2B5EF4-FFF2-40B4-BE49-F238E27FC236}">
                <a16:creationId xmlns:a16="http://schemas.microsoft.com/office/drawing/2014/main" id="{F0FE0CC0-2352-4EFB-B85C-97CE23BA4CFB}"/>
              </a:ext>
            </a:extLst>
          </p:cNvPr>
          <p:cNvSpPr>
            <a:spLocks xmlns:a="http://schemas.openxmlformats.org/drawingml/2006/main" noGrp="1"/>
          </p:cNvSpPr>
          <p:nvPr/>
        </p:nvSpPr>
        <p:spPr>
          <a:xfrm xmlns:a="http://schemas.openxmlformats.org/drawingml/2006/main">
            <a:off x="609600" y="2428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0">
                <a:solidFill>
                  <a:srgbClr val="153443"/>
                </a:solidFill>
                <a:latin typeface="Arial"/>
                <a:ea typeface="Arial"/>
                <a:cs typeface="Arial"/>
              </a:defRPr>
            </a:defPPr>
            <a:lvl1pPr>
              <a:defRPr sz="2850" b="0">
                <a:solidFill>
                  <a:srgbClr val="153443"/>
                </a:solidFill>
                <a:latin typeface="Arial"/>
                <a:ea typeface="Arial"/>
                <a:cs typeface="Arial"/>
              </a:defRPr>
            </a:lvl1pPr>
            <a:lvl2pPr>
              <a:defRPr sz="2850" b="0">
                <a:solidFill>
                  <a:srgbClr val="153443"/>
                </a:solidFill>
                <a:latin typeface="Arial"/>
                <a:ea typeface="Arial"/>
                <a:cs typeface="Arial"/>
              </a:defRPr>
            </a:lvl2pPr>
            <a:lvl3pPr>
              <a:defRPr sz="2850" b="0">
                <a:solidFill>
                  <a:srgbClr val="153443"/>
                </a:solidFill>
                <a:latin typeface="Arial"/>
                <a:ea typeface="Arial"/>
                <a:cs typeface="Arial"/>
              </a:defRPr>
            </a:lvl3pPr>
            <a:lvl4pPr>
              <a:defRPr sz="2850" b="0">
                <a:solidFill>
                  <a:srgbClr val="153443"/>
                </a:solidFill>
                <a:latin typeface="Arial"/>
                <a:ea typeface="Arial"/>
                <a:cs typeface="Arial"/>
              </a:defRPr>
            </a:lvl4pPr>
            <a:lvl5pPr>
              <a:defRPr sz="2850" b="0">
                <a:solidFill>
                  <a:srgbClr val="153443"/>
                </a:solidFill>
                <a:latin typeface="Arial"/>
                <a:ea typeface="Arial"/>
                <a:cs typeface="Arial"/>
              </a:defRPr>
            </a:lvl5pPr>
            <a:lvl6pPr>
              <a:defRPr sz="2850" b="0">
                <a:solidFill>
                  <a:srgbClr val="153443"/>
                </a:solidFill>
                <a:latin typeface="Arial"/>
                <a:ea typeface="Arial"/>
                <a:cs typeface="Arial"/>
              </a:defRPr>
            </a:lvl6pPr>
            <a:lvl7pPr>
              <a:defRPr sz="2850" b="0">
                <a:solidFill>
                  <a:srgbClr val="153443"/>
                </a:solidFill>
                <a:latin typeface="Arial"/>
                <a:ea typeface="Arial"/>
                <a:cs typeface="Arial"/>
              </a:defRPr>
            </a:lvl7pPr>
            <a:lvl8pPr>
              <a:defRPr sz="2850" b="0">
                <a:solidFill>
                  <a:srgbClr val="153443"/>
                </a:solidFill>
                <a:latin typeface="Arial"/>
                <a:ea typeface="Arial"/>
                <a:cs typeface="Arial"/>
              </a:defRPr>
            </a:lvl8pPr>
            <a:lvl9pPr>
              <a:defRPr sz="2850" b="0">
                <a:solidFill>
                  <a:srgbClr val="153443"/>
                </a:solidFill>
                <a:latin typeface="Arial"/>
                <a:ea typeface="Arial"/>
                <a:cs typeface="Arial"/>
              </a:defRPr>
            </a:lvl9pPr>
          </a:lstStyle>
          <a:p xmlns:a="http://schemas.openxmlformats.org/drawingml/2006/main">
            <a:pPr>
              <a:defRPr sz="2850" b="0">
                <a:solidFill>
                  <a:srgbClr val="153443"/>
                </a:solidFill>
                <a:latin typeface="Arial"/>
                <a:ea typeface="Arial"/>
                <a:cs typeface="Arial"/>
              </a:defRPr>
            </a:pPr>
            <a:r>
              <a:rPr sz="2850" b="0">
                <a:solidFill>
                  <a:srgbClr val="153443"/>
                </a:solidFill>
                <a:latin typeface="Arial"/>
                <a:ea typeface="Arial"/>
                <a:cs typeface="Arial"/>
              </a:rPr>
              <a:t>max(n₁, n₃) &lt; n efektif &lt; n₂</a:t>
            </a:r>
          </a:p>
        </p:txBody>
      </p:sp>
      <p:sp>
        <p:nvSpPr>
          <p:cNvPr id="6" name="">
            <a:extLst xmlns:a="http://schemas.openxmlformats.org/drawingml/2006/main">
              <a:ext uri="{FF2B5EF4-FFF2-40B4-BE49-F238E27FC236}">
                <a16:creationId xmlns:a16="http://schemas.microsoft.com/office/drawing/2014/main" id="{587B0FF9-996F-43C7-9B43-64CE90906ACD}"/>
              </a:ext>
            </a:extLst>
          </p:cNvPr>
          <p:cNvSpPr>
            <a:spLocks xmlns:a="http://schemas.openxmlformats.org/drawingml/2006/main" noGrp="1"/>
          </p:cNvSpPr>
          <p:nvPr/>
        </p:nvSpPr>
        <p:spPr>
          <a:xfrm xmlns:a="http://schemas.openxmlformats.org/drawingml/2006/main">
            <a:off x="609600" y="34766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443"/>
                </a:solidFill>
                <a:latin typeface="Arial"/>
                <a:ea typeface="Arial"/>
                <a:cs typeface="Arial"/>
              </a:defRPr>
            </a:defPPr>
            <a:lvl1pPr>
              <a:defRPr sz="2100" b="0">
                <a:solidFill>
                  <a:srgbClr val="153443"/>
                </a:solidFill>
                <a:latin typeface="Arial"/>
                <a:ea typeface="Arial"/>
                <a:cs typeface="Arial"/>
              </a:defRPr>
            </a:lvl1pPr>
            <a:lvl2pPr>
              <a:defRPr sz="2100" b="0">
                <a:solidFill>
                  <a:srgbClr val="153443"/>
                </a:solidFill>
                <a:latin typeface="Arial"/>
                <a:ea typeface="Arial"/>
                <a:cs typeface="Arial"/>
              </a:defRPr>
            </a:lvl2pPr>
            <a:lvl3pPr>
              <a:defRPr sz="2100" b="0">
                <a:solidFill>
                  <a:srgbClr val="153443"/>
                </a:solidFill>
                <a:latin typeface="Arial"/>
                <a:ea typeface="Arial"/>
                <a:cs typeface="Arial"/>
              </a:defRPr>
            </a:lvl3pPr>
            <a:lvl4pPr>
              <a:defRPr sz="2100" b="0">
                <a:solidFill>
                  <a:srgbClr val="153443"/>
                </a:solidFill>
                <a:latin typeface="Arial"/>
                <a:ea typeface="Arial"/>
                <a:cs typeface="Arial"/>
              </a:defRPr>
            </a:lvl4pPr>
            <a:lvl5pPr>
              <a:defRPr sz="2100" b="0">
                <a:solidFill>
                  <a:srgbClr val="153443"/>
                </a:solidFill>
                <a:latin typeface="Arial"/>
                <a:ea typeface="Arial"/>
                <a:cs typeface="Arial"/>
              </a:defRPr>
            </a:lvl5pPr>
            <a:lvl6pPr>
              <a:defRPr sz="2100" b="0">
                <a:solidFill>
                  <a:srgbClr val="153443"/>
                </a:solidFill>
                <a:latin typeface="Arial"/>
                <a:ea typeface="Arial"/>
                <a:cs typeface="Arial"/>
              </a:defRPr>
            </a:lvl6pPr>
            <a:lvl7pPr>
              <a:defRPr sz="2100" b="0">
                <a:solidFill>
                  <a:srgbClr val="153443"/>
                </a:solidFill>
                <a:latin typeface="Arial"/>
                <a:ea typeface="Arial"/>
                <a:cs typeface="Arial"/>
              </a:defRPr>
            </a:lvl7pPr>
            <a:lvl8pPr>
              <a:defRPr sz="2100" b="0">
                <a:solidFill>
                  <a:srgbClr val="153443"/>
                </a:solidFill>
                <a:latin typeface="Arial"/>
                <a:ea typeface="Arial"/>
                <a:cs typeface="Arial"/>
              </a:defRPr>
            </a:lvl8pPr>
            <a:lvl9pPr>
              <a:defRPr sz="2100" b="0">
                <a:solidFill>
                  <a:srgbClr val="153443"/>
                </a:solidFill>
                <a:latin typeface="Arial"/>
                <a:ea typeface="Arial"/>
                <a:cs typeface="Arial"/>
              </a:defRPr>
            </a:lvl9pPr>
          </a:lstStyle>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Di teras, profil medan berosilasi.</a:t>
            </a:r>
          </a:p>
        </p:txBody>
      </p:sp>
      <p:sp>
        <p:nvSpPr>
          <p:cNvPr id="7" name="">
            <a:extLst xmlns:a="http://schemas.openxmlformats.org/drawingml/2006/main">
              <a:ext uri="{FF2B5EF4-FFF2-40B4-BE49-F238E27FC236}">
                <a16:creationId xmlns:a16="http://schemas.microsoft.com/office/drawing/2014/main" id="{E91ACEA7-01A0-4402-A1D5-28006016783D}"/>
              </a:ext>
            </a:extLst>
          </p:cNvPr>
          <p:cNvSpPr>
            <a:spLocks xmlns:a="http://schemas.openxmlformats.org/drawingml/2006/main" noGrp="1"/>
          </p:cNvSpPr>
          <p:nvPr/>
        </p:nvSpPr>
        <p:spPr>
          <a:xfrm xmlns:a="http://schemas.openxmlformats.org/drawingml/2006/main">
            <a:off x="609600" y="421957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443"/>
                </a:solidFill>
                <a:latin typeface="Arial"/>
                <a:ea typeface="Arial"/>
                <a:cs typeface="Arial"/>
              </a:defRPr>
            </a:defPPr>
            <a:lvl1pPr>
              <a:defRPr sz="2100" b="0">
                <a:solidFill>
                  <a:srgbClr val="153443"/>
                </a:solidFill>
                <a:latin typeface="Arial"/>
                <a:ea typeface="Arial"/>
                <a:cs typeface="Arial"/>
              </a:defRPr>
            </a:lvl1pPr>
            <a:lvl2pPr>
              <a:defRPr sz="2100" b="0">
                <a:solidFill>
                  <a:srgbClr val="153443"/>
                </a:solidFill>
                <a:latin typeface="Arial"/>
                <a:ea typeface="Arial"/>
                <a:cs typeface="Arial"/>
              </a:defRPr>
            </a:lvl2pPr>
            <a:lvl3pPr>
              <a:defRPr sz="2100" b="0">
                <a:solidFill>
                  <a:srgbClr val="153443"/>
                </a:solidFill>
                <a:latin typeface="Arial"/>
                <a:ea typeface="Arial"/>
                <a:cs typeface="Arial"/>
              </a:defRPr>
            </a:lvl3pPr>
            <a:lvl4pPr>
              <a:defRPr sz="2100" b="0">
                <a:solidFill>
                  <a:srgbClr val="153443"/>
                </a:solidFill>
                <a:latin typeface="Arial"/>
                <a:ea typeface="Arial"/>
                <a:cs typeface="Arial"/>
              </a:defRPr>
            </a:lvl4pPr>
            <a:lvl5pPr>
              <a:defRPr sz="2100" b="0">
                <a:solidFill>
                  <a:srgbClr val="153443"/>
                </a:solidFill>
                <a:latin typeface="Arial"/>
                <a:ea typeface="Arial"/>
                <a:cs typeface="Arial"/>
              </a:defRPr>
            </a:lvl5pPr>
            <a:lvl6pPr>
              <a:defRPr sz="2100" b="0">
                <a:solidFill>
                  <a:srgbClr val="153443"/>
                </a:solidFill>
                <a:latin typeface="Arial"/>
                <a:ea typeface="Arial"/>
                <a:cs typeface="Arial"/>
              </a:defRPr>
            </a:lvl6pPr>
            <a:lvl7pPr>
              <a:defRPr sz="2100" b="0">
                <a:solidFill>
                  <a:srgbClr val="153443"/>
                </a:solidFill>
                <a:latin typeface="Arial"/>
                <a:ea typeface="Arial"/>
                <a:cs typeface="Arial"/>
              </a:defRPr>
            </a:lvl7pPr>
            <a:lvl8pPr>
              <a:defRPr sz="2100" b="0">
                <a:solidFill>
                  <a:srgbClr val="153443"/>
                </a:solidFill>
                <a:latin typeface="Arial"/>
                <a:ea typeface="Arial"/>
                <a:cs typeface="Arial"/>
              </a:defRPr>
            </a:lvl8pPr>
            <a:lvl9pPr>
              <a:defRPr sz="2100" b="0">
                <a:solidFill>
                  <a:srgbClr val="153443"/>
                </a:solidFill>
                <a:latin typeface="Arial"/>
                <a:ea typeface="Arial"/>
                <a:cs typeface="Arial"/>
              </a:defRPr>
            </a:lvl9pPr>
          </a:lstStyle>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Di selubung, ekor evanescent meluruh secara eksponensial.</a:t>
            </a:r>
          </a:p>
        </p:txBody>
      </p:sp>
      <p:sp>
        <p:nvSpPr>
          <p:cNvPr id="8" name="">
            <a:extLst xmlns:a="http://schemas.openxmlformats.org/drawingml/2006/main">
              <a:ext uri="{FF2B5EF4-FFF2-40B4-BE49-F238E27FC236}">
                <a16:creationId xmlns:a16="http://schemas.microsoft.com/office/drawing/2014/main" id="{EDB11FCF-93EF-4810-B242-00F1EBE05C52}"/>
              </a:ext>
            </a:extLst>
          </p:cNvPr>
          <p:cNvSpPr>
            <a:spLocks xmlns:a="http://schemas.openxmlformats.org/drawingml/2006/main" noGrp="1"/>
          </p:cNvSpPr>
          <p:nvPr/>
        </p:nvSpPr>
        <p:spPr>
          <a:xfrm xmlns:a="http://schemas.openxmlformats.org/drawingml/2006/main">
            <a:off x="609600" y="49625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443"/>
                </a:solidFill>
                <a:latin typeface="Arial"/>
                <a:ea typeface="Arial"/>
                <a:cs typeface="Arial"/>
              </a:defRPr>
            </a:defPPr>
            <a:lvl1pPr>
              <a:defRPr sz="2100" b="0">
                <a:solidFill>
                  <a:srgbClr val="153443"/>
                </a:solidFill>
                <a:latin typeface="Arial"/>
                <a:ea typeface="Arial"/>
                <a:cs typeface="Arial"/>
              </a:defRPr>
            </a:lvl1pPr>
            <a:lvl2pPr>
              <a:defRPr sz="2100" b="0">
                <a:solidFill>
                  <a:srgbClr val="153443"/>
                </a:solidFill>
                <a:latin typeface="Arial"/>
                <a:ea typeface="Arial"/>
                <a:cs typeface="Arial"/>
              </a:defRPr>
            </a:lvl2pPr>
            <a:lvl3pPr>
              <a:defRPr sz="2100" b="0">
                <a:solidFill>
                  <a:srgbClr val="153443"/>
                </a:solidFill>
                <a:latin typeface="Arial"/>
                <a:ea typeface="Arial"/>
                <a:cs typeface="Arial"/>
              </a:defRPr>
            </a:lvl3pPr>
            <a:lvl4pPr>
              <a:defRPr sz="2100" b="0">
                <a:solidFill>
                  <a:srgbClr val="153443"/>
                </a:solidFill>
                <a:latin typeface="Arial"/>
                <a:ea typeface="Arial"/>
                <a:cs typeface="Arial"/>
              </a:defRPr>
            </a:lvl4pPr>
            <a:lvl5pPr>
              <a:defRPr sz="2100" b="0">
                <a:solidFill>
                  <a:srgbClr val="153443"/>
                </a:solidFill>
                <a:latin typeface="Arial"/>
                <a:ea typeface="Arial"/>
                <a:cs typeface="Arial"/>
              </a:defRPr>
            </a:lvl5pPr>
            <a:lvl6pPr>
              <a:defRPr sz="2100" b="0">
                <a:solidFill>
                  <a:srgbClr val="153443"/>
                </a:solidFill>
                <a:latin typeface="Arial"/>
                <a:ea typeface="Arial"/>
                <a:cs typeface="Arial"/>
              </a:defRPr>
            </a:lvl6pPr>
            <a:lvl7pPr>
              <a:defRPr sz="2100" b="0">
                <a:solidFill>
                  <a:srgbClr val="153443"/>
                </a:solidFill>
                <a:latin typeface="Arial"/>
                <a:ea typeface="Arial"/>
                <a:cs typeface="Arial"/>
              </a:defRPr>
            </a:lvl7pPr>
            <a:lvl8pPr>
              <a:defRPr sz="2100" b="0">
                <a:solidFill>
                  <a:srgbClr val="153443"/>
                </a:solidFill>
                <a:latin typeface="Arial"/>
                <a:ea typeface="Arial"/>
                <a:cs typeface="Arial"/>
              </a:defRPr>
            </a:lvl8pPr>
            <a:lvl9pPr>
              <a:defRPr sz="2100" b="0">
                <a:solidFill>
                  <a:srgbClr val="153443"/>
                </a:solidFill>
                <a:latin typeface="Arial"/>
                <a:ea typeface="Arial"/>
                <a:cs typeface="Arial"/>
              </a:defRPr>
            </a:lvl9pPr>
          </a:lstStyle>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Syarat batas dan fase memilih nilai β yang diizinkan.</a:t>
            </a:r>
          </a:p>
        </p:txBody>
      </p:sp>
    </p:spTree>
    <p:extLst>
      <p:ext uri="{BB962C8B-B14F-4D97-AF65-F5344CB8AC3E}">
        <p14:creationId xmlns:p14="http://schemas.microsoft.com/office/powerpoint/2010/main" val="2176950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746F9B-313A-41B0-A265-856D38819677}"/>
              </a:ext>
            </a:extLst>
          </p:cNvPr>
          <p:cNvSpPr>
            <a:spLocks xmlns:a="http://schemas.openxmlformats.org/drawingml/2006/main" noGrp="1"/>
          </p:cNvSpPr>
          <p:nvPr/>
        </p:nvSpPr>
        <p:spPr>
          <a:xfrm xmlns:a="http://schemas.openxmlformats.org/drawingml/2006/main">
            <a:off x="609600" y="3810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443"/>
                </a:solidFill>
                <a:latin typeface="Arial"/>
                <a:ea typeface="Arial"/>
                <a:cs typeface="Arial"/>
              </a:defRPr>
            </a:defPPr>
            <a:lvl1pPr>
              <a:defRPr sz="3225" b="1">
                <a:solidFill>
                  <a:srgbClr val="153443"/>
                </a:solidFill>
                <a:latin typeface="Arial"/>
                <a:ea typeface="Arial"/>
                <a:cs typeface="Arial"/>
              </a:defRPr>
            </a:lvl1pPr>
            <a:lvl2pPr>
              <a:defRPr sz="3225" b="1">
                <a:solidFill>
                  <a:srgbClr val="153443"/>
                </a:solidFill>
                <a:latin typeface="Arial"/>
                <a:ea typeface="Arial"/>
                <a:cs typeface="Arial"/>
              </a:defRPr>
            </a:lvl2pPr>
            <a:lvl3pPr>
              <a:defRPr sz="3225" b="1">
                <a:solidFill>
                  <a:srgbClr val="153443"/>
                </a:solidFill>
                <a:latin typeface="Arial"/>
                <a:ea typeface="Arial"/>
                <a:cs typeface="Arial"/>
              </a:defRPr>
            </a:lvl3pPr>
            <a:lvl4pPr>
              <a:defRPr sz="3225" b="1">
                <a:solidFill>
                  <a:srgbClr val="153443"/>
                </a:solidFill>
                <a:latin typeface="Arial"/>
                <a:ea typeface="Arial"/>
                <a:cs typeface="Arial"/>
              </a:defRPr>
            </a:lvl4pPr>
            <a:lvl5pPr>
              <a:defRPr sz="3225" b="1">
                <a:solidFill>
                  <a:srgbClr val="153443"/>
                </a:solidFill>
                <a:latin typeface="Arial"/>
                <a:ea typeface="Arial"/>
                <a:cs typeface="Arial"/>
              </a:defRPr>
            </a:lvl5pPr>
            <a:lvl6pPr>
              <a:defRPr sz="3225" b="1">
                <a:solidFill>
                  <a:srgbClr val="153443"/>
                </a:solidFill>
                <a:latin typeface="Arial"/>
                <a:ea typeface="Arial"/>
                <a:cs typeface="Arial"/>
              </a:defRPr>
            </a:lvl6pPr>
            <a:lvl7pPr>
              <a:defRPr sz="3225" b="1">
                <a:solidFill>
                  <a:srgbClr val="153443"/>
                </a:solidFill>
                <a:latin typeface="Arial"/>
                <a:ea typeface="Arial"/>
                <a:cs typeface="Arial"/>
              </a:defRPr>
            </a:lvl7pPr>
            <a:lvl8pPr>
              <a:defRPr sz="3225" b="1">
                <a:solidFill>
                  <a:srgbClr val="153443"/>
                </a:solidFill>
                <a:latin typeface="Arial"/>
                <a:ea typeface="Arial"/>
                <a:cs typeface="Arial"/>
              </a:defRPr>
            </a:lvl8pPr>
            <a:lvl9pPr>
              <a:defRPr sz="3225" b="1">
                <a:solidFill>
                  <a:srgbClr val="153443"/>
                </a:solidFill>
                <a:latin typeface="Arial"/>
                <a:ea typeface="Arial"/>
                <a:cs typeface="Arial"/>
              </a:defRPr>
            </a:lvl9pPr>
          </a:lstStyle>
          <a:p xmlns:a="http://schemas.openxmlformats.org/drawingml/2006/main">
            <a:pPr>
              <a:defRPr sz="3225" b="1">
                <a:solidFill>
                  <a:srgbClr val="153443"/>
                </a:solidFill>
                <a:latin typeface="Arial"/>
                <a:ea typeface="Arial"/>
                <a:cs typeface="Arial"/>
              </a:defRPr>
            </a:pPr>
            <a:r>
              <a:rPr sz="3225" b="1">
                <a:solidFill>
                  <a:srgbClr val="153443"/>
                </a:solidFill>
                <a:latin typeface="Arial"/>
                <a:ea typeface="Arial"/>
                <a:cs typeface="Arial"/>
              </a:rPr>
              <a:t>Polarisasi TE dan TM</a:t>
            </a:r>
          </a:p>
        </p:txBody>
      </p:sp>
      <p:sp>
        <p:nvSpPr>
          <p:cNvPr id="2" name="">
            <a:extLst xmlns:a="http://schemas.openxmlformats.org/drawingml/2006/main">
              <a:ext uri="{FF2B5EF4-FFF2-40B4-BE49-F238E27FC236}">
                <a16:creationId xmlns:a16="http://schemas.microsoft.com/office/drawing/2014/main" id="{4DA432E0-3D57-4348-BC54-BE138118E16A}"/>
              </a:ext>
            </a:extLst>
          </p:cNvPr>
          <p:cNvSpPr>
            <a:spLocks xmlns:a="http://schemas.openxmlformats.org/drawingml/2006/main" noGrp="1"/>
          </p:cNvSpPr>
          <p:nvPr/>
        </p:nvSpPr>
        <p:spPr>
          <a:xfrm xmlns:a="http://schemas.openxmlformats.org/drawingml/2006/main">
            <a:off x="609600" y="63817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OPTIK MODERN  ·  PENUGASAN 1</a:t>
            </a:r>
          </a:p>
        </p:txBody>
      </p:sp>
      <p:sp>
        <p:nvSpPr>
          <p:cNvPr id="3" name="">
            <a:extLst xmlns:a="http://schemas.openxmlformats.org/drawingml/2006/main">
              <a:ext uri="{FF2B5EF4-FFF2-40B4-BE49-F238E27FC236}">
                <a16:creationId xmlns:a16="http://schemas.microsoft.com/office/drawing/2014/main" id="{70962AEA-33BB-4161-A10A-F556EE6EE1EC}"/>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C3DE0256-7014-4F6D-8182-C94C5EC9B670}"/>
              </a:ext>
            </a:extLst>
          </p:cNvPr>
          <p:cNvGraphicFramePr/>
          <p:nvPr/>
        </p:nvGraphicFramePr>
        <p:xfrm>
          <a:off xmlns:a="http://schemas.openxmlformats.org/drawingml/2006/main" x="609600" y="1714500"/>
          <a:ext xmlns:a="http://schemas.openxmlformats.org/drawingml/2006/main" cx="10972800" cy="3286125"/>
        </p:xfrm>
        <a:graphic xmlns:a="http://schemas.openxmlformats.org/drawingml/2006/main">
          <a:graphicData uri="http://schemas.openxmlformats.org/drawingml/2006/table">
            <a:tbl>
              <a:tblPr/>
              <a:tblGrid>
                <a:gridCol w="2857500"/>
                <a:gridCol w="4057650"/>
                <a:gridCol w="4057650"/>
              </a:tblGrid>
              <a:tr h="657225">
                <a:tc>
                  <a:txBody>
                    <a:bodyPr/>
                    <a:lstStyle/>
                    <a:p>
                      <a:r>
                        <a:rPr sz="1800" b="1">
                          <a:solidFill>
                            <a:srgbClr val="153443"/>
                          </a:solidFill>
                          <a:latin typeface="Arial"/>
                          <a:ea typeface="Arial"/>
                          <a:cs typeface="Arial"/>
                        </a:rPr>
                        <a:t>Aspek</a:t>
                      </a:r>
                    </a:p>
                  </a:txBody>
                  <a:tcPr marL="91440" marR="91440" marT="45720" marB="45720">
                    <a:solidFill>
                      <a:srgbClr val="E5EFF3"/>
                    </a:solidFill>
                  </a:tcPr>
                </a:tc>
                <a:tc>
                  <a:txBody>
                    <a:bodyPr/>
                    <a:lstStyle/>
                    <a:p>
                      <a:r>
                        <a:rPr sz="1800" b="1">
                          <a:solidFill>
                            <a:srgbClr val="153443"/>
                          </a:solidFill>
                          <a:latin typeface="Arial"/>
                          <a:ea typeface="Arial"/>
                          <a:cs typeface="Arial"/>
                        </a:rPr>
                        <a:t>TE</a:t>
                      </a:r>
                    </a:p>
                  </a:txBody>
                  <a:tcPr marL="91440" marR="91440" marT="45720" marB="45720">
                    <a:solidFill>
                      <a:srgbClr val="E5EFF3"/>
                    </a:solidFill>
                  </a:tcPr>
                </a:tc>
                <a:tc>
                  <a:txBody>
                    <a:bodyPr/>
                    <a:lstStyle/>
                    <a:p>
                      <a:r>
                        <a:rPr sz="1800" b="1">
                          <a:solidFill>
                            <a:srgbClr val="153443"/>
                          </a:solidFill>
                          <a:latin typeface="Arial"/>
                          <a:ea typeface="Arial"/>
                          <a:cs typeface="Arial"/>
                        </a:rPr>
                        <a:t>TM</a:t>
                      </a:r>
                    </a:p>
                  </a:txBody>
                  <a:tcPr marL="91440" marR="91440" marT="45720" marB="45720">
                    <a:solidFill>
                      <a:srgbClr val="E5EFF3"/>
                    </a:solidFill>
                  </a:tcPr>
                </a:tc>
              </a:tr>
              <a:tr h="657225">
                <a:tc>
                  <a:txBody>
                    <a:bodyPr/>
                    <a:lstStyle/>
                    <a:p>
                      <a:r>
                        <a:rPr sz="1800" b="0">
                          <a:solidFill>
                            <a:srgbClr val="153443"/>
                          </a:solidFill>
                          <a:latin typeface="Arial"/>
                          <a:ea typeface="Arial"/>
                          <a:cs typeface="Arial"/>
                        </a:rPr>
                        <a:t>Komponen mandiri</a:t>
                      </a:r>
                    </a:p>
                  </a:txBody>
                  <a:tcPr marL="91440" marR="91440" marT="45720" marB="45720">
                    <a:solidFill>
                      <a:srgbClr val="FFFFFF"/>
                    </a:solidFill>
                  </a:tcPr>
                </a:tc>
                <a:tc>
                  <a:txBody>
                    <a:bodyPr/>
                    <a:lstStyle/>
                    <a:p>
                      <a:r>
                        <a:rPr sz="1800" b="0">
                          <a:solidFill>
                            <a:srgbClr val="153443"/>
                          </a:solidFill>
                          <a:latin typeface="Arial"/>
                          <a:ea typeface="Arial"/>
                          <a:cs typeface="Arial"/>
                        </a:rPr>
                        <a:t>Eᵧ(x)</a:t>
                      </a:r>
                    </a:p>
                  </a:txBody>
                  <a:tcPr marL="91440" marR="91440" marT="45720" marB="45720">
                    <a:solidFill>
                      <a:srgbClr val="FFFFFF"/>
                    </a:solidFill>
                  </a:tcPr>
                </a:tc>
                <a:tc>
                  <a:txBody>
                    <a:bodyPr/>
                    <a:lstStyle/>
                    <a:p>
                      <a:r>
                        <a:rPr sz="1800" b="0">
                          <a:solidFill>
                            <a:srgbClr val="153443"/>
                          </a:solidFill>
                          <a:latin typeface="Arial"/>
                          <a:ea typeface="Arial"/>
                          <a:cs typeface="Arial"/>
                        </a:rPr>
                        <a:t>Hᵧ(x)</a:t>
                      </a:r>
                    </a:p>
                  </a:txBody>
                  <a:tcPr marL="91440" marR="91440" marT="45720" marB="45720">
                    <a:solidFill>
                      <a:srgbClr val="FFFFFF"/>
                    </a:solidFill>
                  </a:tcPr>
                </a:tc>
              </a:tr>
              <a:tr h="657225">
                <a:tc>
                  <a:txBody>
                    <a:bodyPr/>
                    <a:lstStyle/>
                    <a:p>
                      <a:r>
                        <a:rPr sz="1800" b="0">
                          <a:solidFill>
                            <a:srgbClr val="153443"/>
                          </a:solidFill>
                          <a:latin typeface="Arial"/>
                          <a:ea typeface="Arial"/>
                          <a:cs typeface="Arial"/>
                        </a:rPr>
                        <a:t>Komponen longitudinal nol</a:t>
                      </a:r>
                    </a:p>
                  </a:txBody>
                  <a:tcPr marL="91440" marR="91440" marT="45720" marB="45720">
                    <a:solidFill>
                      <a:srgbClr val="FFFFFF"/>
                    </a:solidFill>
                  </a:tcPr>
                </a:tc>
                <a:tc>
                  <a:txBody>
                    <a:bodyPr/>
                    <a:lstStyle/>
                    <a:p>
                      <a:r>
                        <a:rPr sz="1800" b="0">
                          <a:solidFill>
                            <a:srgbClr val="153443"/>
                          </a:solidFill>
                          <a:latin typeface="Arial"/>
                          <a:ea typeface="Arial"/>
                          <a:cs typeface="Arial"/>
                        </a:rPr>
                        <a:t>Ez = 0</a:t>
                      </a:r>
                    </a:p>
                  </a:txBody>
                  <a:tcPr marL="91440" marR="91440" marT="45720" marB="45720">
                    <a:solidFill>
                      <a:srgbClr val="FFFFFF"/>
                    </a:solidFill>
                  </a:tcPr>
                </a:tc>
                <a:tc>
                  <a:txBody>
                    <a:bodyPr/>
                    <a:lstStyle/>
                    <a:p>
                      <a:r>
                        <a:rPr sz="1800" b="0">
                          <a:solidFill>
                            <a:srgbClr val="153443"/>
                          </a:solidFill>
                          <a:latin typeface="Arial"/>
                          <a:ea typeface="Arial"/>
                          <a:cs typeface="Arial"/>
                        </a:rPr>
                        <a:t>Hz = 0</a:t>
                      </a:r>
                    </a:p>
                  </a:txBody>
                  <a:tcPr marL="91440" marR="91440" marT="45720" marB="45720">
                    <a:solidFill>
                      <a:srgbClr val="FFFFFF"/>
                    </a:solidFill>
                  </a:tcPr>
                </a:tc>
              </a:tr>
              <a:tr h="657225">
                <a:tc>
                  <a:txBody>
                    <a:bodyPr/>
                    <a:lstStyle/>
                    <a:p>
                      <a:r>
                        <a:rPr sz="1800" b="0">
                          <a:solidFill>
                            <a:srgbClr val="153443"/>
                          </a:solidFill>
                          <a:latin typeface="Arial"/>
                          <a:ea typeface="Arial"/>
                          <a:cs typeface="Arial"/>
                        </a:rPr>
                        <a:t>Syarat batas</a:t>
                      </a:r>
                    </a:p>
                  </a:txBody>
                  <a:tcPr marL="91440" marR="91440" marT="45720" marB="45720">
                    <a:solidFill>
                      <a:srgbClr val="FFFFFF"/>
                    </a:solidFill>
                  </a:tcPr>
                </a:tc>
                <a:tc>
                  <a:txBody>
                    <a:bodyPr/>
                    <a:lstStyle/>
                    <a:p>
                      <a:r>
                        <a:rPr sz="1800" b="0">
                          <a:solidFill>
                            <a:srgbClr val="153443"/>
                          </a:solidFill>
                          <a:latin typeface="Arial"/>
                          <a:ea typeface="Arial"/>
                          <a:cs typeface="Arial"/>
                        </a:rPr>
                        <a:t>Eᵧ dan (1/μ)Eᵧ′ kontinu</a:t>
                      </a:r>
                    </a:p>
                  </a:txBody>
                  <a:tcPr marL="91440" marR="91440" marT="45720" marB="45720">
                    <a:solidFill>
                      <a:srgbClr val="FFFFFF"/>
                    </a:solidFill>
                  </a:tcPr>
                </a:tc>
                <a:tc>
                  <a:txBody>
                    <a:bodyPr/>
                    <a:lstStyle/>
                    <a:p>
                      <a:r>
                        <a:rPr sz="1800" b="0">
                          <a:solidFill>
                            <a:srgbClr val="153443"/>
                          </a:solidFill>
                          <a:latin typeface="Arial"/>
                          <a:ea typeface="Arial"/>
                          <a:cs typeface="Arial"/>
                        </a:rPr>
                        <a:t>Hᵧ dan (1/ε)Hᵧ′ kontinu</a:t>
                      </a:r>
                    </a:p>
                  </a:txBody>
                  <a:tcPr marL="91440" marR="91440" marT="45720" marB="45720">
                    <a:solidFill>
                      <a:srgbClr val="FFFFFF"/>
                    </a:solidFill>
                  </a:tcPr>
                </a:tc>
              </a:tr>
              <a:tr h="657225">
                <a:tc>
                  <a:txBody>
                    <a:bodyPr/>
                    <a:lstStyle/>
                    <a:p>
                      <a:r>
                        <a:rPr sz="1800" b="0">
                          <a:solidFill>
                            <a:srgbClr val="153443"/>
                          </a:solidFill>
                          <a:latin typeface="Arial"/>
                          <a:ea typeface="Arial"/>
                          <a:cs typeface="Arial"/>
                        </a:rPr>
                        <a:t>Akibat</a:t>
                      </a:r>
                    </a:p>
                  </a:txBody>
                  <a:tcPr marL="91440" marR="91440" marT="45720" marB="45720">
                    <a:solidFill>
                      <a:srgbClr val="FFFFFF"/>
                    </a:solidFill>
                  </a:tcPr>
                </a:tc>
                <a:tc>
                  <a:txBody>
                    <a:bodyPr/>
                    <a:lstStyle/>
                    <a:p>
                      <a:r>
                        <a:rPr sz="1800" b="0">
                          <a:solidFill>
                            <a:srgbClr val="153443"/>
                          </a:solidFill>
                          <a:latin typeface="Arial"/>
                          <a:ea typeface="Arial"/>
                          <a:cs typeface="Arial"/>
                        </a:rPr>
                        <a:t>Dispersi TE</a:t>
                      </a:r>
                    </a:p>
                  </a:txBody>
                  <a:tcPr marL="91440" marR="91440" marT="45720" marB="45720">
                    <a:solidFill>
                      <a:srgbClr val="FFFFFF"/>
                    </a:solidFill>
                  </a:tcPr>
                </a:tc>
                <a:tc>
                  <a:txBody>
                    <a:bodyPr/>
                    <a:lstStyle/>
                    <a:p>
                      <a:r>
                        <a:rPr sz="1800" b="0">
                          <a:solidFill>
                            <a:srgbClr val="153443"/>
                          </a:solidFill>
                          <a:latin typeface="Arial"/>
                          <a:ea typeface="Arial"/>
                          <a:cs typeface="Arial"/>
                        </a:rPr>
                        <a:t>Dispersi TM berbeda</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44271CE-A854-4AA0-810E-176A37357E17}"/>
              </a:ext>
            </a:extLst>
          </p:cNvPr>
          <p:cNvSpPr>
            <a:spLocks xmlns:a="http://schemas.openxmlformats.org/drawingml/2006/main" noGrp="1"/>
          </p:cNvSpPr>
          <p:nvPr/>
        </p:nvSpPr>
        <p:spPr>
          <a:xfrm xmlns:a="http://schemas.openxmlformats.org/drawingml/2006/main">
            <a:off x="609600" y="5381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46078"/>
                </a:solidFill>
                <a:latin typeface="Arial"/>
                <a:ea typeface="Arial"/>
                <a:cs typeface="Arial"/>
              </a:defRPr>
            </a:defPPr>
            <a:lvl1pPr>
              <a:defRPr sz="2175" b="1">
                <a:solidFill>
                  <a:srgbClr val="146078"/>
                </a:solidFill>
                <a:latin typeface="Arial"/>
                <a:ea typeface="Arial"/>
                <a:cs typeface="Arial"/>
              </a:defRPr>
            </a:lvl1pPr>
            <a:lvl2pPr>
              <a:defRPr sz="2175" b="1">
                <a:solidFill>
                  <a:srgbClr val="146078"/>
                </a:solidFill>
                <a:latin typeface="Arial"/>
                <a:ea typeface="Arial"/>
                <a:cs typeface="Arial"/>
              </a:defRPr>
            </a:lvl2pPr>
            <a:lvl3pPr>
              <a:defRPr sz="2175" b="1">
                <a:solidFill>
                  <a:srgbClr val="146078"/>
                </a:solidFill>
                <a:latin typeface="Arial"/>
                <a:ea typeface="Arial"/>
                <a:cs typeface="Arial"/>
              </a:defRPr>
            </a:lvl3pPr>
            <a:lvl4pPr>
              <a:defRPr sz="2175" b="1">
                <a:solidFill>
                  <a:srgbClr val="146078"/>
                </a:solidFill>
                <a:latin typeface="Arial"/>
                <a:ea typeface="Arial"/>
                <a:cs typeface="Arial"/>
              </a:defRPr>
            </a:lvl4pPr>
            <a:lvl5pPr>
              <a:defRPr sz="2175" b="1">
                <a:solidFill>
                  <a:srgbClr val="146078"/>
                </a:solidFill>
                <a:latin typeface="Arial"/>
                <a:ea typeface="Arial"/>
                <a:cs typeface="Arial"/>
              </a:defRPr>
            </a:lvl5pPr>
            <a:lvl6pPr>
              <a:defRPr sz="2175" b="1">
                <a:solidFill>
                  <a:srgbClr val="146078"/>
                </a:solidFill>
                <a:latin typeface="Arial"/>
                <a:ea typeface="Arial"/>
                <a:cs typeface="Arial"/>
              </a:defRPr>
            </a:lvl6pPr>
            <a:lvl7pPr>
              <a:defRPr sz="2175" b="1">
                <a:solidFill>
                  <a:srgbClr val="146078"/>
                </a:solidFill>
                <a:latin typeface="Arial"/>
                <a:ea typeface="Arial"/>
                <a:cs typeface="Arial"/>
              </a:defRPr>
            </a:lvl7pPr>
            <a:lvl8pPr>
              <a:defRPr sz="2175" b="1">
                <a:solidFill>
                  <a:srgbClr val="146078"/>
                </a:solidFill>
                <a:latin typeface="Arial"/>
                <a:ea typeface="Arial"/>
                <a:cs typeface="Arial"/>
              </a:defRPr>
            </a:lvl8pPr>
            <a:lvl9pPr>
              <a:defRPr sz="2175" b="1">
                <a:solidFill>
                  <a:srgbClr val="146078"/>
                </a:solidFill>
                <a:latin typeface="Arial"/>
                <a:ea typeface="Arial"/>
                <a:cs typeface="Arial"/>
              </a:defRPr>
            </a:lvl9pPr>
          </a:lstStyle>
          <a:p xmlns:a="http://schemas.openxmlformats.org/drawingml/2006/main">
            <a:pPr>
              <a:defRPr sz="2175" b="1">
                <a:solidFill>
                  <a:srgbClr val="146078"/>
                </a:solidFill>
                <a:latin typeface="Arial"/>
                <a:ea typeface="Arial"/>
                <a:cs typeface="Arial"/>
              </a:defRPr>
            </a:pPr>
            <a:r>
              <a:rPr sz="2175" b="1">
                <a:solidFill>
                  <a:srgbClr val="146078"/>
                </a:solidFill>
                <a:latin typeface="Arial"/>
                <a:ea typeface="Arial"/>
                <a:cs typeface="Arial"/>
              </a:rPr>
              <a:t>Analisis berikut menghitung keluarga modus TE.</a:t>
            </a:r>
          </a:p>
        </p:txBody>
      </p:sp>
    </p:spTree>
    <p:extLst>
      <p:ext uri="{BB962C8B-B14F-4D97-AF65-F5344CB8AC3E}">
        <p14:creationId xmlns:p14="http://schemas.microsoft.com/office/powerpoint/2010/main" val="1789269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AB9114-DA8D-4D13-971F-292E2A1D0EA2}"/>
              </a:ext>
            </a:extLst>
          </p:cNvPr>
          <p:cNvSpPr>
            <a:spLocks xmlns:a="http://schemas.openxmlformats.org/drawingml/2006/main" noGrp="1"/>
          </p:cNvSpPr>
          <p:nvPr/>
        </p:nvSpPr>
        <p:spPr>
          <a:xfrm xmlns:a="http://schemas.openxmlformats.org/drawingml/2006/main">
            <a:off x="609600" y="3810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443"/>
                </a:solidFill>
                <a:latin typeface="Arial"/>
                <a:ea typeface="Arial"/>
                <a:cs typeface="Arial"/>
              </a:defRPr>
            </a:defPPr>
            <a:lvl1pPr>
              <a:defRPr sz="3225" b="1">
                <a:solidFill>
                  <a:srgbClr val="153443"/>
                </a:solidFill>
                <a:latin typeface="Arial"/>
                <a:ea typeface="Arial"/>
                <a:cs typeface="Arial"/>
              </a:defRPr>
            </a:lvl1pPr>
            <a:lvl2pPr>
              <a:defRPr sz="3225" b="1">
                <a:solidFill>
                  <a:srgbClr val="153443"/>
                </a:solidFill>
                <a:latin typeface="Arial"/>
                <a:ea typeface="Arial"/>
                <a:cs typeface="Arial"/>
              </a:defRPr>
            </a:lvl2pPr>
            <a:lvl3pPr>
              <a:defRPr sz="3225" b="1">
                <a:solidFill>
                  <a:srgbClr val="153443"/>
                </a:solidFill>
                <a:latin typeface="Arial"/>
                <a:ea typeface="Arial"/>
                <a:cs typeface="Arial"/>
              </a:defRPr>
            </a:lvl3pPr>
            <a:lvl4pPr>
              <a:defRPr sz="3225" b="1">
                <a:solidFill>
                  <a:srgbClr val="153443"/>
                </a:solidFill>
                <a:latin typeface="Arial"/>
                <a:ea typeface="Arial"/>
                <a:cs typeface="Arial"/>
              </a:defRPr>
            </a:lvl4pPr>
            <a:lvl5pPr>
              <a:defRPr sz="3225" b="1">
                <a:solidFill>
                  <a:srgbClr val="153443"/>
                </a:solidFill>
                <a:latin typeface="Arial"/>
                <a:ea typeface="Arial"/>
                <a:cs typeface="Arial"/>
              </a:defRPr>
            </a:lvl5pPr>
            <a:lvl6pPr>
              <a:defRPr sz="3225" b="1">
                <a:solidFill>
                  <a:srgbClr val="153443"/>
                </a:solidFill>
                <a:latin typeface="Arial"/>
                <a:ea typeface="Arial"/>
                <a:cs typeface="Arial"/>
              </a:defRPr>
            </a:lvl6pPr>
            <a:lvl7pPr>
              <a:defRPr sz="3225" b="1">
                <a:solidFill>
                  <a:srgbClr val="153443"/>
                </a:solidFill>
                <a:latin typeface="Arial"/>
                <a:ea typeface="Arial"/>
                <a:cs typeface="Arial"/>
              </a:defRPr>
            </a:lvl7pPr>
            <a:lvl8pPr>
              <a:defRPr sz="3225" b="1">
                <a:solidFill>
                  <a:srgbClr val="153443"/>
                </a:solidFill>
                <a:latin typeface="Arial"/>
                <a:ea typeface="Arial"/>
                <a:cs typeface="Arial"/>
              </a:defRPr>
            </a:lvl8pPr>
            <a:lvl9pPr>
              <a:defRPr sz="3225" b="1">
                <a:solidFill>
                  <a:srgbClr val="153443"/>
                </a:solidFill>
                <a:latin typeface="Arial"/>
                <a:ea typeface="Arial"/>
                <a:cs typeface="Arial"/>
              </a:defRPr>
            </a:lvl9pPr>
          </a:lstStyle>
          <a:p xmlns:a="http://schemas.openxmlformats.org/drawingml/2006/main">
            <a:pPr>
              <a:defRPr sz="3225" b="1">
                <a:solidFill>
                  <a:srgbClr val="153443"/>
                </a:solidFill>
                <a:latin typeface="Arial"/>
                <a:ea typeface="Arial"/>
                <a:cs typeface="Arial"/>
              </a:defRPr>
            </a:pPr>
            <a:r>
              <a:rPr sz="3225" b="1">
                <a:solidFill>
                  <a:srgbClr val="153443"/>
                </a:solidFill>
                <a:latin typeface="Arial"/>
                <a:ea typeface="Arial"/>
                <a:cs typeface="Arial"/>
              </a:rPr>
              <a:t>Hubungan dispersi slab simetris</a:t>
            </a:r>
          </a:p>
        </p:txBody>
      </p:sp>
      <p:sp>
        <p:nvSpPr>
          <p:cNvPr id="2" name="">
            <a:extLst xmlns:a="http://schemas.openxmlformats.org/drawingml/2006/main">
              <a:ext uri="{FF2B5EF4-FFF2-40B4-BE49-F238E27FC236}">
                <a16:creationId xmlns:a16="http://schemas.microsoft.com/office/drawing/2014/main" id="{4F72A417-E462-4BC4-83A9-B21C7D46EEB5}"/>
              </a:ext>
            </a:extLst>
          </p:cNvPr>
          <p:cNvSpPr>
            <a:spLocks xmlns:a="http://schemas.openxmlformats.org/drawingml/2006/main" noGrp="1"/>
          </p:cNvSpPr>
          <p:nvPr/>
        </p:nvSpPr>
        <p:spPr>
          <a:xfrm xmlns:a="http://schemas.openxmlformats.org/drawingml/2006/main">
            <a:off x="609600" y="63817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OPTIK MODERN  ·  PENUGASAN 1</a:t>
            </a:r>
          </a:p>
        </p:txBody>
      </p:sp>
      <p:sp>
        <p:nvSpPr>
          <p:cNvPr id="3" name="">
            <a:extLst xmlns:a="http://schemas.openxmlformats.org/drawingml/2006/main">
              <a:ext uri="{FF2B5EF4-FFF2-40B4-BE49-F238E27FC236}">
                <a16:creationId xmlns:a16="http://schemas.microsoft.com/office/drawing/2014/main" id="{1504F351-2CAC-4231-87A2-4B1A0BD42762}"/>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651CA243-659C-406C-9B2D-B445166F4268}"/>
              </a:ext>
            </a:extLst>
          </p:cNvPr>
          <p:cNvSpPr>
            <a:spLocks xmlns:a="http://schemas.openxmlformats.org/drawingml/2006/main" noGrp="1"/>
          </p:cNvSpPr>
          <p:nvPr/>
        </p:nvSpPr>
        <p:spPr>
          <a:xfrm xmlns:a="http://schemas.openxmlformats.org/drawingml/2006/main">
            <a:off x="609600" y="16192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3443"/>
                </a:solidFill>
                <a:latin typeface="Arial"/>
                <a:ea typeface="Arial"/>
                <a:cs typeface="Arial"/>
              </a:defRPr>
            </a:defPPr>
            <a:lvl1pPr>
              <a:defRPr sz="2400" b="0">
                <a:solidFill>
                  <a:srgbClr val="153443"/>
                </a:solidFill>
                <a:latin typeface="Arial"/>
                <a:ea typeface="Arial"/>
                <a:cs typeface="Arial"/>
              </a:defRPr>
            </a:lvl1pPr>
            <a:lvl2pPr>
              <a:defRPr sz="2400" b="0">
                <a:solidFill>
                  <a:srgbClr val="153443"/>
                </a:solidFill>
                <a:latin typeface="Arial"/>
                <a:ea typeface="Arial"/>
                <a:cs typeface="Arial"/>
              </a:defRPr>
            </a:lvl2pPr>
            <a:lvl3pPr>
              <a:defRPr sz="2400" b="0">
                <a:solidFill>
                  <a:srgbClr val="153443"/>
                </a:solidFill>
                <a:latin typeface="Arial"/>
                <a:ea typeface="Arial"/>
                <a:cs typeface="Arial"/>
              </a:defRPr>
            </a:lvl3pPr>
            <a:lvl4pPr>
              <a:defRPr sz="2400" b="0">
                <a:solidFill>
                  <a:srgbClr val="153443"/>
                </a:solidFill>
                <a:latin typeface="Arial"/>
                <a:ea typeface="Arial"/>
                <a:cs typeface="Arial"/>
              </a:defRPr>
            </a:lvl4pPr>
            <a:lvl5pPr>
              <a:defRPr sz="2400" b="0">
                <a:solidFill>
                  <a:srgbClr val="153443"/>
                </a:solidFill>
                <a:latin typeface="Arial"/>
                <a:ea typeface="Arial"/>
                <a:cs typeface="Arial"/>
              </a:defRPr>
            </a:lvl5pPr>
            <a:lvl6pPr>
              <a:defRPr sz="2400" b="0">
                <a:solidFill>
                  <a:srgbClr val="153443"/>
                </a:solidFill>
                <a:latin typeface="Arial"/>
                <a:ea typeface="Arial"/>
                <a:cs typeface="Arial"/>
              </a:defRPr>
            </a:lvl6pPr>
            <a:lvl7pPr>
              <a:defRPr sz="2400" b="0">
                <a:solidFill>
                  <a:srgbClr val="153443"/>
                </a:solidFill>
                <a:latin typeface="Arial"/>
                <a:ea typeface="Arial"/>
                <a:cs typeface="Arial"/>
              </a:defRPr>
            </a:lvl7pPr>
            <a:lvl8pPr>
              <a:defRPr sz="2400" b="0">
                <a:solidFill>
                  <a:srgbClr val="153443"/>
                </a:solidFill>
                <a:latin typeface="Arial"/>
                <a:ea typeface="Arial"/>
                <a:cs typeface="Arial"/>
              </a:defRPr>
            </a:lvl8pPr>
            <a:lvl9pPr>
              <a:defRPr sz="2400" b="0">
                <a:solidFill>
                  <a:srgbClr val="153443"/>
                </a:solidFill>
                <a:latin typeface="Arial"/>
                <a:ea typeface="Arial"/>
                <a:cs typeface="Arial"/>
              </a:defRPr>
            </a:lvl9pPr>
          </a:lstStyle>
          <a:p xmlns:a="http://schemas.openxmlformats.org/drawingml/2006/main">
            <a:pPr>
              <a:defRPr sz="2400" b="0">
                <a:solidFill>
                  <a:srgbClr val="153443"/>
                </a:solidFill>
                <a:latin typeface="Arial"/>
                <a:ea typeface="Arial"/>
                <a:cs typeface="Arial"/>
              </a:defRPr>
            </a:pPr>
            <a:r>
              <a:rPr sz="2400" b="0">
                <a:solidFill>
                  <a:srgbClr val="153443"/>
                </a:solidFill>
                <a:latin typeface="Arial"/>
                <a:ea typeface="Arial"/>
                <a:cs typeface="Arial"/>
              </a:rPr>
              <a:t>h² = k₀²n₂² − β²       q² = β² − k₀²n₁²</a:t>
            </a:r>
          </a:p>
        </p:txBody>
      </p:sp>
      <p:sp>
        <p:nvSpPr>
          <p:cNvPr id="5" name="">
            <a:extLst xmlns:a="http://schemas.openxmlformats.org/drawingml/2006/main">
              <a:ext uri="{FF2B5EF4-FFF2-40B4-BE49-F238E27FC236}">
                <a16:creationId xmlns:a16="http://schemas.microsoft.com/office/drawing/2014/main" id="{F1996B90-CA80-4146-9564-ABEEF4EA8DFE}"/>
              </a:ext>
            </a:extLst>
          </p:cNvPr>
          <p:cNvSpPr>
            <a:spLocks xmlns:a="http://schemas.openxmlformats.org/drawingml/2006/main" noGrp="1"/>
          </p:cNvSpPr>
          <p:nvPr/>
        </p:nvSpPr>
        <p:spPr>
          <a:xfrm xmlns:a="http://schemas.openxmlformats.org/drawingml/2006/main">
            <a:off x="609600" y="25717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3443"/>
                </a:solidFill>
                <a:latin typeface="Arial"/>
                <a:ea typeface="Arial"/>
                <a:cs typeface="Arial"/>
              </a:defRPr>
            </a:defPPr>
            <a:lvl1pPr>
              <a:defRPr sz="2400" b="0">
                <a:solidFill>
                  <a:srgbClr val="153443"/>
                </a:solidFill>
                <a:latin typeface="Arial"/>
                <a:ea typeface="Arial"/>
                <a:cs typeface="Arial"/>
              </a:defRPr>
            </a:lvl1pPr>
            <a:lvl2pPr>
              <a:defRPr sz="2400" b="0">
                <a:solidFill>
                  <a:srgbClr val="153443"/>
                </a:solidFill>
                <a:latin typeface="Arial"/>
                <a:ea typeface="Arial"/>
                <a:cs typeface="Arial"/>
              </a:defRPr>
            </a:lvl2pPr>
            <a:lvl3pPr>
              <a:defRPr sz="2400" b="0">
                <a:solidFill>
                  <a:srgbClr val="153443"/>
                </a:solidFill>
                <a:latin typeface="Arial"/>
                <a:ea typeface="Arial"/>
                <a:cs typeface="Arial"/>
              </a:defRPr>
            </a:lvl3pPr>
            <a:lvl4pPr>
              <a:defRPr sz="2400" b="0">
                <a:solidFill>
                  <a:srgbClr val="153443"/>
                </a:solidFill>
                <a:latin typeface="Arial"/>
                <a:ea typeface="Arial"/>
                <a:cs typeface="Arial"/>
              </a:defRPr>
            </a:lvl4pPr>
            <a:lvl5pPr>
              <a:defRPr sz="2400" b="0">
                <a:solidFill>
                  <a:srgbClr val="153443"/>
                </a:solidFill>
                <a:latin typeface="Arial"/>
                <a:ea typeface="Arial"/>
                <a:cs typeface="Arial"/>
              </a:defRPr>
            </a:lvl5pPr>
            <a:lvl6pPr>
              <a:defRPr sz="2400" b="0">
                <a:solidFill>
                  <a:srgbClr val="153443"/>
                </a:solidFill>
                <a:latin typeface="Arial"/>
                <a:ea typeface="Arial"/>
                <a:cs typeface="Arial"/>
              </a:defRPr>
            </a:lvl6pPr>
            <a:lvl7pPr>
              <a:defRPr sz="2400" b="0">
                <a:solidFill>
                  <a:srgbClr val="153443"/>
                </a:solidFill>
                <a:latin typeface="Arial"/>
                <a:ea typeface="Arial"/>
                <a:cs typeface="Arial"/>
              </a:defRPr>
            </a:lvl7pPr>
            <a:lvl8pPr>
              <a:defRPr sz="2400" b="0">
                <a:solidFill>
                  <a:srgbClr val="153443"/>
                </a:solidFill>
                <a:latin typeface="Arial"/>
                <a:ea typeface="Arial"/>
                <a:cs typeface="Arial"/>
              </a:defRPr>
            </a:lvl8pPr>
            <a:lvl9pPr>
              <a:defRPr sz="2400" b="0">
                <a:solidFill>
                  <a:srgbClr val="153443"/>
                </a:solidFill>
                <a:latin typeface="Arial"/>
                <a:ea typeface="Arial"/>
                <a:cs typeface="Arial"/>
              </a:defRPr>
            </a:lvl9pPr>
          </a:lstStyle>
          <a:p xmlns:a="http://schemas.openxmlformats.org/drawingml/2006/main">
            <a:pPr>
              <a:defRPr sz="2400" b="0">
                <a:solidFill>
                  <a:srgbClr val="153443"/>
                </a:solidFill>
                <a:latin typeface="Arial"/>
                <a:ea typeface="Arial"/>
                <a:cs typeface="Arial"/>
              </a:defRPr>
            </a:pPr>
            <a:r>
              <a:rPr sz="2400" b="0">
                <a:solidFill>
                  <a:srgbClr val="153443"/>
                </a:solidFill>
                <a:latin typeface="Arial"/>
                <a:ea typeface="Arial"/>
                <a:cs typeface="Arial"/>
              </a:rPr>
              <a:t>hd = mπ + 2 arctan(q/h)</a:t>
            </a:r>
          </a:p>
        </p:txBody>
      </p:sp>
      <p:sp>
        <p:nvSpPr>
          <p:cNvPr id="6" name="">
            <a:extLst xmlns:a="http://schemas.openxmlformats.org/drawingml/2006/main">
              <a:ext uri="{FF2B5EF4-FFF2-40B4-BE49-F238E27FC236}">
                <a16:creationId xmlns:a16="http://schemas.microsoft.com/office/drawing/2014/main" id="{9C42FA20-4126-42EB-80D6-9ADE062EDFFB}"/>
              </a:ext>
            </a:extLst>
          </p:cNvPr>
          <p:cNvSpPr>
            <a:spLocks xmlns:a="http://schemas.openxmlformats.org/drawingml/2006/main" noGrp="1"/>
          </p:cNvSpPr>
          <p:nvPr/>
        </p:nvSpPr>
        <p:spPr>
          <a:xfrm xmlns:a="http://schemas.openxmlformats.org/drawingml/2006/main">
            <a:off x="609600" y="35242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3443"/>
                </a:solidFill>
                <a:latin typeface="Arial"/>
                <a:ea typeface="Arial"/>
                <a:cs typeface="Arial"/>
              </a:defRPr>
            </a:defPPr>
            <a:lvl1pPr>
              <a:defRPr sz="2400" b="0">
                <a:solidFill>
                  <a:srgbClr val="153443"/>
                </a:solidFill>
                <a:latin typeface="Arial"/>
                <a:ea typeface="Arial"/>
                <a:cs typeface="Arial"/>
              </a:defRPr>
            </a:lvl1pPr>
            <a:lvl2pPr>
              <a:defRPr sz="2400" b="0">
                <a:solidFill>
                  <a:srgbClr val="153443"/>
                </a:solidFill>
                <a:latin typeface="Arial"/>
                <a:ea typeface="Arial"/>
                <a:cs typeface="Arial"/>
              </a:defRPr>
            </a:lvl2pPr>
            <a:lvl3pPr>
              <a:defRPr sz="2400" b="0">
                <a:solidFill>
                  <a:srgbClr val="153443"/>
                </a:solidFill>
                <a:latin typeface="Arial"/>
                <a:ea typeface="Arial"/>
                <a:cs typeface="Arial"/>
              </a:defRPr>
            </a:lvl3pPr>
            <a:lvl4pPr>
              <a:defRPr sz="2400" b="0">
                <a:solidFill>
                  <a:srgbClr val="153443"/>
                </a:solidFill>
                <a:latin typeface="Arial"/>
                <a:ea typeface="Arial"/>
                <a:cs typeface="Arial"/>
              </a:defRPr>
            </a:lvl4pPr>
            <a:lvl5pPr>
              <a:defRPr sz="2400" b="0">
                <a:solidFill>
                  <a:srgbClr val="153443"/>
                </a:solidFill>
                <a:latin typeface="Arial"/>
                <a:ea typeface="Arial"/>
                <a:cs typeface="Arial"/>
              </a:defRPr>
            </a:lvl5pPr>
            <a:lvl6pPr>
              <a:defRPr sz="2400" b="0">
                <a:solidFill>
                  <a:srgbClr val="153443"/>
                </a:solidFill>
                <a:latin typeface="Arial"/>
                <a:ea typeface="Arial"/>
                <a:cs typeface="Arial"/>
              </a:defRPr>
            </a:lvl6pPr>
            <a:lvl7pPr>
              <a:defRPr sz="2400" b="0">
                <a:solidFill>
                  <a:srgbClr val="153443"/>
                </a:solidFill>
                <a:latin typeface="Arial"/>
                <a:ea typeface="Arial"/>
                <a:cs typeface="Arial"/>
              </a:defRPr>
            </a:lvl7pPr>
            <a:lvl8pPr>
              <a:defRPr sz="2400" b="0">
                <a:solidFill>
                  <a:srgbClr val="153443"/>
                </a:solidFill>
                <a:latin typeface="Arial"/>
                <a:ea typeface="Arial"/>
                <a:cs typeface="Arial"/>
              </a:defRPr>
            </a:lvl8pPr>
            <a:lvl9pPr>
              <a:defRPr sz="2400" b="0">
                <a:solidFill>
                  <a:srgbClr val="153443"/>
                </a:solidFill>
                <a:latin typeface="Arial"/>
                <a:ea typeface="Arial"/>
                <a:cs typeface="Arial"/>
              </a:defRPr>
            </a:lvl9pPr>
          </a:lstStyle>
          <a:p xmlns:a="http://schemas.openxmlformats.org/drawingml/2006/main">
            <a:pPr>
              <a:defRPr sz="2400" b="0">
                <a:solidFill>
                  <a:srgbClr val="153443"/>
                </a:solidFill>
                <a:latin typeface="Arial"/>
                <a:ea typeface="Arial"/>
                <a:cs typeface="Arial"/>
              </a:defRPr>
            </a:pPr>
            <a:r>
              <a:rPr sz="2400" b="0">
                <a:solidFill>
                  <a:srgbClr val="153443"/>
                </a:solidFill>
                <a:latin typeface="Arial"/>
                <a:ea typeface="Arial"/>
                <a:cs typeface="Arial"/>
              </a:rPr>
              <a:t>V = k₀d √(n₂² − n₁²)</a:t>
            </a:r>
          </a:p>
        </p:txBody>
      </p:sp>
      <p:sp>
        <p:nvSpPr>
          <p:cNvPr id="7" name="">
            <a:extLst xmlns:a="http://schemas.openxmlformats.org/drawingml/2006/main">
              <a:ext uri="{FF2B5EF4-FFF2-40B4-BE49-F238E27FC236}">
                <a16:creationId xmlns:a16="http://schemas.microsoft.com/office/drawing/2014/main" id="{36E0D8A6-C103-41B6-AA2B-EC2FF6826D7B}"/>
              </a:ext>
            </a:extLst>
          </p:cNvPr>
          <p:cNvSpPr>
            <a:spLocks xmlns:a="http://schemas.openxmlformats.org/drawingml/2006/main" noGrp="1"/>
          </p:cNvSpPr>
          <p:nvPr/>
        </p:nvSpPr>
        <p:spPr>
          <a:xfrm xmlns:a="http://schemas.openxmlformats.org/drawingml/2006/main">
            <a:off x="609600" y="47148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46078"/>
                </a:solidFill>
                <a:latin typeface="Arial"/>
                <a:ea typeface="Arial"/>
                <a:cs typeface="Arial"/>
              </a:defRPr>
            </a:defPPr>
            <a:lvl1pPr>
              <a:defRPr sz="2625" b="1">
                <a:solidFill>
                  <a:srgbClr val="146078"/>
                </a:solidFill>
                <a:latin typeface="Arial"/>
                <a:ea typeface="Arial"/>
                <a:cs typeface="Arial"/>
              </a:defRPr>
            </a:lvl1pPr>
            <a:lvl2pPr>
              <a:defRPr sz="2625" b="1">
                <a:solidFill>
                  <a:srgbClr val="146078"/>
                </a:solidFill>
                <a:latin typeface="Arial"/>
                <a:ea typeface="Arial"/>
                <a:cs typeface="Arial"/>
              </a:defRPr>
            </a:lvl2pPr>
            <a:lvl3pPr>
              <a:defRPr sz="2625" b="1">
                <a:solidFill>
                  <a:srgbClr val="146078"/>
                </a:solidFill>
                <a:latin typeface="Arial"/>
                <a:ea typeface="Arial"/>
                <a:cs typeface="Arial"/>
              </a:defRPr>
            </a:lvl3pPr>
            <a:lvl4pPr>
              <a:defRPr sz="2625" b="1">
                <a:solidFill>
                  <a:srgbClr val="146078"/>
                </a:solidFill>
                <a:latin typeface="Arial"/>
                <a:ea typeface="Arial"/>
                <a:cs typeface="Arial"/>
              </a:defRPr>
            </a:lvl4pPr>
            <a:lvl5pPr>
              <a:defRPr sz="2625" b="1">
                <a:solidFill>
                  <a:srgbClr val="146078"/>
                </a:solidFill>
                <a:latin typeface="Arial"/>
                <a:ea typeface="Arial"/>
                <a:cs typeface="Arial"/>
              </a:defRPr>
            </a:lvl5pPr>
            <a:lvl6pPr>
              <a:defRPr sz="2625" b="1">
                <a:solidFill>
                  <a:srgbClr val="146078"/>
                </a:solidFill>
                <a:latin typeface="Arial"/>
                <a:ea typeface="Arial"/>
                <a:cs typeface="Arial"/>
              </a:defRPr>
            </a:lvl6pPr>
            <a:lvl7pPr>
              <a:defRPr sz="2625" b="1">
                <a:solidFill>
                  <a:srgbClr val="146078"/>
                </a:solidFill>
                <a:latin typeface="Arial"/>
                <a:ea typeface="Arial"/>
                <a:cs typeface="Arial"/>
              </a:defRPr>
            </a:lvl7pPr>
            <a:lvl8pPr>
              <a:defRPr sz="2625" b="1">
                <a:solidFill>
                  <a:srgbClr val="146078"/>
                </a:solidFill>
                <a:latin typeface="Arial"/>
                <a:ea typeface="Arial"/>
                <a:cs typeface="Arial"/>
              </a:defRPr>
            </a:lvl8pPr>
            <a:lvl9pPr>
              <a:defRPr sz="2625" b="1">
                <a:solidFill>
                  <a:srgbClr val="146078"/>
                </a:solidFill>
                <a:latin typeface="Arial"/>
                <a:ea typeface="Arial"/>
                <a:cs typeface="Arial"/>
              </a:defRPr>
            </a:lvl9pPr>
          </a:lstStyle>
          <a:p xmlns:a="http://schemas.openxmlformats.org/drawingml/2006/main">
            <a:pPr>
              <a:defRPr sz="2625" b="1">
                <a:solidFill>
                  <a:srgbClr val="146078"/>
                </a:solidFill>
                <a:latin typeface="Arial"/>
                <a:ea typeface="Arial"/>
                <a:cs typeface="Arial"/>
              </a:defRPr>
            </a:pPr>
            <a:r>
              <a:rPr sz="2625" b="1">
                <a:solidFill>
                  <a:srgbClr val="146078"/>
                </a:solidFill>
                <a:latin typeface="Arial"/>
                <a:ea typeface="Arial"/>
                <a:cs typeface="Arial"/>
              </a:rPr>
              <a:t>Modus TEₘ terikat jika V &gt; mπ</a:t>
            </a:r>
          </a:p>
        </p:txBody>
      </p:sp>
      <p:sp>
        <p:nvSpPr>
          <p:cNvPr id="8" name="">
            <a:extLst xmlns:a="http://schemas.openxmlformats.org/drawingml/2006/main">
              <a:ext uri="{FF2B5EF4-FFF2-40B4-BE49-F238E27FC236}">
                <a16:creationId xmlns:a16="http://schemas.microsoft.com/office/drawing/2014/main" id="{82A4BB8E-3430-4A18-883A-178080208999}"/>
              </a:ext>
            </a:extLst>
          </p:cNvPr>
          <p:cNvSpPr>
            <a:spLocks xmlns:a="http://schemas.openxmlformats.org/drawingml/2006/main" noGrp="1"/>
          </p:cNvSpPr>
          <p:nvPr/>
        </p:nvSpPr>
        <p:spPr>
          <a:xfrm xmlns:a="http://schemas.openxmlformats.org/drawingml/2006/main">
            <a:off x="609600" y="55054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3443"/>
                </a:solidFill>
                <a:latin typeface="Arial"/>
                <a:ea typeface="Arial"/>
                <a:cs typeface="Arial"/>
              </a:defRPr>
            </a:defPPr>
            <a:lvl1pPr>
              <a:defRPr sz="1950" b="0">
                <a:solidFill>
                  <a:srgbClr val="153443"/>
                </a:solidFill>
                <a:latin typeface="Arial"/>
                <a:ea typeface="Arial"/>
                <a:cs typeface="Arial"/>
              </a:defRPr>
            </a:lvl1pPr>
            <a:lvl2pPr>
              <a:defRPr sz="1950" b="0">
                <a:solidFill>
                  <a:srgbClr val="153443"/>
                </a:solidFill>
                <a:latin typeface="Arial"/>
                <a:ea typeface="Arial"/>
                <a:cs typeface="Arial"/>
              </a:defRPr>
            </a:lvl2pPr>
            <a:lvl3pPr>
              <a:defRPr sz="1950" b="0">
                <a:solidFill>
                  <a:srgbClr val="153443"/>
                </a:solidFill>
                <a:latin typeface="Arial"/>
                <a:ea typeface="Arial"/>
                <a:cs typeface="Arial"/>
              </a:defRPr>
            </a:lvl3pPr>
            <a:lvl4pPr>
              <a:defRPr sz="1950" b="0">
                <a:solidFill>
                  <a:srgbClr val="153443"/>
                </a:solidFill>
                <a:latin typeface="Arial"/>
                <a:ea typeface="Arial"/>
                <a:cs typeface="Arial"/>
              </a:defRPr>
            </a:lvl4pPr>
            <a:lvl5pPr>
              <a:defRPr sz="1950" b="0">
                <a:solidFill>
                  <a:srgbClr val="153443"/>
                </a:solidFill>
                <a:latin typeface="Arial"/>
                <a:ea typeface="Arial"/>
                <a:cs typeface="Arial"/>
              </a:defRPr>
            </a:lvl5pPr>
            <a:lvl6pPr>
              <a:defRPr sz="1950" b="0">
                <a:solidFill>
                  <a:srgbClr val="153443"/>
                </a:solidFill>
                <a:latin typeface="Arial"/>
                <a:ea typeface="Arial"/>
                <a:cs typeface="Arial"/>
              </a:defRPr>
            </a:lvl6pPr>
            <a:lvl7pPr>
              <a:defRPr sz="1950" b="0">
                <a:solidFill>
                  <a:srgbClr val="153443"/>
                </a:solidFill>
                <a:latin typeface="Arial"/>
                <a:ea typeface="Arial"/>
                <a:cs typeface="Arial"/>
              </a:defRPr>
            </a:lvl7pPr>
            <a:lvl8pPr>
              <a:defRPr sz="1950" b="0">
                <a:solidFill>
                  <a:srgbClr val="153443"/>
                </a:solidFill>
                <a:latin typeface="Arial"/>
                <a:ea typeface="Arial"/>
                <a:cs typeface="Arial"/>
              </a:defRPr>
            </a:lvl8pPr>
            <a:lvl9pPr>
              <a:defRPr sz="1950" b="0">
                <a:solidFill>
                  <a:srgbClr val="153443"/>
                </a:solidFill>
                <a:latin typeface="Arial"/>
                <a:ea typeface="Arial"/>
                <a:cs typeface="Arial"/>
              </a:defRPr>
            </a:lvl9pPr>
          </a:lstStyle>
          <a:p xmlns:a="http://schemas.openxmlformats.org/drawingml/2006/main">
            <a:pPr>
              <a:defRPr sz="1950" b="0">
                <a:solidFill>
                  <a:srgbClr val="153443"/>
                </a:solidFill>
                <a:latin typeface="Arial"/>
                <a:ea typeface="Arial"/>
                <a:cs typeface="Arial"/>
              </a:defRPr>
            </a:pPr>
            <a:r>
              <a:rPr sz="1950" b="0">
                <a:solidFill>
                  <a:srgbClr val="153443"/>
                </a:solidFill>
                <a:latin typeface="Arial"/>
                <a:ea typeface="Arial"/>
                <a:cs typeface="Arial"/>
              </a:rPr>
              <a:t>0 &lt; V ≤ π: hanya TE₀ pada slab simetris ideal</a:t>
            </a:r>
          </a:p>
        </p:txBody>
      </p:sp>
    </p:spTree>
    <p:extLst>
      <p:ext uri="{BB962C8B-B14F-4D97-AF65-F5344CB8AC3E}">
        <p14:creationId xmlns:p14="http://schemas.microsoft.com/office/powerpoint/2010/main" val="19273013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1B80CE-3FBF-434C-8FED-D505FFCBB2EA}"/>
              </a:ext>
            </a:extLst>
          </p:cNvPr>
          <p:cNvSpPr>
            <a:spLocks xmlns:a="http://schemas.openxmlformats.org/drawingml/2006/main" noGrp="1"/>
          </p:cNvSpPr>
          <p:nvPr/>
        </p:nvSpPr>
        <p:spPr>
          <a:xfrm xmlns:a="http://schemas.openxmlformats.org/drawingml/2006/main">
            <a:off x="609600" y="3810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443"/>
                </a:solidFill>
                <a:latin typeface="Arial"/>
                <a:ea typeface="Arial"/>
                <a:cs typeface="Arial"/>
              </a:defRPr>
            </a:defPPr>
            <a:lvl1pPr>
              <a:defRPr sz="3225" b="1">
                <a:solidFill>
                  <a:srgbClr val="153443"/>
                </a:solidFill>
                <a:latin typeface="Arial"/>
                <a:ea typeface="Arial"/>
                <a:cs typeface="Arial"/>
              </a:defRPr>
            </a:lvl1pPr>
            <a:lvl2pPr>
              <a:defRPr sz="3225" b="1">
                <a:solidFill>
                  <a:srgbClr val="153443"/>
                </a:solidFill>
                <a:latin typeface="Arial"/>
                <a:ea typeface="Arial"/>
                <a:cs typeface="Arial"/>
              </a:defRPr>
            </a:lvl2pPr>
            <a:lvl3pPr>
              <a:defRPr sz="3225" b="1">
                <a:solidFill>
                  <a:srgbClr val="153443"/>
                </a:solidFill>
                <a:latin typeface="Arial"/>
                <a:ea typeface="Arial"/>
                <a:cs typeface="Arial"/>
              </a:defRPr>
            </a:lvl3pPr>
            <a:lvl4pPr>
              <a:defRPr sz="3225" b="1">
                <a:solidFill>
                  <a:srgbClr val="153443"/>
                </a:solidFill>
                <a:latin typeface="Arial"/>
                <a:ea typeface="Arial"/>
                <a:cs typeface="Arial"/>
              </a:defRPr>
            </a:lvl4pPr>
            <a:lvl5pPr>
              <a:defRPr sz="3225" b="1">
                <a:solidFill>
                  <a:srgbClr val="153443"/>
                </a:solidFill>
                <a:latin typeface="Arial"/>
                <a:ea typeface="Arial"/>
                <a:cs typeface="Arial"/>
              </a:defRPr>
            </a:lvl5pPr>
            <a:lvl6pPr>
              <a:defRPr sz="3225" b="1">
                <a:solidFill>
                  <a:srgbClr val="153443"/>
                </a:solidFill>
                <a:latin typeface="Arial"/>
                <a:ea typeface="Arial"/>
                <a:cs typeface="Arial"/>
              </a:defRPr>
            </a:lvl6pPr>
            <a:lvl7pPr>
              <a:defRPr sz="3225" b="1">
                <a:solidFill>
                  <a:srgbClr val="153443"/>
                </a:solidFill>
                <a:latin typeface="Arial"/>
                <a:ea typeface="Arial"/>
                <a:cs typeface="Arial"/>
              </a:defRPr>
            </a:lvl7pPr>
            <a:lvl8pPr>
              <a:defRPr sz="3225" b="1">
                <a:solidFill>
                  <a:srgbClr val="153443"/>
                </a:solidFill>
                <a:latin typeface="Arial"/>
                <a:ea typeface="Arial"/>
                <a:cs typeface="Arial"/>
              </a:defRPr>
            </a:lvl8pPr>
            <a:lvl9pPr>
              <a:defRPr sz="3225" b="1">
                <a:solidFill>
                  <a:srgbClr val="153443"/>
                </a:solidFill>
                <a:latin typeface="Arial"/>
                <a:ea typeface="Arial"/>
                <a:cs typeface="Arial"/>
              </a:defRPr>
            </a:lvl9pPr>
          </a:lstStyle>
          <a:p xmlns:a="http://schemas.openxmlformats.org/drawingml/2006/main">
            <a:pPr>
              <a:defRPr sz="3225" b="1">
                <a:solidFill>
                  <a:srgbClr val="153443"/>
                </a:solidFill>
                <a:latin typeface="Arial"/>
                <a:ea typeface="Arial"/>
                <a:cs typeface="Arial"/>
              </a:defRPr>
            </a:pPr>
            <a:r>
              <a:rPr sz="3225" b="1">
                <a:solidFill>
                  <a:srgbClr val="153443"/>
                </a:solidFill>
                <a:latin typeface="Arial"/>
                <a:ea typeface="Arial"/>
                <a:cs typeface="Arial"/>
              </a:rPr>
              <a:t>Kopling dan perturbasi pada Bab 4</a:t>
            </a:r>
          </a:p>
        </p:txBody>
      </p:sp>
      <p:sp>
        <p:nvSpPr>
          <p:cNvPr id="2" name="">
            <a:extLst xmlns:a="http://schemas.openxmlformats.org/drawingml/2006/main">
              <a:ext uri="{FF2B5EF4-FFF2-40B4-BE49-F238E27FC236}">
                <a16:creationId xmlns:a16="http://schemas.microsoft.com/office/drawing/2014/main" id="{6C7E3D39-8D9C-49C1-AAB3-F07C50FFF4E4}"/>
              </a:ext>
            </a:extLst>
          </p:cNvPr>
          <p:cNvSpPr>
            <a:spLocks xmlns:a="http://schemas.openxmlformats.org/drawingml/2006/main" noGrp="1"/>
          </p:cNvSpPr>
          <p:nvPr/>
        </p:nvSpPr>
        <p:spPr>
          <a:xfrm xmlns:a="http://schemas.openxmlformats.org/drawingml/2006/main">
            <a:off x="609600" y="63817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OPTIK MODERN  ·  PENUGASAN 1</a:t>
            </a:r>
          </a:p>
        </p:txBody>
      </p:sp>
      <p:sp>
        <p:nvSpPr>
          <p:cNvPr id="3" name="">
            <a:extLst xmlns:a="http://schemas.openxmlformats.org/drawingml/2006/main">
              <a:ext uri="{FF2B5EF4-FFF2-40B4-BE49-F238E27FC236}">
                <a16:creationId xmlns:a16="http://schemas.microsoft.com/office/drawing/2014/main" id="{FF798941-631A-43BB-9ADE-1C7DBB18A836}"/>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3CA3E139-3E30-46DA-B360-5F417D24F390}"/>
              </a:ext>
            </a:extLst>
          </p:cNvPr>
          <p:cNvSpPr>
            <a:spLocks xmlns:a="http://schemas.openxmlformats.org/drawingml/2006/main" noGrp="1"/>
          </p:cNvSpPr>
          <p:nvPr/>
        </p:nvSpPr>
        <p:spPr>
          <a:xfrm xmlns:a="http://schemas.openxmlformats.org/drawingml/2006/main">
            <a:off x="609600" y="1571625"/>
            <a:ext cx="10668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443"/>
                </a:solidFill>
                <a:latin typeface="Arial"/>
                <a:ea typeface="Arial"/>
                <a:cs typeface="Arial"/>
              </a:defRPr>
            </a:defPPr>
            <a:lvl1pPr>
              <a:defRPr sz="2100" b="0">
                <a:solidFill>
                  <a:srgbClr val="153443"/>
                </a:solidFill>
                <a:latin typeface="Arial"/>
                <a:ea typeface="Arial"/>
                <a:cs typeface="Arial"/>
              </a:defRPr>
            </a:lvl1pPr>
            <a:lvl2pPr>
              <a:defRPr sz="2100" b="0">
                <a:solidFill>
                  <a:srgbClr val="153443"/>
                </a:solidFill>
                <a:latin typeface="Arial"/>
                <a:ea typeface="Arial"/>
                <a:cs typeface="Arial"/>
              </a:defRPr>
            </a:lvl2pPr>
            <a:lvl3pPr>
              <a:defRPr sz="2100" b="0">
                <a:solidFill>
                  <a:srgbClr val="153443"/>
                </a:solidFill>
                <a:latin typeface="Arial"/>
                <a:ea typeface="Arial"/>
                <a:cs typeface="Arial"/>
              </a:defRPr>
            </a:lvl3pPr>
            <a:lvl4pPr>
              <a:defRPr sz="2100" b="0">
                <a:solidFill>
                  <a:srgbClr val="153443"/>
                </a:solidFill>
                <a:latin typeface="Arial"/>
                <a:ea typeface="Arial"/>
                <a:cs typeface="Arial"/>
              </a:defRPr>
            </a:lvl4pPr>
            <a:lvl5pPr>
              <a:defRPr sz="2100" b="0">
                <a:solidFill>
                  <a:srgbClr val="153443"/>
                </a:solidFill>
                <a:latin typeface="Arial"/>
                <a:ea typeface="Arial"/>
                <a:cs typeface="Arial"/>
              </a:defRPr>
            </a:lvl5pPr>
            <a:lvl6pPr>
              <a:defRPr sz="2100" b="0">
                <a:solidFill>
                  <a:srgbClr val="153443"/>
                </a:solidFill>
                <a:latin typeface="Arial"/>
                <a:ea typeface="Arial"/>
                <a:cs typeface="Arial"/>
              </a:defRPr>
            </a:lvl6pPr>
            <a:lvl7pPr>
              <a:defRPr sz="2100" b="0">
                <a:solidFill>
                  <a:srgbClr val="153443"/>
                </a:solidFill>
                <a:latin typeface="Arial"/>
                <a:ea typeface="Arial"/>
                <a:cs typeface="Arial"/>
              </a:defRPr>
            </a:lvl7pPr>
            <a:lvl8pPr>
              <a:defRPr sz="2100" b="0">
                <a:solidFill>
                  <a:srgbClr val="153443"/>
                </a:solidFill>
                <a:latin typeface="Arial"/>
                <a:ea typeface="Arial"/>
                <a:cs typeface="Arial"/>
              </a:defRPr>
            </a:lvl8pPr>
            <a:lvl9pPr>
              <a:defRPr sz="2100" b="0">
                <a:solidFill>
                  <a:srgbClr val="153443"/>
                </a:solidFill>
                <a:latin typeface="Arial"/>
                <a:ea typeface="Arial"/>
                <a:cs typeface="Arial"/>
              </a:defRPr>
            </a:lvl9pPr>
          </a:lstStyle>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Kopling prisma</a:t>
            </a:r>
          </a:p>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Komponen vektor gelombang sejajar antarmuka harus cocok dengan β modus.</a:t>
            </a:r>
          </a:p>
        </p:txBody>
      </p:sp>
      <p:sp>
        <p:nvSpPr>
          <p:cNvPr id="5" name="">
            <a:extLst xmlns:a="http://schemas.openxmlformats.org/drawingml/2006/main">
              <a:ext uri="{FF2B5EF4-FFF2-40B4-BE49-F238E27FC236}">
                <a16:creationId xmlns:a16="http://schemas.microsoft.com/office/drawing/2014/main" id="{61048F6E-350F-453F-93C7-47E3017A8F9D}"/>
              </a:ext>
            </a:extLst>
          </p:cNvPr>
          <p:cNvSpPr>
            <a:spLocks xmlns:a="http://schemas.openxmlformats.org/drawingml/2006/main" noGrp="1"/>
          </p:cNvSpPr>
          <p:nvPr/>
        </p:nvSpPr>
        <p:spPr>
          <a:xfrm xmlns:a="http://schemas.openxmlformats.org/drawingml/2006/main">
            <a:off x="609600" y="2952750"/>
            <a:ext cx="10668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443"/>
                </a:solidFill>
                <a:latin typeface="Arial"/>
                <a:ea typeface="Arial"/>
                <a:cs typeface="Arial"/>
              </a:defRPr>
            </a:defPPr>
            <a:lvl1pPr>
              <a:defRPr sz="2100" b="0">
                <a:solidFill>
                  <a:srgbClr val="153443"/>
                </a:solidFill>
                <a:latin typeface="Arial"/>
                <a:ea typeface="Arial"/>
                <a:cs typeface="Arial"/>
              </a:defRPr>
            </a:lvl1pPr>
            <a:lvl2pPr>
              <a:defRPr sz="2100" b="0">
                <a:solidFill>
                  <a:srgbClr val="153443"/>
                </a:solidFill>
                <a:latin typeface="Arial"/>
                <a:ea typeface="Arial"/>
                <a:cs typeface="Arial"/>
              </a:defRPr>
            </a:lvl2pPr>
            <a:lvl3pPr>
              <a:defRPr sz="2100" b="0">
                <a:solidFill>
                  <a:srgbClr val="153443"/>
                </a:solidFill>
                <a:latin typeface="Arial"/>
                <a:ea typeface="Arial"/>
                <a:cs typeface="Arial"/>
              </a:defRPr>
            </a:lvl3pPr>
            <a:lvl4pPr>
              <a:defRPr sz="2100" b="0">
                <a:solidFill>
                  <a:srgbClr val="153443"/>
                </a:solidFill>
                <a:latin typeface="Arial"/>
                <a:ea typeface="Arial"/>
                <a:cs typeface="Arial"/>
              </a:defRPr>
            </a:lvl4pPr>
            <a:lvl5pPr>
              <a:defRPr sz="2100" b="0">
                <a:solidFill>
                  <a:srgbClr val="153443"/>
                </a:solidFill>
                <a:latin typeface="Arial"/>
                <a:ea typeface="Arial"/>
                <a:cs typeface="Arial"/>
              </a:defRPr>
            </a:lvl5pPr>
            <a:lvl6pPr>
              <a:defRPr sz="2100" b="0">
                <a:solidFill>
                  <a:srgbClr val="153443"/>
                </a:solidFill>
                <a:latin typeface="Arial"/>
                <a:ea typeface="Arial"/>
                <a:cs typeface="Arial"/>
              </a:defRPr>
            </a:lvl6pPr>
            <a:lvl7pPr>
              <a:defRPr sz="2100" b="0">
                <a:solidFill>
                  <a:srgbClr val="153443"/>
                </a:solidFill>
                <a:latin typeface="Arial"/>
                <a:ea typeface="Arial"/>
                <a:cs typeface="Arial"/>
              </a:defRPr>
            </a:lvl7pPr>
            <a:lvl8pPr>
              <a:defRPr sz="2100" b="0">
                <a:solidFill>
                  <a:srgbClr val="153443"/>
                </a:solidFill>
                <a:latin typeface="Arial"/>
                <a:ea typeface="Arial"/>
                <a:cs typeface="Arial"/>
              </a:defRPr>
            </a:lvl8pPr>
            <a:lvl9pPr>
              <a:defRPr sz="2100" b="0">
                <a:solidFill>
                  <a:srgbClr val="153443"/>
                </a:solidFill>
                <a:latin typeface="Arial"/>
                <a:ea typeface="Arial"/>
                <a:cs typeface="Arial"/>
              </a:defRPr>
            </a:lvl9pPr>
          </a:lstStyle>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Pandu terkubur</a:t>
            </a:r>
          </a:p>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Pendekatan indeks efektif menggabungkan pembatasan pada dua arah.</a:t>
            </a:r>
          </a:p>
        </p:txBody>
      </p:sp>
      <p:sp>
        <p:nvSpPr>
          <p:cNvPr id="6" name="">
            <a:extLst xmlns:a="http://schemas.openxmlformats.org/drawingml/2006/main">
              <a:ext uri="{FF2B5EF4-FFF2-40B4-BE49-F238E27FC236}">
                <a16:creationId xmlns:a16="http://schemas.microsoft.com/office/drawing/2014/main" id="{2E3DC214-C107-47FB-AA54-1E1CE64745BC}"/>
              </a:ext>
            </a:extLst>
          </p:cNvPr>
          <p:cNvSpPr>
            <a:spLocks xmlns:a="http://schemas.openxmlformats.org/drawingml/2006/main" noGrp="1"/>
          </p:cNvSpPr>
          <p:nvPr/>
        </p:nvSpPr>
        <p:spPr>
          <a:xfrm xmlns:a="http://schemas.openxmlformats.org/drawingml/2006/main">
            <a:off x="609600" y="4333875"/>
            <a:ext cx="10668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443"/>
                </a:solidFill>
                <a:latin typeface="Arial"/>
                <a:ea typeface="Arial"/>
                <a:cs typeface="Arial"/>
              </a:defRPr>
            </a:defPPr>
            <a:lvl1pPr>
              <a:defRPr sz="2100" b="0">
                <a:solidFill>
                  <a:srgbClr val="153443"/>
                </a:solidFill>
                <a:latin typeface="Arial"/>
                <a:ea typeface="Arial"/>
                <a:cs typeface="Arial"/>
              </a:defRPr>
            </a:lvl1pPr>
            <a:lvl2pPr>
              <a:defRPr sz="2100" b="0">
                <a:solidFill>
                  <a:srgbClr val="153443"/>
                </a:solidFill>
                <a:latin typeface="Arial"/>
                <a:ea typeface="Arial"/>
                <a:cs typeface="Arial"/>
              </a:defRPr>
            </a:lvl2pPr>
            <a:lvl3pPr>
              <a:defRPr sz="2100" b="0">
                <a:solidFill>
                  <a:srgbClr val="153443"/>
                </a:solidFill>
                <a:latin typeface="Arial"/>
                <a:ea typeface="Arial"/>
                <a:cs typeface="Arial"/>
              </a:defRPr>
            </a:lvl3pPr>
            <a:lvl4pPr>
              <a:defRPr sz="2100" b="0">
                <a:solidFill>
                  <a:srgbClr val="153443"/>
                </a:solidFill>
                <a:latin typeface="Arial"/>
                <a:ea typeface="Arial"/>
                <a:cs typeface="Arial"/>
              </a:defRPr>
            </a:lvl4pPr>
            <a:lvl5pPr>
              <a:defRPr sz="2100" b="0">
                <a:solidFill>
                  <a:srgbClr val="153443"/>
                </a:solidFill>
                <a:latin typeface="Arial"/>
                <a:ea typeface="Arial"/>
                <a:cs typeface="Arial"/>
              </a:defRPr>
            </a:lvl5pPr>
            <a:lvl6pPr>
              <a:defRPr sz="2100" b="0">
                <a:solidFill>
                  <a:srgbClr val="153443"/>
                </a:solidFill>
                <a:latin typeface="Arial"/>
                <a:ea typeface="Arial"/>
                <a:cs typeface="Arial"/>
              </a:defRPr>
            </a:lvl6pPr>
            <a:lvl7pPr>
              <a:defRPr sz="2100" b="0">
                <a:solidFill>
                  <a:srgbClr val="153443"/>
                </a:solidFill>
                <a:latin typeface="Arial"/>
                <a:ea typeface="Arial"/>
                <a:cs typeface="Arial"/>
              </a:defRPr>
            </a:lvl7pPr>
            <a:lvl8pPr>
              <a:defRPr sz="2100" b="0">
                <a:solidFill>
                  <a:srgbClr val="153443"/>
                </a:solidFill>
                <a:latin typeface="Arial"/>
                <a:ea typeface="Arial"/>
                <a:cs typeface="Arial"/>
              </a:defRPr>
            </a:lvl8pPr>
            <a:lvl9pPr>
              <a:defRPr sz="2100" b="0">
                <a:solidFill>
                  <a:srgbClr val="153443"/>
                </a:solidFill>
                <a:latin typeface="Arial"/>
                <a:ea typeface="Arial"/>
                <a:cs typeface="Arial"/>
              </a:defRPr>
            </a:lvl9pPr>
          </a:lstStyle>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Perturbasi dielektrik</a:t>
            </a:r>
          </a:p>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Perubahan permitivitas dan tumpang tindih medan memunculkan kopling.</a:t>
            </a:r>
          </a:p>
        </p:txBody>
      </p:sp>
    </p:spTree>
    <p:extLst>
      <p:ext uri="{BB962C8B-B14F-4D97-AF65-F5344CB8AC3E}">
        <p14:creationId xmlns:p14="http://schemas.microsoft.com/office/powerpoint/2010/main" val="17852697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ED014FE-8097-4399-824C-51203F643A27}"/>
              </a:ext>
            </a:extLst>
          </p:cNvPr>
          <p:cNvSpPr>
            <a:spLocks xmlns:a="http://schemas.openxmlformats.org/drawingml/2006/main" noGrp="1"/>
          </p:cNvSpPr>
          <p:nvPr/>
        </p:nvSpPr>
        <p:spPr>
          <a:xfrm xmlns:a="http://schemas.openxmlformats.org/drawingml/2006/main">
            <a:off x="609600" y="3810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443"/>
                </a:solidFill>
                <a:latin typeface="Arial"/>
                <a:ea typeface="Arial"/>
                <a:cs typeface="Arial"/>
              </a:defRPr>
            </a:defPPr>
            <a:lvl1pPr>
              <a:defRPr sz="3225" b="1">
                <a:solidFill>
                  <a:srgbClr val="153443"/>
                </a:solidFill>
                <a:latin typeface="Arial"/>
                <a:ea typeface="Arial"/>
                <a:cs typeface="Arial"/>
              </a:defRPr>
            </a:lvl1pPr>
            <a:lvl2pPr>
              <a:defRPr sz="3225" b="1">
                <a:solidFill>
                  <a:srgbClr val="153443"/>
                </a:solidFill>
                <a:latin typeface="Arial"/>
                <a:ea typeface="Arial"/>
                <a:cs typeface="Arial"/>
              </a:defRPr>
            </a:lvl2pPr>
            <a:lvl3pPr>
              <a:defRPr sz="3225" b="1">
                <a:solidFill>
                  <a:srgbClr val="153443"/>
                </a:solidFill>
                <a:latin typeface="Arial"/>
                <a:ea typeface="Arial"/>
                <a:cs typeface="Arial"/>
              </a:defRPr>
            </a:lvl3pPr>
            <a:lvl4pPr>
              <a:defRPr sz="3225" b="1">
                <a:solidFill>
                  <a:srgbClr val="153443"/>
                </a:solidFill>
                <a:latin typeface="Arial"/>
                <a:ea typeface="Arial"/>
                <a:cs typeface="Arial"/>
              </a:defRPr>
            </a:lvl4pPr>
            <a:lvl5pPr>
              <a:defRPr sz="3225" b="1">
                <a:solidFill>
                  <a:srgbClr val="153443"/>
                </a:solidFill>
                <a:latin typeface="Arial"/>
                <a:ea typeface="Arial"/>
                <a:cs typeface="Arial"/>
              </a:defRPr>
            </a:lvl5pPr>
            <a:lvl6pPr>
              <a:defRPr sz="3225" b="1">
                <a:solidFill>
                  <a:srgbClr val="153443"/>
                </a:solidFill>
                <a:latin typeface="Arial"/>
                <a:ea typeface="Arial"/>
                <a:cs typeface="Arial"/>
              </a:defRPr>
            </a:lvl6pPr>
            <a:lvl7pPr>
              <a:defRPr sz="3225" b="1">
                <a:solidFill>
                  <a:srgbClr val="153443"/>
                </a:solidFill>
                <a:latin typeface="Arial"/>
                <a:ea typeface="Arial"/>
                <a:cs typeface="Arial"/>
              </a:defRPr>
            </a:lvl7pPr>
            <a:lvl8pPr>
              <a:defRPr sz="3225" b="1">
                <a:solidFill>
                  <a:srgbClr val="153443"/>
                </a:solidFill>
                <a:latin typeface="Arial"/>
                <a:ea typeface="Arial"/>
                <a:cs typeface="Arial"/>
              </a:defRPr>
            </a:lvl8pPr>
            <a:lvl9pPr>
              <a:defRPr sz="3225" b="1">
                <a:solidFill>
                  <a:srgbClr val="153443"/>
                </a:solidFill>
                <a:latin typeface="Arial"/>
                <a:ea typeface="Arial"/>
                <a:cs typeface="Arial"/>
              </a:defRPr>
            </a:lvl9pPr>
          </a:lstStyle>
          <a:p xmlns:a="http://schemas.openxmlformats.org/drawingml/2006/main">
            <a:pPr>
              <a:defRPr sz="3225" b="1">
                <a:solidFill>
                  <a:srgbClr val="153443"/>
                </a:solidFill>
                <a:latin typeface="Arial"/>
                <a:ea typeface="Arial"/>
                <a:cs typeface="Arial"/>
              </a:defRPr>
            </a:pPr>
            <a:r>
              <a:rPr sz="3225" b="1">
                <a:solidFill>
                  <a:srgbClr val="153443"/>
                </a:solidFill>
                <a:latin typeface="Arial"/>
                <a:ea typeface="Arial"/>
                <a:cs typeface="Arial"/>
              </a:rPr>
              <a:t>Parameter simulasi</a:t>
            </a:r>
          </a:p>
        </p:txBody>
      </p:sp>
      <p:sp>
        <p:nvSpPr>
          <p:cNvPr id="2" name="">
            <a:extLst xmlns:a="http://schemas.openxmlformats.org/drawingml/2006/main">
              <a:ext uri="{FF2B5EF4-FFF2-40B4-BE49-F238E27FC236}">
                <a16:creationId xmlns:a16="http://schemas.microsoft.com/office/drawing/2014/main" id="{CB031C90-C2BD-4B68-BE7A-214075F0AEDE}"/>
              </a:ext>
            </a:extLst>
          </p:cNvPr>
          <p:cNvSpPr>
            <a:spLocks xmlns:a="http://schemas.openxmlformats.org/drawingml/2006/main" noGrp="1"/>
          </p:cNvSpPr>
          <p:nvPr/>
        </p:nvSpPr>
        <p:spPr>
          <a:xfrm xmlns:a="http://schemas.openxmlformats.org/drawingml/2006/main">
            <a:off x="609600" y="63817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OPTIK MODERN  ·  PENUGASAN 1</a:t>
            </a:r>
          </a:p>
        </p:txBody>
      </p:sp>
      <p:sp>
        <p:nvSpPr>
          <p:cNvPr id="3" name="">
            <a:extLst xmlns:a="http://schemas.openxmlformats.org/drawingml/2006/main">
              <a:ext uri="{FF2B5EF4-FFF2-40B4-BE49-F238E27FC236}">
                <a16:creationId xmlns:a16="http://schemas.microsoft.com/office/drawing/2014/main" id="{DF449AD8-6BE4-4EB1-8473-235568EF6B1D}"/>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19E9D945-8586-45AE-8B87-A5297F1603FE}"/>
              </a:ext>
            </a:extLst>
          </p:cNvPr>
          <p:cNvGraphicFramePr/>
          <p:nvPr/>
        </p:nvGraphicFramePr>
        <p:xfrm>
          <a:off xmlns:a="http://schemas.openxmlformats.org/drawingml/2006/main" x="609600" y="1571625"/>
          <a:ext xmlns:a="http://schemas.openxmlformats.org/drawingml/2006/main" cx="10972800" cy="3524250"/>
        </p:xfrm>
        <a:graphic xmlns:a="http://schemas.openxmlformats.org/drawingml/2006/main">
          <a:graphicData uri="http://schemas.openxmlformats.org/drawingml/2006/table">
            <a:tbl>
              <a:tblPr/>
              <a:tblGrid>
                <a:gridCol w="3333750"/>
                <a:gridCol w="3333750"/>
                <a:gridCol w="4305300"/>
              </a:tblGrid>
              <a:tr h="587375">
                <a:tc>
                  <a:txBody>
                    <a:bodyPr/>
                    <a:lstStyle/>
                    <a:p>
                      <a:r>
                        <a:rPr sz="1800" b="1">
                          <a:solidFill>
                            <a:srgbClr val="153443"/>
                          </a:solidFill>
                          <a:latin typeface="Arial"/>
                          <a:ea typeface="Arial"/>
                          <a:cs typeface="Arial"/>
                        </a:rPr>
                        <a:t>Parameter</a:t>
                      </a:r>
                    </a:p>
                  </a:txBody>
                  <a:tcPr marL="91440" marR="91440" marT="45720" marB="45720">
                    <a:solidFill>
                      <a:srgbClr val="E5EFF3"/>
                    </a:solidFill>
                  </a:tcPr>
                </a:tc>
                <a:tc>
                  <a:txBody>
                    <a:bodyPr/>
                    <a:lstStyle/>
                    <a:p>
                      <a:r>
                        <a:rPr sz="1800" b="1">
                          <a:solidFill>
                            <a:srgbClr val="153443"/>
                          </a:solidFill>
                          <a:latin typeface="Arial"/>
                          <a:ea typeface="Arial"/>
                          <a:cs typeface="Arial"/>
                        </a:rPr>
                        <a:t>Nilai</a:t>
                      </a:r>
                    </a:p>
                  </a:txBody>
                  <a:tcPr marL="91440" marR="91440" marT="45720" marB="45720">
                    <a:solidFill>
                      <a:srgbClr val="E5EFF3"/>
                    </a:solidFill>
                  </a:tcPr>
                </a:tc>
                <a:tc>
                  <a:txBody>
                    <a:bodyPr/>
                    <a:lstStyle/>
                    <a:p>
                      <a:r>
                        <a:rPr sz="1800" b="1">
                          <a:solidFill>
                            <a:srgbClr val="153443"/>
                          </a:solidFill>
                          <a:latin typeface="Arial"/>
                          <a:ea typeface="Arial"/>
                          <a:cs typeface="Arial"/>
                        </a:rPr>
                        <a:t>Peran</a:t>
                      </a:r>
                    </a:p>
                  </a:txBody>
                  <a:tcPr marL="91440" marR="91440" marT="45720" marB="45720">
                    <a:solidFill>
                      <a:srgbClr val="E5EFF3"/>
                    </a:solidFill>
                  </a:tcPr>
                </a:tc>
              </a:tr>
              <a:tr h="587375">
                <a:tc>
                  <a:txBody>
                    <a:bodyPr/>
                    <a:lstStyle/>
                    <a:p>
                      <a:r>
                        <a:rPr sz="1800" b="0">
                          <a:solidFill>
                            <a:srgbClr val="153443"/>
                          </a:solidFill>
                          <a:latin typeface="Arial"/>
                          <a:ea typeface="Arial"/>
                          <a:cs typeface="Arial"/>
                        </a:rPr>
                        <a:t>Indeks teras dan selubung</a:t>
                      </a:r>
                    </a:p>
                  </a:txBody>
                  <a:tcPr marL="91440" marR="91440" marT="45720" marB="45720">
                    <a:solidFill>
                      <a:srgbClr val="FFFFFF"/>
                    </a:solidFill>
                  </a:tcPr>
                </a:tc>
                <a:tc>
                  <a:txBody>
                    <a:bodyPr/>
                    <a:lstStyle/>
                    <a:p>
                      <a:r>
                        <a:rPr sz="1800" b="0">
                          <a:solidFill>
                            <a:srgbClr val="153443"/>
                          </a:solidFill>
                          <a:latin typeface="Arial"/>
                          <a:ea typeface="Arial"/>
                          <a:cs typeface="Arial"/>
                        </a:rPr>
                        <a:t>1,51 dan 1,50</a:t>
                      </a:r>
                    </a:p>
                  </a:txBody>
                  <a:tcPr marL="91440" marR="91440" marT="45720" marB="45720">
                    <a:solidFill>
                      <a:srgbClr val="FFFFFF"/>
                    </a:solidFill>
                  </a:tcPr>
                </a:tc>
                <a:tc>
                  <a:txBody>
                    <a:bodyPr/>
                    <a:lstStyle/>
                    <a:p>
                      <a:r>
                        <a:rPr sz="1800" b="0">
                          <a:solidFill>
                            <a:srgbClr val="153443"/>
                          </a:solidFill>
                          <a:latin typeface="Arial"/>
                          <a:ea typeface="Arial"/>
                          <a:cs typeface="Arial"/>
                        </a:rPr>
                        <a:t>Kontras indeks kecil</a:t>
                      </a:r>
                    </a:p>
                  </a:txBody>
                  <a:tcPr marL="91440" marR="91440" marT="45720" marB="45720">
                    <a:solidFill>
                      <a:srgbClr val="FFFFFF"/>
                    </a:solidFill>
                  </a:tcPr>
                </a:tc>
              </a:tr>
              <a:tr h="587375">
                <a:tc>
                  <a:txBody>
                    <a:bodyPr/>
                    <a:lstStyle/>
                    <a:p>
                      <a:r>
                        <a:rPr sz="1800" b="0">
                          <a:solidFill>
                            <a:srgbClr val="153443"/>
                          </a:solidFill>
                          <a:latin typeface="Arial"/>
                          <a:ea typeface="Arial"/>
                          <a:cs typeface="Arial"/>
                        </a:rPr>
                        <a:t>Ketebalan teras d</a:t>
                      </a:r>
                    </a:p>
                  </a:txBody>
                  <a:tcPr marL="91440" marR="91440" marT="45720" marB="45720">
                    <a:solidFill>
                      <a:srgbClr val="FFFFFF"/>
                    </a:solidFill>
                  </a:tcPr>
                </a:tc>
                <a:tc>
                  <a:txBody>
                    <a:bodyPr/>
                    <a:lstStyle/>
                    <a:p>
                      <a:r>
                        <a:rPr sz="1800" b="0">
                          <a:solidFill>
                            <a:srgbClr val="153443"/>
                          </a:solidFill>
                          <a:latin typeface="Arial"/>
                          <a:ea typeface="Arial"/>
                          <a:cs typeface="Arial"/>
                        </a:rPr>
                        <a:t>2 µm</a:t>
                      </a:r>
                    </a:p>
                  </a:txBody>
                  <a:tcPr marL="91440" marR="91440" marT="45720" marB="45720">
                    <a:solidFill>
                      <a:srgbClr val="FFFFFF"/>
                    </a:solidFill>
                  </a:tcPr>
                </a:tc>
                <a:tc>
                  <a:txBody>
                    <a:bodyPr/>
                    <a:lstStyle/>
                    <a:p>
                      <a:r>
                        <a:rPr sz="1800" b="0">
                          <a:solidFill>
                            <a:srgbClr val="153443"/>
                          </a:solidFill>
                          <a:latin typeface="Arial"/>
                          <a:ea typeface="Arial"/>
                          <a:cs typeface="Arial"/>
                        </a:rPr>
                        <a:t>Acuan single mode TE</a:t>
                      </a:r>
                    </a:p>
                  </a:txBody>
                  <a:tcPr marL="91440" marR="91440" marT="45720" marB="45720">
                    <a:solidFill>
                      <a:srgbClr val="FFFFFF"/>
                    </a:solidFill>
                  </a:tcPr>
                </a:tc>
              </a:tr>
              <a:tr h="587375">
                <a:tc>
                  <a:txBody>
                    <a:bodyPr/>
                    <a:lstStyle/>
                    <a:p>
                      <a:r>
                        <a:rPr sz="1800" b="0">
                          <a:solidFill>
                            <a:srgbClr val="153443"/>
                          </a:solidFill>
                          <a:latin typeface="Arial"/>
                          <a:ea typeface="Arial"/>
                          <a:cs typeface="Arial"/>
                        </a:rPr>
                        <a:t>Panjang gelombang λ</a:t>
                      </a:r>
                    </a:p>
                  </a:txBody>
                  <a:tcPr marL="91440" marR="91440" marT="45720" marB="45720">
                    <a:solidFill>
                      <a:srgbClr val="FFFFFF"/>
                    </a:solidFill>
                  </a:tcPr>
                </a:tc>
                <a:tc>
                  <a:txBody>
                    <a:bodyPr/>
                    <a:lstStyle/>
                    <a:p>
                      <a:r>
                        <a:rPr sz="1800" b="0">
                          <a:solidFill>
                            <a:srgbClr val="153443"/>
                          </a:solidFill>
                          <a:latin typeface="Arial"/>
                          <a:ea typeface="Arial"/>
                          <a:cs typeface="Arial"/>
                        </a:rPr>
                        <a:t>1,55 µm</a:t>
                      </a:r>
                    </a:p>
                  </a:txBody>
                  <a:tcPr marL="91440" marR="91440" marT="45720" marB="45720">
                    <a:solidFill>
                      <a:srgbClr val="FFFFFF"/>
                    </a:solidFill>
                  </a:tcPr>
                </a:tc>
                <a:tc>
                  <a:txBody>
                    <a:bodyPr/>
                    <a:lstStyle/>
                    <a:p>
                      <a:r>
                        <a:rPr sz="1800" b="0">
                          <a:solidFill>
                            <a:srgbClr val="153443"/>
                          </a:solidFill>
                          <a:latin typeface="Arial"/>
                          <a:ea typeface="Arial"/>
                          <a:cs typeface="Arial"/>
                        </a:rPr>
                        <a:t>Tetap pada semua sapuan</a:t>
                      </a:r>
                    </a:p>
                  </a:txBody>
                  <a:tcPr marL="91440" marR="91440" marT="45720" marB="45720">
                    <a:solidFill>
                      <a:srgbClr val="FFFFFF"/>
                    </a:solidFill>
                  </a:tcPr>
                </a:tc>
              </a:tr>
              <a:tr h="587375">
                <a:tc>
                  <a:txBody>
                    <a:bodyPr/>
                    <a:lstStyle/>
                    <a:p>
                      <a:r>
                        <a:rPr sz="1800" b="0">
                          <a:solidFill>
                            <a:srgbClr val="153443"/>
                          </a:solidFill>
                          <a:latin typeface="Arial"/>
                          <a:ea typeface="Arial"/>
                          <a:cs typeface="Arial"/>
                        </a:rPr>
                        <a:t>Sapuan ketebalan</a:t>
                      </a:r>
                    </a:p>
                  </a:txBody>
                  <a:tcPr marL="91440" marR="91440" marT="45720" marB="45720">
                    <a:solidFill>
                      <a:srgbClr val="FFFFFF"/>
                    </a:solidFill>
                  </a:tcPr>
                </a:tc>
                <a:tc>
                  <a:txBody>
                    <a:bodyPr/>
                    <a:lstStyle/>
                    <a:p>
                      <a:r>
                        <a:rPr sz="1800" b="0">
                          <a:solidFill>
                            <a:srgbClr val="153443"/>
                          </a:solidFill>
                          <a:latin typeface="Arial"/>
                          <a:ea typeface="Arial"/>
                          <a:cs typeface="Arial"/>
                        </a:rPr>
                        <a:t>0,2 sampai 12 µm</a:t>
                      </a:r>
                    </a:p>
                  </a:txBody>
                  <a:tcPr marL="91440" marR="91440" marT="45720" marB="45720">
                    <a:solidFill>
                      <a:srgbClr val="FFFFFF"/>
                    </a:solidFill>
                  </a:tcPr>
                </a:tc>
                <a:tc>
                  <a:txBody>
                    <a:bodyPr/>
                    <a:lstStyle/>
                    <a:p>
                      <a:r>
                        <a:rPr sz="1800" b="0">
                          <a:solidFill>
                            <a:srgbClr val="153443"/>
                          </a:solidFill>
                          <a:latin typeface="Arial"/>
                          <a:ea typeface="Arial"/>
                          <a:cs typeface="Arial"/>
                        </a:rPr>
                        <a:t>Kemunculan modus</a:t>
                      </a:r>
                    </a:p>
                  </a:txBody>
                  <a:tcPr marL="91440" marR="91440" marT="45720" marB="45720">
                    <a:solidFill>
                      <a:srgbClr val="FFFFFF"/>
                    </a:solidFill>
                  </a:tcPr>
                </a:tc>
              </a:tr>
              <a:tr h="587375">
                <a:tc>
                  <a:txBody>
                    <a:bodyPr/>
                    <a:lstStyle/>
                    <a:p>
                      <a:r>
                        <a:rPr sz="1800" b="0">
                          <a:solidFill>
                            <a:srgbClr val="153443"/>
                          </a:solidFill>
                          <a:latin typeface="Arial"/>
                          <a:ea typeface="Arial"/>
                          <a:cs typeface="Arial"/>
                        </a:rPr>
                        <a:t>Celah kopler g</a:t>
                      </a:r>
                    </a:p>
                  </a:txBody>
                  <a:tcPr marL="91440" marR="91440" marT="45720" marB="45720">
                    <a:solidFill>
                      <a:srgbClr val="FFFFFF"/>
                    </a:solidFill>
                  </a:tcPr>
                </a:tc>
                <a:tc>
                  <a:txBody>
                    <a:bodyPr/>
                    <a:lstStyle/>
                    <a:p>
                      <a:r>
                        <a:rPr sz="1800" b="0">
                          <a:solidFill>
                            <a:srgbClr val="153443"/>
                          </a:solidFill>
                          <a:latin typeface="Arial"/>
                          <a:ea typeface="Arial"/>
                          <a:cs typeface="Arial"/>
                        </a:rPr>
                        <a:t>2; 4; 6 µm</a:t>
                      </a:r>
                    </a:p>
                  </a:txBody>
                  <a:tcPr marL="91440" marR="91440" marT="45720" marB="45720">
                    <a:solidFill>
                      <a:srgbClr val="FFFFFF"/>
                    </a:solidFill>
                  </a:tcPr>
                </a:tc>
                <a:tc>
                  <a:txBody>
                    <a:bodyPr/>
                    <a:lstStyle/>
                    <a:p>
                      <a:r>
                        <a:rPr sz="1800" b="0">
                          <a:solidFill>
                            <a:srgbClr val="153443"/>
                          </a:solidFill>
                          <a:latin typeface="Arial"/>
                          <a:ea typeface="Arial"/>
                          <a:cs typeface="Arial"/>
                        </a:rPr>
                        <a:t>Pengaruh tumpang tindih</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DFCBE1B-0349-4B48-AB24-B67E977A3BB6}"/>
              </a:ext>
            </a:extLst>
          </p:cNvPr>
          <p:cNvSpPr>
            <a:spLocks xmlns:a="http://schemas.openxmlformats.org/drawingml/2006/main" noGrp="1"/>
          </p:cNvSpPr>
          <p:nvPr/>
        </p:nvSpPr>
        <p:spPr>
          <a:xfrm xmlns:a="http://schemas.openxmlformats.org/drawingml/2006/main">
            <a:off x="609600" y="54292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6078"/>
                </a:solidFill>
                <a:latin typeface="Arial"/>
                <a:ea typeface="Arial"/>
                <a:cs typeface="Arial"/>
              </a:defRPr>
            </a:defPPr>
            <a:lvl1pPr>
              <a:defRPr sz="1950" b="0">
                <a:solidFill>
                  <a:srgbClr val="146078"/>
                </a:solidFill>
                <a:latin typeface="Arial"/>
                <a:ea typeface="Arial"/>
                <a:cs typeface="Arial"/>
              </a:defRPr>
            </a:lvl1pPr>
            <a:lvl2pPr>
              <a:defRPr sz="1950" b="0">
                <a:solidFill>
                  <a:srgbClr val="146078"/>
                </a:solidFill>
                <a:latin typeface="Arial"/>
                <a:ea typeface="Arial"/>
                <a:cs typeface="Arial"/>
              </a:defRPr>
            </a:lvl2pPr>
            <a:lvl3pPr>
              <a:defRPr sz="1950" b="0">
                <a:solidFill>
                  <a:srgbClr val="146078"/>
                </a:solidFill>
                <a:latin typeface="Arial"/>
                <a:ea typeface="Arial"/>
                <a:cs typeface="Arial"/>
              </a:defRPr>
            </a:lvl3pPr>
            <a:lvl4pPr>
              <a:defRPr sz="1950" b="0">
                <a:solidFill>
                  <a:srgbClr val="146078"/>
                </a:solidFill>
                <a:latin typeface="Arial"/>
                <a:ea typeface="Arial"/>
                <a:cs typeface="Arial"/>
              </a:defRPr>
            </a:lvl4pPr>
            <a:lvl5pPr>
              <a:defRPr sz="1950" b="0">
                <a:solidFill>
                  <a:srgbClr val="146078"/>
                </a:solidFill>
                <a:latin typeface="Arial"/>
                <a:ea typeface="Arial"/>
                <a:cs typeface="Arial"/>
              </a:defRPr>
            </a:lvl5pPr>
            <a:lvl6pPr>
              <a:defRPr sz="1950" b="0">
                <a:solidFill>
                  <a:srgbClr val="146078"/>
                </a:solidFill>
                <a:latin typeface="Arial"/>
                <a:ea typeface="Arial"/>
                <a:cs typeface="Arial"/>
              </a:defRPr>
            </a:lvl6pPr>
            <a:lvl7pPr>
              <a:defRPr sz="1950" b="0">
                <a:solidFill>
                  <a:srgbClr val="146078"/>
                </a:solidFill>
                <a:latin typeface="Arial"/>
                <a:ea typeface="Arial"/>
                <a:cs typeface="Arial"/>
              </a:defRPr>
            </a:lvl7pPr>
            <a:lvl8pPr>
              <a:defRPr sz="1950" b="0">
                <a:solidFill>
                  <a:srgbClr val="146078"/>
                </a:solidFill>
                <a:latin typeface="Arial"/>
                <a:ea typeface="Arial"/>
                <a:cs typeface="Arial"/>
              </a:defRPr>
            </a:lvl8pPr>
            <a:lvl9pPr>
              <a:defRPr sz="1950" b="0">
                <a:solidFill>
                  <a:srgbClr val="146078"/>
                </a:solidFill>
                <a:latin typeface="Arial"/>
                <a:ea typeface="Arial"/>
                <a:cs typeface="Arial"/>
              </a:defRPr>
            </a:lvl9pPr>
          </a:lstStyle>
          <a:p xmlns:a="http://schemas.openxmlformats.org/drawingml/2006/main">
            <a:pPr>
              <a:defRPr sz="1950" b="0">
                <a:solidFill>
                  <a:srgbClr val="146078"/>
                </a:solidFill>
                <a:latin typeface="Arial"/>
                <a:ea typeface="Arial"/>
                <a:cs typeface="Arial"/>
              </a:defRPr>
            </a:pPr>
            <a:r>
              <a:rPr sz="1950" b="0">
                <a:solidFill>
                  <a:srgbClr val="146078"/>
                </a:solidFill>
                <a:latin typeface="Arial"/>
                <a:ea typeface="Arial"/>
                <a:cs typeface="Arial"/>
              </a:rPr>
              <a:t>Asumsi: slab 1D, isotropik, nonmagnetik, tanpa rugi.</a:t>
            </a:r>
          </a:p>
        </p:txBody>
      </p:sp>
    </p:spTree>
    <p:extLst>
      <p:ext uri="{BB962C8B-B14F-4D97-AF65-F5344CB8AC3E}">
        <p14:creationId xmlns:p14="http://schemas.microsoft.com/office/powerpoint/2010/main" val="14431021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B38781-456B-41D4-AA6A-5665F6BA70BB}"/>
              </a:ext>
            </a:extLst>
          </p:cNvPr>
          <p:cNvSpPr>
            <a:spLocks xmlns:a="http://schemas.openxmlformats.org/drawingml/2006/main" noGrp="1"/>
          </p:cNvSpPr>
          <p:nvPr/>
        </p:nvSpPr>
        <p:spPr>
          <a:xfrm xmlns:a="http://schemas.openxmlformats.org/drawingml/2006/main">
            <a:off x="609600" y="3810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443"/>
                </a:solidFill>
                <a:latin typeface="Arial"/>
                <a:ea typeface="Arial"/>
                <a:cs typeface="Arial"/>
              </a:defRPr>
            </a:defPPr>
            <a:lvl1pPr>
              <a:defRPr sz="3225" b="1">
                <a:solidFill>
                  <a:srgbClr val="153443"/>
                </a:solidFill>
                <a:latin typeface="Arial"/>
                <a:ea typeface="Arial"/>
                <a:cs typeface="Arial"/>
              </a:defRPr>
            </a:lvl1pPr>
            <a:lvl2pPr>
              <a:defRPr sz="3225" b="1">
                <a:solidFill>
                  <a:srgbClr val="153443"/>
                </a:solidFill>
                <a:latin typeface="Arial"/>
                <a:ea typeface="Arial"/>
                <a:cs typeface="Arial"/>
              </a:defRPr>
            </a:lvl2pPr>
            <a:lvl3pPr>
              <a:defRPr sz="3225" b="1">
                <a:solidFill>
                  <a:srgbClr val="153443"/>
                </a:solidFill>
                <a:latin typeface="Arial"/>
                <a:ea typeface="Arial"/>
                <a:cs typeface="Arial"/>
              </a:defRPr>
            </a:lvl3pPr>
            <a:lvl4pPr>
              <a:defRPr sz="3225" b="1">
                <a:solidFill>
                  <a:srgbClr val="153443"/>
                </a:solidFill>
                <a:latin typeface="Arial"/>
                <a:ea typeface="Arial"/>
                <a:cs typeface="Arial"/>
              </a:defRPr>
            </a:lvl4pPr>
            <a:lvl5pPr>
              <a:defRPr sz="3225" b="1">
                <a:solidFill>
                  <a:srgbClr val="153443"/>
                </a:solidFill>
                <a:latin typeface="Arial"/>
                <a:ea typeface="Arial"/>
                <a:cs typeface="Arial"/>
              </a:defRPr>
            </a:lvl5pPr>
            <a:lvl6pPr>
              <a:defRPr sz="3225" b="1">
                <a:solidFill>
                  <a:srgbClr val="153443"/>
                </a:solidFill>
                <a:latin typeface="Arial"/>
                <a:ea typeface="Arial"/>
                <a:cs typeface="Arial"/>
              </a:defRPr>
            </a:lvl6pPr>
            <a:lvl7pPr>
              <a:defRPr sz="3225" b="1">
                <a:solidFill>
                  <a:srgbClr val="153443"/>
                </a:solidFill>
                <a:latin typeface="Arial"/>
                <a:ea typeface="Arial"/>
                <a:cs typeface="Arial"/>
              </a:defRPr>
            </a:lvl7pPr>
            <a:lvl8pPr>
              <a:defRPr sz="3225" b="1">
                <a:solidFill>
                  <a:srgbClr val="153443"/>
                </a:solidFill>
                <a:latin typeface="Arial"/>
                <a:ea typeface="Arial"/>
                <a:cs typeface="Arial"/>
              </a:defRPr>
            </a:lvl8pPr>
            <a:lvl9pPr>
              <a:defRPr sz="3225" b="1">
                <a:solidFill>
                  <a:srgbClr val="153443"/>
                </a:solidFill>
                <a:latin typeface="Arial"/>
                <a:ea typeface="Arial"/>
                <a:cs typeface="Arial"/>
              </a:defRPr>
            </a:lvl9pPr>
          </a:lstStyle>
          <a:p xmlns:a="http://schemas.openxmlformats.org/drawingml/2006/main">
            <a:pPr>
              <a:defRPr sz="3225" b="1">
                <a:solidFill>
                  <a:srgbClr val="153443"/>
                </a:solidFill>
                <a:latin typeface="Arial"/>
                <a:ea typeface="Arial"/>
                <a:cs typeface="Arial"/>
              </a:defRPr>
            </a:pPr>
            <a:r>
              <a:rPr sz="3225" b="1">
                <a:solidFill>
                  <a:srgbClr val="153443"/>
                </a:solidFill>
                <a:latin typeface="Arial"/>
                <a:ea typeface="Arial"/>
                <a:cs typeface="Arial"/>
              </a:rPr>
              <a:t>Profil medan TE₀</a:t>
            </a:r>
          </a:p>
        </p:txBody>
      </p:sp>
      <p:sp>
        <p:nvSpPr>
          <p:cNvPr id="2" name="">
            <a:extLst xmlns:a="http://schemas.openxmlformats.org/drawingml/2006/main">
              <a:ext uri="{FF2B5EF4-FFF2-40B4-BE49-F238E27FC236}">
                <a16:creationId xmlns:a16="http://schemas.microsoft.com/office/drawing/2014/main" id="{D12769AA-15B4-49B8-A811-8C0E26601CAC}"/>
              </a:ext>
            </a:extLst>
          </p:cNvPr>
          <p:cNvSpPr>
            <a:spLocks xmlns:a="http://schemas.openxmlformats.org/drawingml/2006/main" noGrp="1"/>
          </p:cNvSpPr>
          <p:nvPr/>
        </p:nvSpPr>
        <p:spPr>
          <a:xfrm xmlns:a="http://schemas.openxmlformats.org/drawingml/2006/main">
            <a:off x="609600" y="63817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OPTIK MODERN  ·  PENUGASAN 1</a:t>
            </a:r>
          </a:p>
        </p:txBody>
      </p:sp>
      <p:sp>
        <p:nvSpPr>
          <p:cNvPr id="3" name="">
            <a:extLst xmlns:a="http://schemas.openxmlformats.org/drawingml/2006/main">
              <a:ext uri="{FF2B5EF4-FFF2-40B4-BE49-F238E27FC236}">
                <a16:creationId xmlns:a16="http://schemas.microsoft.com/office/drawing/2014/main" id="{245AE27F-1838-4985-808C-FBB32B7D931B}"/>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08</a:t>
            </a:r>
          </a:p>
        </p:txBody>
      </p:sp>
      <p:graphicFrame>
        <p:nvGraphicFramePr>
          <p:cNvPr id="4" name="Chart">
            <a:extLst xmlns:a="http://schemas.openxmlformats.org/drawingml/2006/main">
              <a:ext uri="{FF2B5EF4-FFF2-40B4-BE49-F238E27FC236}">
                <a16:creationId xmlns:a16="http://schemas.microsoft.com/office/drawing/2014/main" id="{4E30DB9E-9FC4-454A-A64D-3F03EAFA1782}"/>
              </a:ext>
            </a:extLst>
          </p:cNvPr>
          <p:cNvGraphicFramePr/>
          <p:nvPr/>
        </p:nvGraphicFramePr>
        <p:xfrm>
          <a:off xmlns:a="http://schemas.openxmlformats.org/drawingml/2006/main" x="428625" y="1476375"/>
          <a:ext xmlns:a="http://schemas.openxmlformats.org/drawingml/2006/main" cx="7524750" cy="4429125"/>
        </p:xfrm>
        <a:graphic xmlns:a="http://schemas.openxmlformats.org/drawingml/2006/main">
          <a:graphicData uri="http://schemas.openxmlformats.org/drawingml/2006/chart">
            <c:chart xmlns:r="http://schemas.openxmlformats.org/officeDocument/2006/relationships" xmlns:c="http://schemas.openxmlformats.org/drawingml/2006/chart" r:id="R78ce5e15bfeb437b"/>
          </a:graphicData>
        </a:graphic>
      </p:graphicFrame>
      <p:sp>
        <p:nvSpPr>
          <p:cNvPr id="5" name="">
            <a:extLst xmlns:a="http://schemas.openxmlformats.org/drawingml/2006/main">
              <a:ext uri="{FF2B5EF4-FFF2-40B4-BE49-F238E27FC236}">
                <a16:creationId xmlns:a16="http://schemas.microsoft.com/office/drawing/2014/main" id="{2653FAEE-ABB6-427B-9AFC-23411373EFFF}"/>
              </a:ext>
            </a:extLst>
          </p:cNvPr>
          <p:cNvSpPr>
            <a:spLocks xmlns:a="http://schemas.openxmlformats.org/drawingml/2006/main" noGrp="1"/>
          </p:cNvSpPr>
          <p:nvPr/>
        </p:nvSpPr>
        <p:spPr>
          <a:xfrm xmlns:a="http://schemas.openxmlformats.org/drawingml/2006/main">
            <a:off x="8334375" y="1857375"/>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443"/>
                </a:solidFill>
                <a:latin typeface="Arial"/>
                <a:ea typeface="Arial"/>
                <a:cs typeface="Arial"/>
              </a:defRPr>
            </a:defPPr>
            <a:lvl1pPr>
              <a:defRPr sz="2100" b="0">
                <a:solidFill>
                  <a:srgbClr val="153443"/>
                </a:solidFill>
                <a:latin typeface="Arial"/>
                <a:ea typeface="Arial"/>
                <a:cs typeface="Arial"/>
              </a:defRPr>
            </a:lvl1pPr>
            <a:lvl2pPr>
              <a:defRPr sz="2100" b="0">
                <a:solidFill>
                  <a:srgbClr val="153443"/>
                </a:solidFill>
                <a:latin typeface="Arial"/>
                <a:ea typeface="Arial"/>
                <a:cs typeface="Arial"/>
              </a:defRPr>
            </a:lvl2pPr>
            <a:lvl3pPr>
              <a:defRPr sz="2100" b="0">
                <a:solidFill>
                  <a:srgbClr val="153443"/>
                </a:solidFill>
                <a:latin typeface="Arial"/>
                <a:ea typeface="Arial"/>
                <a:cs typeface="Arial"/>
              </a:defRPr>
            </a:lvl3pPr>
            <a:lvl4pPr>
              <a:defRPr sz="2100" b="0">
                <a:solidFill>
                  <a:srgbClr val="153443"/>
                </a:solidFill>
                <a:latin typeface="Arial"/>
                <a:ea typeface="Arial"/>
                <a:cs typeface="Arial"/>
              </a:defRPr>
            </a:lvl4pPr>
            <a:lvl5pPr>
              <a:defRPr sz="2100" b="0">
                <a:solidFill>
                  <a:srgbClr val="153443"/>
                </a:solidFill>
                <a:latin typeface="Arial"/>
                <a:ea typeface="Arial"/>
                <a:cs typeface="Arial"/>
              </a:defRPr>
            </a:lvl5pPr>
            <a:lvl6pPr>
              <a:defRPr sz="2100" b="0">
                <a:solidFill>
                  <a:srgbClr val="153443"/>
                </a:solidFill>
                <a:latin typeface="Arial"/>
                <a:ea typeface="Arial"/>
                <a:cs typeface="Arial"/>
              </a:defRPr>
            </a:lvl6pPr>
            <a:lvl7pPr>
              <a:defRPr sz="2100" b="0">
                <a:solidFill>
                  <a:srgbClr val="153443"/>
                </a:solidFill>
                <a:latin typeface="Arial"/>
                <a:ea typeface="Arial"/>
                <a:cs typeface="Arial"/>
              </a:defRPr>
            </a:lvl7pPr>
            <a:lvl8pPr>
              <a:defRPr sz="2100" b="0">
                <a:solidFill>
                  <a:srgbClr val="153443"/>
                </a:solidFill>
                <a:latin typeface="Arial"/>
                <a:ea typeface="Arial"/>
                <a:cs typeface="Arial"/>
              </a:defRPr>
            </a:lvl8pPr>
            <a:lvl9pPr>
              <a:defRPr sz="2100" b="0">
                <a:solidFill>
                  <a:srgbClr val="153443"/>
                </a:solidFill>
                <a:latin typeface="Arial"/>
                <a:ea typeface="Arial"/>
                <a:cs typeface="Arial"/>
              </a:defRPr>
            </a:lvl9pPr>
          </a:lstStyle>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n efektif</a:t>
            </a:r>
          </a:p>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1,503065</a:t>
            </a:r>
          </a:p>
        </p:txBody>
      </p:sp>
      <p:sp>
        <p:nvSpPr>
          <p:cNvPr id="6" name="">
            <a:extLst xmlns:a="http://schemas.openxmlformats.org/drawingml/2006/main">
              <a:ext uri="{FF2B5EF4-FFF2-40B4-BE49-F238E27FC236}">
                <a16:creationId xmlns:a16="http://schemas.microsoft.com/office/drawing/2014/main" id="{A7249499-576D-4266-8787-AD2444A9FFE1}"/>
              </a:ext>
            </a:extLst>
          </p:cNvPr>
          <p:cNvSpPr>
            <a:spLocks xmlns:a="http://schemas.openxmlformats.org/drawingml/2006/main" noGrp="1"/>
          </p:cNvSpPr>
          <p:nvPr/>
        </p:nvSpPr>
        <p:spPr>
          <a:xfrm xmlns:a="http://schemas.openxmlformats.org/drawingml/2006/main">
            <a:off x="8334375" y="3095625"/>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443"/>
                </a:solidFill>
                <a:latin typeface="Arial"/>
                <a:ea typeface="Arial"/>
                <a:cs typeface="Arial"/>
              </a:defRPr>
            </a:defPPr>
            <a:lvl1pPr>
              <a:defRPr sz="2100" b="0">
                <a:solidFill>
                  <a:srgbClr val="153443"/>
                </a:solidFill>
                <a:latin typeface="Arial"/>
                <a:ea typeface="Arial"/>
                <a:cs typeface="Arial"/>
              </a:defRPr>
            </a:lvl1pPr>
            <a:lvl2pPr>
              <a:defRPr sz="2100" b="0">
                <a:solidFill>
                  <a:srgbClr val="153443"/>
                </a:solidFill>
                <a:latin typeface="Arial"/>
                <a:ea typeface="Arial"/>
                <a:cs typeface="Arial"/>
              </a:defRPr>
            </a:lvl2pPr>
            <a:lvl3pPr>
              <a:defRPr sz="2100" b="0">
                <a:solidFill>
                  <a:srgbClr val="153443"/>
                </a:solidFill>
                <a:latin typeface="Arial"/>
                <a:ea typeface="Arial"/>
                <a:cs typeface="Arial"/>
              </a:defRPr>
            </a:lvl3pPr>
            <a:lvl4pPr>
              <a:defRPr sz="2100" b="0">
                <a:solidFill>
                  <a:srgbClr val="153443"/>
                </a:solidFill>
                <a:latin typeface="Arial"/>
                <a:ea typeface="Arial"/>
                <a:cs typeface="Arial"/>
              </a:defRPr>
            </a:lvl4pPr>
            <a:lvl5pPr>
              <a:defRPr sz="2100" b="0">
                <a:solidFill>
                  <a:srgbClr val="153443"/>
                </a:solidFill>
                <a:latin typeface="Arial"/>
                <a:ea typeface="Arial"/>
                <a:cs typeface="Arial"/>
              </a:defRPr>
            </a:lvl5pPr>
            <a:lvl6pPr>
              <a:defRPr sz="2100" b="0">
                <a:solidFill>
                  <a:srgbClr val="153443"/>
                </a:solidFill>
                <a:latin typeface="Arial"/>
                <a:ea typeface="Arial"/>
                <a:cs typeface="Arial"/>
              </a:defRPr>
            </a:lvl6pPr>
            <a:lvl7pPr>
              <a:defRPr sz="2100" b="0">
                <a:solidFill>
                  <a:srgbClr val="153443"/>
                </a:solidFill>
                <a:latin typeface="Arial"/>
                <a:ea typeface="Arial"/>
                <a:cs typeface="Arial"/>
              </a:defRPr>
            </a:lvl7pPr>
            <a:lvl8pPr>
              <a:defRPr sz="2100" b="0">
                <a:solidFill>
                  <a:srgbClr val="153443"/>
                </a:solidFill>
                <a:latin typeface="Arial"/>
                <a:ea typeface="Arial"/>
                <a:cs typeface="Arial"/>
              </a:defRPr>
            </a:lvl8pPr>
            <a:lvl9pPr>
              <a:defRPr sz="2100" b="0">
                <a:solidFill>
                  <a:srgbClr val="153443"/>
                </a:solidFill>
                <a:latin typeface="Arial"/>
                <a:ea typeface="Arial"/>
                <a:cs typeface="Arial"/>
              </a:defRPr>
            </a:lvl9pPr>
          </a:lstStyle>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β</a:t>
            </a:r>
          </a:p>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6,092927 µm⁻¹</a:t>
            </a:r>
          </a:p>
        </p:txBody>
      </p:sp>
      <p:sp>
        <p:nvSpPr>
          <p:cNvPr id="7" name="">
            <a:extLst xmlns:a="http://schemas.openxmlformats.org/drawingml/2006/main">
              <a:ext uri="{FF2B5EF4-FFF2-40B4-BE49-F238E27FC236}">
                <a16:creationId xmlns:a16="http://schemas.microsoft.com/office/drawing/2014/main" id="{F283E562-C9BA-46FE-8DA8-4921818DED9A}"/>
              </a:ext>
            </a:extLst>
          </p:cNvPr>
          <p:cNvSpPr>
            <a:spLocks xmlns:a="http://schemas.openxmlformats.org/drawingml/2006/main" noGrp="1"/>
          </p:cNvSpPr>
          <p:nvPr/>
        </p:nvSpPr>
        <p:spPr>
          <a:xfrm xmlns:a="http://schemas.openxmlformats.org/drawingml/2006/main">
            <a:off x="8334375" y="4333875"/>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443"/>
                </a:solidFill>
                <a:latin typeface="Arial"/>
                <a:ea typeface="Arial"/>
                <a:cs typeface="Arial"/>
              </a:defRPr>
            </a:defPPr>
            <a:lvl1pPr>
              <a:defRPr sz="2100" b="0">
                <a:solidFill>
                  <a:srgbClr val="153443"/>
                </a:solidFill>
                <a:latin typeface="Arial"/>
                <a:ea typeface="Arial"/>
                <a:cs typeface="Arial"/>
              </a:defRPr>
            </a:lvl1pPr>
            <a:lvl2pPr>
              <a:defRPr sz="2100" b="0">
                <a:solidFill>
                  <a:srgbClr val="153443"/>
                </a:solidFill>
                <a:latin typeface="Arial"/>
                <a:ea typeface="Arial"/>
                <a:cs typeface="Arial"/>
              </a:defRPr>
            </a:lvl2pPr>
            <a:lvl3pPr>
              <a:defRPr sz="2100" b="0">
                <a:solidFill>
                  <a:srgbClr val="153443"/>
                </a:solidFill>
                <a:latin typeface="Arial"/>
                <a:ea typeface="Arial"/>
                <a:cs typeface="Arial"/>
              </a:defRPr>
            </a:lvl3pPr>
            <a:lvl4pPr>
              <a:defRPr sz="2100" b="0">
                <a:solidFill>
                  <a:srgbClr val="153443"/>
                </a:solidFill>
                <a:latin typeface="Arial"/>
                <a:ea typeface="Arial"/>
                <a:cs typeface="Arial"/>
              </a:defRPr>
            </a:lvl4pPr>
            <a:lvl5pPr>
              <a:defRPr sz="2100" b="0">
                <a:solidFill>
                  <a:srgbClr val="153443"/>
                </a:solidFill>
                <a:latin typeface="Arial"/>
                <a:ea typeface="Arial"/>
                <a:cs typeface="Arial"/>
              </a:defRPr>
            </a:lvl5pPr>
            <a:lvl6pPr>
              <a:defRPr sz="2100" b="0">
                <a:solidFill>
                  <a:srgbClr val="153443"/>
                </a:solidFill>
                <a:latin typeface="Arial"/>
                <a:ea typeface="Arial"/>
                <a:cs typeface="Arial"/>
              </a:defRPr>
            </a:lvl6pPr>
            <a:lvl7pPr>
              <a:defRPr sz="2100" b="0">
                <a:solidFill>
                  <a:srgbClr val="153443"/>
                </a:solidFill>
                <a:latin typeface="Arial"/>
                <a:ea typeface="Arial"/>
                <a:cs typeface="Arial"/>
              </a:defRPr>
            </a:lvl7pPr>
            <a:lvl8pPr>
              <a:defRPr sz="2100" b="0">
                <a:solidFill>
                  <a:srgbClr val="153443"/>
                </a:solidFill>
                <a:latin typeface="Arial"/>
                <a:ea typeface="Arial"/>
                <a:cs typeface="Arial"/>
              </a:defRPr>
            </a:lvl8pPr>
            <a:lvl9pPr>
              <a:defRPr sz="2100" b="0">
                <a:solidFill>
                  <a:srgbClr val="153443"/>
                </a:solidFill>
                <a:latin typeface="Arial"/>
                <a:ea typeface="Arial"/>
                <a:cs typeface="Arial"/>
              </a:defRPr>
            </a:lvl9pPr>
          </a:lstStyle>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Γ teras</a:t>
            </a:r>
          </a:p>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50,02%</a:t>
            </a:r>
          </a:p>
        </p:txBody>
      </p:sp>
    </p:spTree>
    <p:extLst>
      <p:ext uri="{BB962C8B-B14F-4D97-AF65-F5344CB8AC3E}">
        <p14:creationId xmlns:p14="http://schemas.microsoft.com/office/powerpoint/2010/main" val="143456174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8F0F93-D164-4CDB-9F10-C3B25ECDD95E}"/>
              </a:ext>
            </a:extLst>
          </p:cNvPr>
          <p:cNvSpPr>
            <a:spLocks xmlns:a="http://schemas.openxmlformats.org/drawingml/2006/main" noGrp="1"/>
          </p:cNvSpPr>
          <p:nvPr/>
        </p:nvSpPr>
        <p:spPr>
          <a:xfrm xmlns:a="http://schemas.openxmlformats.org/drawingml/2006/main">
            <a:off x="609600" y="3810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443"/>
                </a:solidFill>
                <a:latin typeface="Arial"/>
                <a:ea typeface="Arial"/>
                <a:cs typeface="Arial"/>
              </a:defRPr>
            </a:defPPr>
            <a:lvl1pPr>
              <a:defRPr sz="3225" b="1">
                <a:solidFill>
                  <a:srgbClr val="153443"/>
                </a:solidFill>
                <a:latin typeface="Arial"/>
                <a:ea typeface="Arial"/>
                <a:cs typeface="Arial"/>
              </a:defRPr>
            </a:lvl1pPr>
            <a:lvl2pPr>
              <a:defRPr sz="3225" b="1">
                <a:solidFill>
                  <a:srgbClr val="153443"/>
                </a:solidFill>
                <a:latin typeface="Arial"/>
                <a:ea typeface="Arial"/>
                <a:cs typeface="Arial"/>
              </a:defRPr>
            </a:lvl2pPr>
            <a:lvl3pPr>
              <a:defRPr sz="3225" b="1">
                <a:solidFill>
                  <a:srgbClr val="153443"/>
                </a:solidFill>
                <a:latin typeface="Arial"/>
                <a:ea typeface="Arial"/>
                <a:cs typeface="Arial"/>
              </a:defRPr>
            </a:lvl3pPr>
            <a:lvl4pPr>
              <a:defRPr sz="3225" b="1">
                <a:solidFill>
                  <a:srgbClr val="153443"/>
                </a:solidFill>
                <a:latin typeface="Arial"/>
                <a:ea typeface="Arial"/>
                <a:cs typeface="Arial"/>
              </a:defRPr>
            </a:lvl4pPr>
            <a:lvl5pPr>
              <a:defRPr sz="3225" b="1">
                <a:solidFill>
                  <a:srgbClr val="153443"/>
                </a:solidFill>
                <a:latin typeface="Arial"/>
                <a:ea typeface="Arial"/>
                <a:cs typeface="Arial"/>
              </a:defRPr>
            </a:lvl5pPr>
            <a:lvl6pPr>
              <a:defRPr sz="3225" b="1">
                <a:solidFill>
                  <a:srgbClr val="153443"/>
                </a:solidFill>
                <a:latin typeface="Arial"/>
                <a:ea typeface="Arial"/>
                <a:cs typeface="Arial"/>
              </a:defRPr>
            </a:lvl6pPr>
            <a:lvl7pPr>
              <a:defRPr sz="3225" b="1">
                <a:solidFill>
                  <a:srgbClr val="153443"/>
                </a:solidFill>
                <a:latin typeface="Arial"/>
                <a:ea typeface="Arial"/>
                <a:cs typeface="Arial"/>
              </a:defRPr>
            </a:lvl7pPr>
            <a:lvl8pPr>
              <a:defRPr sz="3225" b="1">
                <a:solidFill>
                  <a:srgbClr val="153443"/>
                </a:solidFill>
                <a:latin typeface="Arial"/>
                <a:ea typeface="Arial"/>
                <a:cs typeface="Arial"/>
              </a:defRPr>
            </a:lvl8pPr>
            <a:lvl9pPr>
              <a:defRPr sz="3225" b="1">
                <a:solidFill>
                  <a:srgbClr val="153443"/>
                </a:solidFill>
                <a:latin typeface="Arial"/>
                <a:ea typeface="Arial"/>
                <a:cs typeface="Arial"/>
              </a:defRPr>
            </a:lvl9pPr>
          </a:lstStyle>
          <a:p xmlns:a="http://schemas.openxmlformats.org/drawingml/2006/main">
            <a:pPr>
              <a:defRPr sz="3225" b="1">
                <a:solidFill>
                  <a:srgbClr val="153443"/>
                </a:solidFill>
                <a:latin typeface="Arial"/>
                <a:ea typeface="Arial"/>
                <a:cs typeface="Arial"/>
              </a:defRPr>
            </a:pPr>
            <a:r>
              <a:rPr sz="3225" b="1">
                <a:solidFill>
                  <a:srgbClr val="153443"/>
                </a:solidFill>
                <a:latin typeface="Arial"/>
                <a:ea typeface="Arial"/>
                <a:cs typeface="Arial"/>
              </a:rPr>
              <a:t>Ketebalan mengubah modus terpandu</a:t>
            </a:r>
          </a:p>
        </p:txBody>
      </p:sp>
      <p:sp>
        <p:nvSpPr>
          <p:cNvPr id="2" name="">
            <a:extLst xmlns:a="http://schemas.openxmlformats.org/drawingml/2006/main">
              <a:ext uri="{FF2B5EF4-FFF2-40B4-BE49-F238E27FC236}">
                <a16:creationId xmlns:a16="http://schemas.microsoft.com/office/drawing/2014/main" id="{11BB98CE-A49F-4619-B021-7D1FCED42357}"/>
              </a:ext>
            </a:extLst>
          </p:cNvPr>
          <p:cNvSpPr>
            <a:spLocks xmlns:a="http://schemas.openxmlformats.org/drawingml/2006/main" noGrp="1"/>
          </p:cNvSpPr>
          <p:nvPr/>
        </p:nvSpPr>
        <p:spPr>
          <a:xfrm xmlns:a="http://schemas.openxmlformats.org/drawingml/2006/main">
            <a:off x="609600" y="63817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OPTIK MODERN  ·  PENUGASAN 1</a:t>
            </a:r>
          </a:p>
        </p:txBody>
      </p:sp>
      <p:sp>
        <p:nvSpPr>
          <p:cNvPr id="3" name="">
            <a:extLst xmlns:a="http://schemas.openxmlformats.org/drawingml/2006/main">
              <a:ext uri="{FF2B5EF4-FFF2-40B4-BE49-F238E27FC236}">
                <a16:creationId xmlns:a16="http://schemas.microsoft.com/office/drawing/2014/main" id="{6F2ABD56-01C6-4688-8BDF-A948BA027308}"/>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09</a:t>
            </a:r>
          </a:p>
        </p:txBody>
      </p:sp>
      <p:graphicFrame>
        <p:nvGraphicFramePr>
          <p:cNvPr id="4" name="Chart">
            <a:extLst xmlns:a="http://schemas.openxmlformats.org/drawingml/2006/main">
              <a:ext uri="{FF2B5EF4-FFF2-40B4-BE49-F238E27FC236}">
                <a16:creationId xmlns:a16="http://schemas.microsoft.com/office/drawing/2014/main" id="{8F56971B-EB5A-46B8-AEDD-576843A463DD}"/>
              </a:ext>
            </a:extLst>
          </p:cNvPr>
          <p:cNvGraphicFramePr/>
          <p:nvPr/>
        </p:nvGraphicFramePr>
        <p:xfrm>
          <a:off xmlns:a="http://schemas.openxmlformats.org/drawingml/2006/main" x="428625" y="1428750"/>
          <a:ext xmlns:a="http://schemas.openxmlformats.org/drawingml/2006/main" cx="7858125" cy="4524375"/>
        </p:xfrm>
        <a:graphic xmlns:a="http://schemas.openxmlformats.org/drawingml/2006/main">
          <a:graphicData uri="http://schemas.openxmlformats.org/drawingml/2006/chart">
            <c:chart xmlns:r="http://schemas.openxmlformats.org/officeDocument/2006/relationships" xmlns:c="http://schemas.openxmlformats.org/drawingml/2006/chart" r:id="Rb91f193f795f4f2a"/>
          </a:graphicData>
        </a:graphic>
      </p:graphicFrame>
      <p:sp>
        <p:nvSpPr>
          <p:cNvPr id="5" name="">
            <a:extLst xmlns:a="http://schemas.openxmlformats.org/drawingml/2006/main">
              <a:ext uri="{FF2B5EF4-FFF2-40B4-BE49-F238E27FC236}">
                <a16:creationId xmlns:a16="http://schemas.microsoft.com/office/drawing/2014/main" id="{2BC76011-6AAE-49B5-9253-77B28FE10EA5}"/>
              </a:ext>
            </a:extLst>
          </p:cNvPr>
          <p:cNvSpPr>
            <a:spLocks xmlns:a="http://schemas.openxmlformats.org/drawingml/2006/main" noGrp="1"/>
          </p:cNvSpPr>
          <p:nvPr/>
        </p:nvSpPr>
        <p:spPr>
          <a:xfrm xmlns:a="http://schemas.openxmlformats.org/drawingml/2006/main">
            <a:off x="8667750" y="1809750"/>
            <a:ext cx="266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443"/>
                </a:solidFill>
                <a:latin typeface="Arial"/>
                <a:ea typeface="Arial"/>
                <a:cs typeface="Arial"/>
              </a:defRPr>
            </a:defPPr>
            <a:lvl1pPr>
              <a:defRPr sz="2100" b="0">
                <a:solidFill>
                  <a:srgbClr val="153443"/>
                </a:solidFill>
                <a:latin typeface="Arial"/>
                <a:ea typeface="Arial"/>
                <a:cs typeface="Arial"/>
              </a:defRPr>
            </a:lvl1pPr>
            <a:lvl2pPr>
              <a:defRPr sz="2100" b="0">
                <a:solidFill>
                  <a:srgbClr val="153443"/>
                </a:solidFill>
                <a:latin typeface="Arial"/>
                <a:ea typeface="Arial"/>
                <a:cs typeface="Arial"/>
              </a:defRPr>
            </a:lvl2pPr>
            <a:lvl3pPr>
              <a:defRPr sz="2100" b="0">
                <a:solidFill>
                  <a:srgbClr val="153443"/>
                </a:solidFill>
                <a:latin typeface="Arial"/>
                <a:ea typeface="Arial"/>
                <a:cs typeface="Arial"/>
              </a:defRPr>
            </a:lvl3pPr>
            <a:lvl4pPr>
              <a:defRPr sz="2100" b="0">
                <a:solidFill>
                  <a:srgbClr val="153443"/>
                </a:solidFill>
                <a:latin typeface="Arial"/>
                <a:ea typeface="Arial"/>
                <a:cs typeface="Arial"/>
              </a:defRPr>
            </a:lvl4pPr>
            <a:lvl5pPr>
              <a:defRPr sz="2100" b="0">
                <a:solidFill>
                  <a:srgbClr val="153443"/>
                </a:solidFill>
                <a:latin typeface="Arial"/>
                <a:ea typeface="Arial"/>
                <a:cs typeface="Arial"/>
              </a:defRPr>
            </a:lvl5pPr>
            <a:lvl6pPr>
              <a:defRPr sz="2100" b="0">
                <a:solidFill>
                  <a:srgbClr val="153443"/>
                </a:solidFill>
                <a:latin typeface="Arial"/>
                <a:ea typeface="Arial"/>
                <a:cs typeface="Arial"/>
              </a:defRPr>
            </a:lvl6pPr>
            <a:lvl7pPr>
              <a:defRPr sz="2100" b="0">
                <a:solidFill>
                  <a:srgbClr val="153443"/>
                </a:solidFill>
                <a:latin typeface="Arial"/>
                <a:ea typeface="Arial"/>
                <a:cs typeface="Arial"/>
              </a:defRPr>
            </a:lvl7pPr>
            <a:lvl8pPr>
              <a:defRPr sz="2100" b="0">
                <a:solidFill>
                  <a:srgbClr val="153443"/>
                </a:solidFill>
                <a:latin typeface="Arial"/>
                <a:ea typeface="Arial"/>
                <a:cs typeface="Arial"/>
              </a:defRPr>
            </a:lvl8pPr>
            <a:lvl9pPr>
              <a:defRPr sz="2100" b="0">
                <a:solidFill>
                  <a:srgbClr val="153443"/>
                </a:solidFill>
                <a:latin typeface="Arial"/>
                <a:ea typeface="Arial"/>
                <a:cs typeface="Arial"/>
              </a:defRPr>
            </a:lvl9pPr>
          </a:lstStyle>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d = 2 µm</a:t>
            </a:r>
          </a:p>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1 modus TE</a:t>
            </a:r>
          </a:p>
        </p:txBody>
      </p:sp>
      <p:sp>
        <p:nvSpPr>
          <p:cNvPr id="6" name="">
            <a:extLst xmlns:a="http://schemas.openxmlformats.org/drawingml/2006/main">
              <a:ext uri="{FF2B5EF4-FFF2-40B4-BE49-F238E27FC236}">
                <a16:creationId xmlns:a16="http://schemas.microsoft.com/office/drawing/2014/main" id="{641B03F9-8807-4DA5-8A68-08D746421900}"/>
              </a:ext>
            </a:extLst>
          </p:cNvPr>
          <p:cNvSpPr>
            <a:spLocks xmlns:a="http://schemas.openxmlformats.org/drawingml/2006/main" noGrp="1"/>
          </p:cNvSpPr>
          <p:nvPr/>
        </p:nvSpPr>
        <p:spPr>
          <a:xfrm xmlns:a="http://schemas.openxmlformats.org/drawingml/2006/main">
            <a:off x="8667750" y="3048000"/>
            <a:ext cx="266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443"/>
                </a:solidFill>
                <a:latin typeface="Arial"/>
                <a:ea typeface="Arial"/>
                <a:cs typeface="Arial"/>
              </a:defRPr>
            </a:defPPr>
            <a:lvl1pPr>
              <a:defRPr sz="2100" b="0">
                <a:solidFill>
                  <a:srgbClr val="153443"/>
                </a:solidFill>
                <a:latin typeface="Arial"/>
                <a:ea typeface="Arial"/>
                <a:cs typeface="Arial"/>
              </a:defRPr>
            </a:lvl1pPr>
            <a:lvl2pPr>
              <a:defRPr sz="2100" b="0">
                <a:solidFill>
                  <a:srgbClr val="153443"/>
                </a:solidFill>
                <a:latin typeface="Arial"/>
                <a:ea typeface="Arial"/>
                <a:cs typeface="Arial"/>
              </a:defRPr>
            </a:lvl2pPr>
            <a:lvl3pPr>
              <a:defRPr sz="2100" b="0">
                <a:solidFill>
                  <a:srgbClr val="153443"/>
                </a:solidFill>
                <a:latin typeface="Arial"/>
                <a:ea typeface="Arial"/>
                <a:cs typeface="Arial"/>
              </a:defRPr>
            </a:lvl3pPr>
            <a:lvl4pPr>
              <a:defRPr sz="2100" b="0">
                <a:solidFill>
                  <a:srgbClr val="153443"/>
                </a:solidFill>
                <a:latin typeface="Arial"/>
                <a:ea typeface="Arial"/>
                <a:cs typeface="Arial"/>
              </a:defRPr>
            </a:lvl4pPr>
            <a:lvl5pPr>
              <a:defRPr sz="2100" b="0">
                <a:solidFill>
                  <a:srgbClr val="153443"/>
                </a:solidFill>
                <a:latin typeface="Arial"/>
                <a:ea typeface="Arial"/>
                <a:cs typeface="Arial"/>
              </a:defRPr>
            </a:lvl5pPr>
            <a:lvl6pPr>
              <a:defRPr sz="2100" b="0">
                <a:solidFill>
                  <a:srgbClr val="153443"/>
                </a:solidFill>
                <a:latin typeface="Arial"/>
                <a:ea typeface="Arial"/>
                <a:cs typeface="Arial"/>
              </a:defRPr>
            </a:lvl6pPr>
            <a:lvl7pPr>
              <a:defRPr sz="2100" b="0">
                <a:solidFill>
                  <a:srgbClr val="153443"/>
                </a:solidFill>
                <a:latin typeface="Arial"/>
                <a:ea typeface="Arial"/>
                <a:cs typeface="Arial"/>
              </a:defRPr>
            </a:lvl7pPr>
            <a:lvl8pPr>
              <a:defRPr sz="2100" b="0">
                <a:solidFill>
                  <a:srgbClr val="153443"/>
                </a:solidFill>
                <a:latin typeface="Arial"/>
                <a:ea typeface="Arial"/>
                <a:cs typeface="Arial"/>
              </a:defRPr>
            </a:lvl8pPr>
            <a:lvl9pPr>
              <a:defRPr sz="2100" b="0">
                <a:solidFill>
                  <a:srgbClr val="153443"/>
                </a:solidFill>
                <a:latin typeface="Arial"/>
                <a:ea typeface="Arial"/>
                <a:cs typeface="Arial"/>
              </a:defRPr>
            </a:lvl9pPr>
          </a:lstStyle>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d = 8 µm</a:t>
            </a:r>
          </a:p>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2 modus TE</a:t>
            </a:r>
          </a:p>
        </p:txBody>
      </p:sp>
      <p:sp>
        <p:nvSpPr>
          <p:cNvPr id="7" name="">
            <a:extLst xmlns:a="http://schemas.openxmlformats.org/drawingml/2006/main">
              <a:ext uri="{FF2B5EF4-FFF2-40B4-BE49-F238E27FC236}">
                <a16:creationId xmlns:a16="http://schemas.microsoft.com/office/drawing/2014/main" id="{F68429CD-0210-4E08-8825-040A5BA3648A}"/>
              </a:ext>
            </a:extLst>
          </p:cNvPr>
          <p:cNvSpPr>
            <a:spLocks xmlns:a="http://schemas.openxmlformats.org/drawingml/2006/main" noGrp="1"/>
          </p:cNvSpPr>
          <p:nvPr/>
        </p:nvSpPr>
        <p:spPr>
          <a:xfrm xmlns:a="http://schemas.openxmlformats.org/drawingml/2006/main">
            <a:off x="8667750" y="4286250"/>
            <a:ext cx="266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443"/>
                </a:solidFill>
                <a:latin typeface="Arial"/>
                <a:ea typeface="Arial"/>
                <a:cs typeface="Arial"/>
              </a:defRPr>
            </a:defPPr>
            <a:lvl1pPr>
              <a:defRPr sz="2100" b="0">
                <a:solidFill>
                  <a:srgbClr val="153443"/>
                </a:solidFill>
                <a:latin typeface="Arial"/>
                <a:ea typeface="Arial"/>
                <a:cs typeface="Arial"/>
              </a:defRPr>
            </a:lvl1pPr>
            <a:lvl2pPr>
              <a:defRPr sz="2100" b="0">
                <a:solidFill>
                  <a:srgbClr val="153443"/>
                </a:solidFill>
                <a:latin typeface="Arial"/>
                <a:ea typeface="Arial"/>
                <a:cs typeface="Arial"/>
              </a:defRPr>
            </a:lvl2pPr>
            <a:lvl3pPr>
              <a:defRPr sz="2100" b="0">
                <a:solidFill>
                  <a:srgbClr val="153443"/>
                </a:solidFill>
                <a:latin typeface="Arial"/>
                <a:ea typeface="Arial"/>
                <a:cs typeface="Arial"/>
              </a:defRPr>
            </a:lvl3pPr>
            <a:lvl4pPr>
              <a:defRPr sz="2100" b="0">
                <a:solidFill>
                  <a:srgbClr val="153443"/>
                </a:solidFill>
                <a:latin typeface="Arial"/>
                <a:ea typeface="Arial"/>
                <a:cs typeface="Arial"/>
              </a:defRPr>
            </a:lvl4pPr>
            <a:lvl5pPr>
              <a:defRPr sz="2100" b="0">
                <a:solidFill>
                  <a:srgbClr val="153443"/>
                </a:solidFill>
                <a:latin typeface="Arial"/>
                <a:ea typeface="Arial"/>
                <a:cs typeface="Arial"/>
              </a:defRPr>
            </a:lvl5pPr>
            <a:lvl6pPr>
              <a:defRPr sz="2100" b="0">
                <a:solidFill>
                  <a:srgbClr val="153443"/>
                </a:solidFill>
                <a:latin typeface="Arial"/>
                <a:ea typeface="Arial"/>
                <a:cs typeface="Arial"/>
              </a:defRPr>
            </a:lvl6pPr>
            <a:lvl7pPr>
              <a:defRPr sz="2100" b="0">
                <a:solidFill>
                  <a:srgbClr val="153443"/>
                </a:solidFill>
                <a:latin typeface="Arial"/>
                <a:ea typeface="Arial"/>
                <a:cs typeface="Arial"/>
              </a:defRPr>
            </a:lvl7pPr>
            <a:lvl8pPr>
              <a:defRPr sz="2100" b="0">
                <a:solidFill>
                  <a:srgbClr val="153443"/>
                </a:solidFill>
                <a:latin typeface="Arial"/>
                <a:ea typeface="Arial"/>
                <a:cs typeface="Arial"/>
              </a:defRPr>
            </a:lvl8pPr>
            <a:lvl9pPr>
              <a:defRPr sz="2100" b="0">
                <a:solidFill>
                  <a:srgbClr val="153443"/>
                </a:solidFill>
                <a:latin typeface="Arial"/>
                <a:ea typeface="Arial"/>
                <a:cs typeface="Arial"/>
              </a:defRPr>
            </a:lvl9pPr>
          </a:lstStyle>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d = 12 µm</a:t>
            </a:r>
          </a:p>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3 modus TE</a:t>
            </a:r>
          </a:p>
        </p:txBody>
      </p:sp>
    </p:spTree>
    <p:extLst>
      <p:ext uri="{BB962C8B-B14F-4D97-AF65-F5344CB8AC3E}">
        <p14:creationId xmlns:p14="http://schemas.microsoft.com/office/powerpoint/2010/main" val="189162851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D698B75-6D74-4E1D-9FF8-ACA09E14FAA7}"/>
              </a:ext>
            </a:extLst>
          </p:cNvPr>
          <p:cNvSpPr>
            <a:spLocks xmlns:a="http://schemas.openxmlformats.org/drawingml/2006/main" noGrp="1"/>
          </p:cNvSpPr>
          <p:nvPr/>
        </p:nvSpPr>
        <p:spPr>
          <a:xfrm xmlns:a="http://schemas.openxmlformats.org/drawingml/2006/main">
            <a:off x="609600" y="3810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443"/>
                </a:solidFill>
                <a:latin typeface="Arial"/>
                <a:ea typeface="Arial"/>
                <a:cs typeface="Arial"/>
              </a:defRPr>
            </a:defPPr>
            <a:lvl1pPr>
              <a:defRPr sz="3225" b="1">
                <a:solidFill>
                  <a:srgbClr val="153443"/>
                </a:solidFill>
                <a:latin typeface="Arial"/>
                <a:ea typeface="Arial"/>
                <a:cs typeface="Arial"/>
              </a:defRPr>
            </a:lvl1pPr>
            <a:lvl2pPr>
              <a:defRPr sz="3225" b="1">
                <a:solidFill>
                  <a:srgbClr val="153443"/>
                </a:solidFill>
                <a:latin typeface="Arial"/>
                <a:ea typeface="Arial"/>
                <a:cs typeface="Arial"/>
              </a:defRPr>
            </a:lvl2pPr>
            <a:lvl3pPr>
              <a:defRPr sz="3225" b="1">
                <a:solidFill>
                  <a:srgbClr val="153443"/>
                </a:solidFill>
                <a:latin typeface="Arial"/>
                <a:ea typeface="Arial"/>
                <a:cs typeface="Arial"/>
              </a:defRPr>
            </a:lvl3pPr>
            <a:lvl4pPr>
              <a:defRPr sz="3225" b="1">
                <a:solidFill>
                  <a:srgbClr val="153443"/>
                </a:solidFill>
                <a:latin typeface="Arial"/>
                <a:ea typeface="Arial"/>
                <a:cs typeface="Arial"/>
              </a:defRPr>
            </a:lvl4pPr>
            <a:lvl5pPr>
              <a:defRPr sz="3225" b="1">
                <a:solidFill>
                  <a:srgbClr val="153443"/>
                </a:solidFill>
                <a:latin typeface="Arial"/>
                <a:ea typeface="Arial"/>
                <a:cs typeface="Arial"/>
              </a:defRPr>
            </a:lvl5pPr>
            <a:lvl6pPr>
              <a:defRPr sz="3225" b="1">
                <a:solidFill>
                  <a:srgbClr val="153443"/>
                </a:solidFill>
                <a:latin typeface="Arial"/>
                <a:ea typeface="Arial"/>
                <a:cs typeface="Arial"/>
              </a:defRPr>
            </a:lvl6pPr>
            <a:lvl7pPr>
              <a:defRPr sz="3225" b="1">
                <a:solidFill>
                  <a:srgbClr val="153443"/>
                </a:solidFill>
                <a:latin typeface="Arial"/>
                <a:ea typeface="Arial"/>
                <a:cs typeface="Arial"/>
              </a:defRPr>
            </a:lvl7pPr>
            <a:lvl8pPr>
              <a:defRPr sz="3225" b="1">
                <a:solidFill>
                  <a:srgbClr val="153443"/>
                </a:solidFill>
                <a:latin typeface="Arial"/>
                <a:ea typeface="Arial"/>
                <a:cs typeface="Arial"/>
              </a:defRPr>
            </a:lvl8pPr>
            <a:lvl9pPr>
              <a:defRPr sz="3225" b="1">
                <a:solidFill>
                  <a:srgbClr val="153443"/>
                </a:solidFill>
                <a:latin typeface="Arial"/>
                <a:ea typeface="Arial"/>
                <a:cs typeface="Arial"/>
              </a:defRPr>
            </a:lvl9pPr>
          </a:lstStyle>
          <a:p xmlns:a="http://schemas.openxmlformats.org/drawingml/2006/main">
            <a:pPr>
              <a:defRPr sz="3225" b="1">
                <a:solidFill>
                  <a:srgbClr val="153443"/>
                </a:solidFill>
                <a:latin typeface="Arial"/>
                <a:ea typeface="Arial"/>
                <a:cs typeface="Arial"/>
              </a:defRPr>
            </a:pPr>
            <a:r>
              <a:rPr sz="3225" b="1">
                <a:solidFill>
                  <a:srgbClr val="153443"/>
                </a:solidFill>
                <a:latin typeface="Arial"/>
                <a:ea typeface="Arial"/>
                <a:cs typeface="Arial"/>
              </a:rPr>
              <a:t>Geometri directional coupler</a:t>
            </a:r>
          </a:p>
        </p:txBody>
      </p:sp>
      <p:sp>
        <p:nvSpPr>
          <p:cNvPr id="2" name="">
            <a:extLst xmlns:a="http://schemas.openxmlformats.org/drawingml/2006/main">
              <a:ext uri="{FF2B5EF4-FFF2-40B4-BE49-F238E27FC236}">
                <a16:creationId xmlns:a16="http://schemas.microsoft.com/office/drawing/2014/main" id="{6A36C839-DFA8-4E09-B68A-A091FA56A676}"/>
              </a:ext>
            </a:extLst>
          </p:cNvPr>
          <p:cNvSpPr>
            <a:spLocks xmlns:a="http://schemas.openxmlformats.org/drawingml/2006/main" noGrp="1"/>
          </p:cNvSpPr>
          <p:nvPr/>
        </p:nvSpPr>
        <p:spPr>
          <a:xfrm xmlns:a="http://schemas.openxmlformats.org/drawingml/2006/main">
            <a:off x="609600" y="63817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OPTIK MODERN  ·  PENUGASAN 1</a:t>
            </a:r>
          </a:p>
        </p:txBody>
      </p:sp>
      <p:sp>
        <p:nvSpPr>
          <p:cNvPr id="3" name="">
            <a:extLst xmlns:a="http://schemas.openxmlformats.org/drawingml/2006/main">
              <a:ext uri="{FF2B5EF4-FFF2-40B4-BE49-F238E27FC236}">
                <a16:creationId xmlns:a16="http://schemas.microsoft.com/office/drawing/2014/main" id="{6FF2D9B0-727E-4C11-8C63-69F794D5BE73}"/>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4C1C781F-A859-4AD4-B062-768B862FDDA7}"/>
              </a:ext>
            </a:extLst>
          </p:cNvPr>
          <p:cNvSpPr>
            <a:spLocks xmlns:a="http://schemas.openxmlformats.org/drawingml/2006/main" noGrp="1"/>
          </p:cNvSpPr>
          <p:nvPr/>
        </p:nvSpPr>
        <p:spPr>
          <a:xfrm xmlns:a="http://schemas.openxmlformats.org/drawingml/2006/main">
            <a:off x="609600" y="1809750"/>
            <a:ext cx="7715250" cy="3429000"/>
          </a:xfrm>
          <a:prstGeom xmlns:a="http://schemas.openxmlformats.org/drawingml/2006/main" prst="rect">
            <a:avLst/>
          </a:prstGeom>
          <a:solidFill xmlns:a="http://schemas.openxmlformats.org/drawingml/2006/main">
            <a:srgbClr val="EDF2F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729859B-FAE9-4ED8-A282-128C8442EB67}"/>
              </a:ext>
            </a:extLst>
          </p:cNvPr>
          <p:cNvSpPr>
            <a:spLocks xmlns:a="http://schemas.openxmlformats.org/drawingml/2006/main" noGrp="1"/>
          </p:cNvSpPr>
          <p:nvPr/>
        </p:nvSpPr>
        <p:spPr>
          <a:xfrm xmlns:a="http://schemas.openxmlformats.org/drawingml/2006/main">
            <a:off x="609600" y="2286000"/>
            <a:ext cx="7715250" cy="685800"/>
          </a:xfrm>
          <a:prstGeom xmlns:a="http://schemas.openxmlformats.org/drawingml/2006/main" prst="rect">
            <a:avLst/>
          </a:prstGeom>
          <a:solidFill xmlns:a="http://schemas.openxmlformats.org/drawingml/2006/main">
            <a:srgbClr val="B9D6D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49C5D1B-B26C-41E7-956A-F1CAFA12A14A}"/>
              </a:ext>
            </a:extLst>
          </p:cNvPr>
          <p:cNvSpPr>
            <a:spLocks xmlns:a="http://schemas.openxmlformats.org/drawingml/2006/main" noGrp="1"/>
          </p:cNvSpPr>
          <p:nvPr/>
        </p:nvSpPr>
        <p:spPr>
          <a:xfrm xmlns:a="http://schemas.openxmlformats.org/drawingml/2006/main">
            <a:off x="609600" y="4095750"/>
            <a:ext cx="7715250" cy="685800"/>
          </a:xfrm>
          <a:prstGeom xmlns:a="http://schemas.openxmlformats.org/drawingml/2006/main" prst="rect">
            <a:avLst/>
          </a:prstGeom>
          <a:solidFill xmlns:a="http://schemas.openxmlformats.org/drawingml/2006/main">
            <a:srgbClr val="B9D6D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BBAF7AB-6B43-463C-97F4-454789FEBD26}"/>
              </a:ext>
            </a:extLst>
          </p:cNvPr>
          <p:cNvSpPr>
            <a:spLocks xmlns:a="http://schemas.openxmlformats.org/drawingml/2006/main" noGrp="1"/>
          </p:cNvSpPr>
          <p:nvPr/>
        </p:nvSpPr>
        <p:spPr>
          <a:xfrm xmlns:a="http://schemas.openxmlformats.org/drawingml/2006/main">
            <a:off x="904875" y="2457450"/>
            <a:ext cx="676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53443"/>
                </a:solidFill>
                <a:latin typeface="Arial"/>
                <a:ea typeface="Arial"/>
                <a:cs typeface="Arial"/>
              </a:defRPr>
            </a:defPPr>
            <a:lvl1pPr>
              <a:defRPr sz="2250" b="1">
                <a:solidFill>
                  <a:srgbClr val="153443"/>
                </a:solidFill>
                <a:latin typeface="Arial"/>
                <a:ea typeface="Arial"/>
                <a:cs typeface="Arial"/>
              </a:defRPr>
            </a:lvl1pPr>
            <a:lvl2pPr>
              <a:defRPr sz="2250" b="1">
                <a:solidFill>
                  <a:srgbClr val="153443"/>
                </a:solidFill>
                <a:latin typeface="Arial"/>
                <a:ea typeface="Arial"/>
                <a:cs typeface="Arial"/>
              </a:defRPr>
            </a:lvl2pPr>
            <a:lvl3pPr>
              <a:defRPr sz="2250" b="1">
                <a:solidFill>
                  <a:srgbClr val="153443"/>
                </a:solidFill>
                <a:latin typeface="Arial"/>
                <a:ea typeface="Arial"/>
                <a:cs typeface="Arial"/>
              </a:defRPr>
            </a:lvl3pPr>
            <a:lvl4pPr>
              <a:defRPr sz="2250" b="1">
                <a:solidFill>
                  <a:srgbClr val="153443"/>
                </a:solidFill>
                <a:latin typeface="Arial"/>
                <a:ea typeface="Arial"/>
                <a:cs typeface="Arial"/>
              </a:defRPr>
            </a:lvl4pPr>
            <a:lvl5pPr>
              <a:defRPr sz="2250" b="1">
                <a:solidFill>
                  <a:srgbClr val="153443"/>
                </a:solidFill>
                <a:latin typeface="Arial"/>
                <a:ea typeface="Arial"/>
                <a:cs typeface="Arial"/>
              </a:defRPr>
            </a:lvl5pPr>
            <a:lvl6pPr>
              <a:defRPr sz="2250" b="1">
                <a:solidFill>
                  <a:srgbClr val="153443"/>
                </a:solidFill>
                <a:latin typeface="Arial"/>
                <a:ea typeface="Arial"/>
                <a:cs typeface="Arial"/>
              </a:defRPr>
            </a:lvl6pPr>
            <a:lvl7pPr>
              <a:defRPr sz="2250" b="1">
                <a:solidFill>
                  <a:srgbClr val="153443"/>
                </a:solidFill>
                <a:latin typeface="Arial"/>
                <a:ea typeface="Arial"/>
                <a:cs typeface="Arial"/>
              </a:defRPr>
            </a:lvl7pPr>
            <a:lvl8pPr>
              <a:defRPr sz="2250" b="1">
                <a:solidFill>
                  <a:srgbClr val="153443"/>
                </a:solidFill>
                <a:latin typeface="Arial"/>
                <a:ea typeface="Arial"/>
                <a:cs typeface="Arial"/>
              </a:defRPr>
            </a:lvl8pPr>
            <a:lvl9pPr>
              <a:defRPr sz="2250" b="1">
                <a:solidFill>
                  <a:srgbClr val="153443"/>
                </a:solidFill>
                <a:latin typeface="Arial"/>
                <a:ea typeface="Arial"/>
                <a:cs typeface="Arial"/>
              </a:defRPr>
            </a:lvl9pPr>
          </a:lstStyle>
          <a:p xmlns:a="http://schemas.openxmlformats.org/drawingml/2006/main">
            <a:pPr>
              <a:defRPr sz="2250" b="1">
                <a:solidFill>
                  <a:srgbClr val="153443"/>
                </a:solidFill>
                <a:latin typeface="Arial"/>
                <a:ea typeface="Arial"/>
                <a:cs typeface="Arial"/>
              </a:defRPr>
            </a:pPr>
            <a:r>
              <a:rPr sz="2250" b="1">
                <a:solidFill>
                  <a:srgbClr val="153443"/>
                </a:solidFill>
                <a:latin typeface="Arial"/>
                <a:ea typeface="Arial"/>
                <a:cs typeface="Arial"/>
              </a:rPr>
              <a:t>Pandu a     d = 2 µm</a:t>
            </a:r>
          </a:p>
        </p:txBody>
      </p:sp>
      <p:sp>
        <p:nvSpPr>
          <p:cNvPr id="8" name="">
            <a:extLst xmlns:a="http://schemas.openxmlformats.org/drawingml/2006/main">
              <a:ext uri="{FF2B5EF4-FFF2-40B4-BE49-F238E27FC236}">
                <a16:creationId xmlns:a16="http://schemas.microsoft.com/office/drawing/2014/main" id="{9AC2F87A-7D7E-4BD6-BCF9-566BF8DD2156}"/>
              </a:ext>
            </a:extLst>
          </p:cNvPr>
          <p:cNvSpPr>
            <a:spLocks xmlns:a="http://schemas.openxmlformats.org/drawingml/2006/main" noGrp="1"/>
          </p:cNvSpPr>
          <p:nvPr/>
        </p:nvSpPr>
        <p:spPr>
          <a:xfrm xmlns:a="http://schemas.openxmlformats.org/drawingml/2006/main">
            <a:off x="904875" y="4267200"/>
            <a:ext cx="676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53443"/>
                </a:solidFill>
                <a:latin typeface="Arial"/>
                <a:ea typeface="Arial"/>
                <a:cs typeface="Arial"/>
              </a:defRPr>
            </a:defPPr>
            <a:lvl1pPr>
              <a:defRPr sz="2250" b="1">
                <a:solidFill>
                  <a:srgbClr val="153443"/>
                </a:solidFill>
                <a:latin typeface="Arial"/>
                <a:ea typeface="Arial"/>
                <a:cs typeface="Arial"/>
              </a:defRPr>
            </a:lvl1pPr>
            <a:lvl2pPr>
              <a:defRPr sz="2250" b="1">
                <a:solidFill>
                  <a:srgbClr val="153443"/>
                </a:solidFill>
                <a:latin typeface="Arial"/>
                <a:ea typeface="Arial"/>
                <a:cs typeface="Arial"/>
              </a:defRPr>
            </a:lvl2pPr>
            <a:lvl3pPr>
              <a:defRPr sz="2250" b="1">
                <a:solidFill>
                  <a:srgbClr val="153443"/>
                </a:solidFill>
                <a:latin typeface="Arial"/>
                <a:ea typeface="Arial"/>
                <a:cs typeface="Arial"/>
              </a:defRPr>
            </a:lvl3pPr>
            <a:lvl4pPr>
              <a:defRPr sz="2250" b="1">
                <a:solidFill>
                  <a:srgbClr val="153443"/>
                </a:solidFill>
                <a:latin typeface="Arial"/>
                <a:ea typeface="Arial"/>
                <a:cs typeface="Arial"/>
              </a:defRPr>
            </a:lvl4pPr>
            <a:lvl5pPr>
              <a:defRPr sz="2250" b="1">
                <a:solidFill>
                  <a:srgbClr val="153443"/>
                </a:solidFill>
                <a:latin typeface="Arial"/>
                <a:ea typeface="Arial"/>
                <a:cs typeface="Arial"/>
              </a:defRPr>
            </a:lvl5pPr>
            <a:lvl6pPr>
              <a:defRPr sz="2250" b="1">
                <a:solidFill>
                  <a:srgbClr val="153443"/>
                </a:solidFill>
                <a:latin typeface="Arial"/>
                <a:ea typeface="Arial"/>
                <a:cs typeface="Arial"/>
              </a:defRPr>
            </a:lvl6pPr>
            <a:lvl7pPr>
              <a:defRPr sz="2250" b="1">
                <a:solidFill>
                  <a:srgbClr val="153443"/>
                </a:solidFill>
                <a:latin typeface="Arial"/>
                <a:ea typeface="Arial"/>
                <a:cs typeface="Arial"/>
              </a:defRPr>
            </a:lvl7pPr>
            <a:lvl8pPr>
              <a:defRPr sz="2250" b="1">
                <a:solidFill>
                  <a:srgbClr val="153443"/>
                </a:solidFill>
                <a:latin typeface="Arial"/>
                <a:ea typeface="Arial"/>
                <a:cs typeface="Arial"/>
              </a:defRPr>
            </a:lvl8pPr>
            <a:lvl9pPr>
              <a:defRPr sz="2250" b="1">
                <a:solidFill>
                  <a:srgbClr val="153443"/>
                </a:solidFill>
                <a:latin typeface="Arial"/>
                <a:ea typeface="Arial"/>
                <a:cs typeface="Arial"/>
              </a:defRPr>
            </a:lvl9pPr>
          </a:lstStyle>
          <a:p xmlns:a="http://schemas.openxmlformats.org/drawingml/2006/main">
            <a:pPr>
              <a:defRPr sz="2250" b="1">
                <a:solidFill>
                  <a:srgbClr val="153443"/>
                </a:solidFill>
                <a:latin typeface="Arial"/>
                <a:ea typeface="Arial"/>
                <a:cs typeface="Arial"/>
              </a:defRPr>
            </a:pPr>
            <a:r>
              <a:rPr sz="2250" b="1">
                <a:solidFill>
                  <a:srgbClr val="153443"/>
                </a:solidFill>
                <a:latin typeface="Arial"/>
                <a:ea typeface="Arial"/>
                <a:cs typeface="Arial"/>
              </a:rPr>
              <a:t>Pandu b     d = 2 µm</a:t>
            </a:r>
          </a:p>
        </p:txBody>
      </p:sp>
      <p:sp>
        <p:nvSpPr>
          <p:cNvPr id="9" name="">
            <a:extLst xmlns:a="http://schemas.openxmlformats.org/drawingml/2006/main">
              <a:ext uri="{FF2B5EF4-FFF2-40B4-BE49-F238E27FC236}">
                <a16:creationId xmlns:a16="http://schemas.microsoft.com/office/drawing/2014/main" id="{F416DEBD-AB11-4C8F-AD9B-23180C3BFB30}"/>
              </a:ext>
            </a:extLst>
          </p:cNvPr>
          <p:cNvSpPr>
            <a:spLocks xmlns:a="http://schemas.openxmlformats.org/drawingml/2006/main" noGrp="1"/>
          </p:cNvSpPr>
          <p:nvPr/>
        </p:nvSpPr>
        <p:spPr>
          <a:xfrm xmlns:a="http://schemas.openxmlformats.org/drawingml/2006/main">
            <a:off x="904875" y="3381375"/>
            <a:ext cx="695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6078"/>
                </a:solidFill>
                <a:latin typeface="Arial"/>
                <a:ea typeface="Arial"/>
                <a:cs typeface="Arial"/>
              </a:defRPr>
            </a:defPPr>
            <a:lvl1pPr>
              <a:defRPr sz="2175" b="0">
                <a:solidFill>
                  <a:srgbClr val="146078"/>
                </a:solidFill>
                <a:latin typeface="Arial"/>
                <a:ea typeface="Arial"/>
                <a:cs typeface="Arial"/>
              </a:defRPr>
            </a:lvl1pPr>
            <a:lvl2pPr>
              <a:defRPr sz="2175" b="0">
                <a:solidFill>
                  <a:srgbClr val="146078"/>
                </a:solidFill>
                <a:latin typeface="Arial"/>
                <a:ea typeface="Arial"/>
                <a:cs typeface="Arial"/>
              </a:defRPr>
            </a:lvl2pPr>
            <a:lvl3pPr>
              <a:defRPr sz="2175" b="0">
                <a:solidFill>
                  <a:srgbClr val="146078"/>
                </a:solidFill>
                <a:latin typeface="Arial"/>
                <a:ea typeface="Arial"/>
                <a:cs typeface="Arial"/>
              </a:defRPr>
            </a:lvl3pPr>
            <a:lvl4pPr>
              <a:defRPr sz="2175" b="0">
                <a:solidFill>
                  <a:srgbClr val="146078"/>
                </a:solidFill>
                <a:latin typeface="Arial"/>
                <a:ea typeface="Arial"/>
                <a:cs typeface="Arial"/>
              </a:defRPr>
            </a:lvl4pPr>
            <a:lvl5pPr>
              <a:defRPr sz="2175" b="0">
                <a:solidFill>
                  <a:srgbClr val="146078"/>
                </a:solidFill>
                <a:latin typeface="Arial"/>
                <a:ea typeface="Arial"/>
                <a:cs typeface="Arial"/>
              </a:defRPr>
            </a:lvl5pPr>
            <a:lvl6pPr>
              <a:defRPr sz="2175" b="0">
                <a:solidFill>
                  <a:srgbClr val="146078"/>
                </a:solidFill>
                <a:latin typeface="Arial"/>
                <a:ea typeface="Arial"/>
                <a:cs typeface="Arial"/>
              </a:defRPr>
            </a:lvl6pPr>
            <a:lvl7pPr>
              <a:defRPr sz="2175" b="0">
                <a:solidFill>
                  <a:srgbClr val="146078"/>
                </a:solidFill>
                <a:latin typeface="Arial"/>
                <a:ea typeface="Arial"/>
                <a:cs typeface="Arial"/>
              </a:defRPr>
            </a:lvl7pPr>
            <a:lvl8pPr>
              <a:defRPr sz="2175" b="0">
                <a:solidFill>
                  <a:srgbClr val="146078"/>
                </a:solidFill>
                <a:latin typeface="Arial"/>
                <a:ea typeface="Arial"/>
                <a:cs typeface="Arial"/>
              </a:defRPr>
            </a:lvl8pPr>
            <a:lvl9pPr>
              <a:defRPr sz="2175" b="0">
                <a:solidFill>
                  <a:srgbClr val="146078"/>
                </a:solidFill>
                <a:latin typeface="Arial"/>
                <a:ea typeface="Arial"/>
                <a:cs typeface="Arial"/>
              </a:defRPr>
            </a:lvl9pPr>
          </a:lstStyle>
          <a:p xmlns:a="http://schemas.openxmlformats.org/drawingml/2006/main">
            <a:pPr>
              <a:defRPr sz="2175" b="0">
                <a:solidFill>
                  <a:srgbClr val="146078"/>
                </a:solidFill>
                <a:latin typeface="Arial"/>
                <a:ea typeface="Arial"/>
                <a:cs typeface="Arial"/>
              </a:defRPr>
            </a:pPr>
            <a:r>
              <a:rPr sz="2175" b="0">
                <a:solidFill>
                  <a:srgbClr val="146078"/>
                </a:solidFill>
                <a:latin typeface="Arial"/>
                <a:ea typeface="Arial"/>
                <a:cs typeface="Arial"/>
              </a:rPr>
              <a:t>Celah g = 2, 4, atau 6 µm</a:t>
            </a:r>
          </a:p>
        </p:txBody>
      </p:sp>
      <p:sp>
        <p:nvSpPr>
          <p:cNvPr id="10" name="">
            <a:extLst xmlns:a="http://schemas.openxmlformats.org/drawingml/2006/main">
              <a:ext uri="{FF2B5EF4-FFF2-40B4-BE49-F238E27FC236}">
                <a16:creationId xmlns:a16="http://schemas.microsoft.com/office/drawing/2014/main" id="{F9890BA3-A780-411D-B5FA-CA569BF18C81}"/>
              </a:ext>
            </a:extLst>
          </p:cNvPr>
          <p:cNvSpPr>
            <a:spLocks xmlns:a="http://schemas.openxmlformats.org/drawingml/2006/main" noGrp="1"/>
          </p:cNvSpPr>
          <p:nvPr/>
        </p:nvSpPr>
        <p:spPr>
          <a:xfrm xmlns:a="http://schemas.openxmlformats.org/drawingml/2006/main">
            <a:off x="5334000" y="552450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6078"/>
                </a:solidFill>
                <a:latin typeface="Arial"/>
                <a:ea typeface="Arial"/>
                <a:cs typeface="Arial"/>
              </a:defRPr>
            </a:defPPr>
            <a:lvl1pPr>
              <a:defRPr sz="1950" b="0">
                <a:solidFill>
                  <a:srgbClr val="146078"/>
                </a:solidFill>
                <a:latin typeface="Arial"/>
                <a:ea typeface="Arial"/>
                <a:cs typeface="Arial"/>
              </a:defRPr>
            </a:lvl1pPr>
            <a:lvl2pPr>
              <a:defRPr sz="1950" b="0">
                <a:solidFill>
                  <a:srgbClr val="146078"/>
                </a:solidFill>
                <a:latin typeface="Arial"/>
                <a:ea typeface="Arial"/>
                <a:cs typeface="Arial"/>
              </a:defRPr>
            </a:lvl2pPr>
            <a:lvl3pPr>
              <a:defRPr sz="1950" b="0">
                <a:solidFill>
                  <a:srgbClr val="146078"/>
                </a:solidFill>
                <a:latin typeface="Arial"/>
                <a:ea typeface="Arial"/>
                <a:cs typeface="Arial"/>
              </a:defRPr>
            </a:lvl3pPr>
            <a:lvl4pPr>
              <a:defRPr sz="1950" b="0">
                <a:solidFill>
                  <a:srgbClr val="146078"/>
                </a:solidFill>
                <a:latin typeface="Arial"/>
                <a:ea typeface="Arial"/>
                <a:cs typeface="Arial"/>
              </a:defRPr>
            </a:lvl4pPr>
            <a:lvl5pPr>
              <a:defRPr sz="1950" b="0">
                <a:solidFill>
                  <a:srgbClr val="146078"/>
                </a:solidFill>
                <a:latin typeface="Arial"/>
                <a:ea typeface="Arial"/>
                <a:cs typeface="Arial"/>
              </a:defRPr>
            </a:lvl5pPr>
            <a:lvl6pPr>
              <a:defRPr sz="1950" b="0">
                <a:solidFill>
                  <a:srgbClr val="146078"/>
                </a:solidFill>
                <a:latin typeface="Arial"/>
                <a:ea typeface="Arial"/>
                <a:cs typeface="Arial"/>
              </a:defRPr>
            </a:lvl6pPr>
            <a:lvl7pPr>
              <a:defRPr sz="1950" b="0">
                <a:solidFill>
                  <a:srgbClr val="146078"/>
                </a:solidFill>
                <a:latin typeface="Arial"/>
                <a:ea typeface="Arial"/>
                <a:cs typeface="Arial"/>
              </a:defRPr>
            </a:lvl7pPr>
            <a:lvl8pPr>
              <a:defRPr sz="1950" b="0">
                <a:solidFill>
                  <a:srgbClr val="146078"/>
                </a:solidFill>
                <a:latin typeface="Arial"/>
                <a:ea typeface="Arial"/>
                <a:cs typeface="Arial"/>
              </a:defRPr>
            </a:lvl8pPr>
            <a:lvl9pPr>
              <a:defRPr sz="1950" b="0">
                <a:solidFill>
                  <a:srgbClr val="146078"/>
                </a:solidFill>
                <a:latin typeface="Arial"/>
                <a:ea typeface="Arial"/>
                <a:cs typeface="Arial"/>
              </a:defRPr>
            </a:lvl9pPr>
          </a:lstStyle>
          <a:p xmlns:a="http://schemas.openxmlformats.org/drawingml/2006/main">
            <a:pPr>
              <a:defRPr sz="1950" b="0">
                <a:solidFill>
                  <a:srgbClr val="146078"/>
                </a:solidFill>
                <a:latin typeface="Arial"/>
                <a:ea typeface="Arial"/>
                <a:cs typeface="Arial"/>
              </a:defRPr>
            </a:pPr>
            <a:r>
              <a:rPr sz="1950" b="0">
                <a:solidFill>
                  <a:srgbClr val="146078"/>
                </a:solidFill>
                <a:latin typeface="Arial"/>
                <a:ea typeface="Arial"/>
                <a:cs typeface="Arial"/>
              </a:rPr>
              <a:t>z arah propagasi</a:t>
            </a:r>
          </a:p>
        </p:txBody>
      </p:sp>
      <p:sp>
        <p:nvSpPr>
          <p:cNvPr id="11" name="">
            <a:extLst xmlns:a="http://schemas.openxmlformats.org/drawingml/2006/main">
              <a:ext uri="{FF2B5EF4-FFF2-40B4-BE49-F238E27FC236}">
                <a16:creationId xmlns:a16="http://schemas.microsoft.com/office/drawing/2014/main" id="{EE412B43-5384-424D-9EF4-C68314F4DA4E}"/>
              </a:ext>
            </a:extLst>
          </p:cNvPr>
          <p:cNvSpPr>
            <a:spLocks xmlns:a="http://schemas.openxmlformats.org/drawingml/2006/main" noGrp="1"/>
          </p:cNvSpPr>
          <p:nvPr/>
        </p:nvSpPr>
        <p:spPr>
          <a:xfrm xmlns:a="http://schemas.openxmlformats.org/drawingml/2006/main">
            <a:off x="8858250" y="1905000"/>
            <a:ext cx="266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443"/>
                </a:solidFill>
                <a:latin typeface="Arial"/>
                <a:ea typeface="Arial"/>
                <a:cs typeface="Arial"/>
              </a:defRPr>
            </a:defPPr>
            <a:lvl1pPr>
              <a:defRPr sz="2025" b="0">
                <a:solidFill>
                  <a:srgbClr val="153443"/>
                </a:solidFill>
                <a:latin typeface="Arial"/>
                <a:ea typeface="Arial"/>
                <a:cs typeface="Arial"/>
              </a:defRPr>
            </a:lvl1pPr>
            <a:lvl2pPr>
              <a:defRPr sz="2025" b="0">
                <a:solidFill>
                  <a:srgbClr val="153443"/>
                </a:solidFill>
                <a:latin typeface="Arial"/>
                <a:ea typeface="Arial"/>
                <a:cs typeface="Arial"/>
              </a:defRPr>
            </a:lvl2pPr>
            <a:lvl3pPr>
              <a:defRPr sz="2025" b="0">
                <a:solidFill>
                  <a:srgbClr val="153443"/>
                </a:solidFill>
                <a:latin typeface="Arial"/>
                <a:ea typeface="Arial"/>
                <a:cs typeface="Arial"/>
              </a:defRPr>
            </a:lvl3pPr>
            <a:lvl4pPr>
              <a:defRPr sz="2025" b="0">
                <a:solidFill>
                  <a:srgbClr val="153443"/>
                </a:solidFill>
                <a:latin typeface="Arial"/>
                <a:ea typeface="Arial"/>
                <a:cs typeface="Arial"/>
              </a:defRPr>
            </a:lvl4pPr>
            <a:lvl5pPr>
              <a:defRPr sz="2025" b="0">
                <a:solidFill>
                  <a:srgbClr val="153443"/>
                </a:solidFill>
                <a:latin typeface="Arial"/>
                <a:ea typeface="Arial"/>
                <a:cs typeface="Arial"/>
              </a:defRPr>
            </a:lvl5pPr>
            <a:lvl6pPr>
              <a:defRPr sz="2025" b="0">
                <a:solidFill>
                  <a:srgbClr val="153443"/>
                </a:solidFill>
                <a:latin typeface="Arial"/>
                <a:ea typeface="Arial"/>
                <a:cs typeface="Arial"/>
              </a:defRPr>
            </a:lvl6pPr>
            <a:lvl7pPr>
              <a:defRPr sz="2025" b="0">
                <a:solidFill>
                  <a:srgbClr val="153443"/>
                </a:solidFill>
                <a:latin typeface="Arial"/>
                <a:ea typeface="Arial"/>
                <a:cs typeface="Arial"/>
              </a:defRPr>
            </a:lvl7pPr>
            <a:lvl8pPr>
              <a:defRPr sz="2025" b="0">
                <a:solidFill>
                  <a:srgbClr val="153443"/>
                </a:solidFill>
                <a:latin typeface="Arial"/>
                <a:ea typeface="Arial"/>
                <a:cs typeface="Arial"/>
              </a:defRPr>
            </a:lvl8pPr>
            <a:lvl9pPr>
              <a:defRPr sz="2025" b="0">
                <a:solidFill>
                  <a:srgbClr val="153443"/>
                </a:solidFill>
                <a:latin typeface="Arial"/>
                <a:ea typeface="Arial"/>
                <a:cs typeface="Arial"/>
              </a:defRPr>
            </a:lvl9pPr>
          </a:lstStyle>
          <a:p xmlns:a="http://schemas.openxmlformats.org/drawingml/2006/main">
            <a:pPr>
              <a:defRPr sz="2025" b="0">
                <a:solidFill>
                  <a:srgbClr val="153443"/>
                </a:solidFill>
                <a:latin typeface="Arial"/>
                <a:ea typeface="Arial"/>
                <a:cs typeface="Arial"/>
              </a:defRPr>
            </a:pPr>
            <a:r>
              <a:rPr sz="2025" b="0">
                <a:solidFill>
                  <a:srgbClr val="153443"/>
                </a:solidFill>
                <a:latin typeface="Arial"/>
                <a:ea typeface="Arial"/>
                <a:cs typeface="Arial"/>
              </a:rPr>
              <a:t>n teras = 1,51</a:t>
            </a:r>
          </a:p>
        </p:txBody>
      </p:sp>
      <p:sp>
        <p:nvSpPr>
          <p:cNvPr id="12" name="">
            <a:extLst xmlns:a="http://schemas.openxmlformats.org/drawingml/2006/main">
              <a:ext uri="{FF2B5EF4-FFF2-40B4-BE49-F238E27FC236}">
                <a16:creationId xmlns:a16="http://schemas.microsoft.com/office/drawing/2014/main" id="{3BBD481F-0138-4088-943B-6EE4F4095479}"/>
              </a:ext>
            </a:extLst>
          </p:cNvPr>
          <p:cNvSpPr>
            <a:spLocks xmlns:a="http://schemas.openxmlformats.org/drawingml/2006/main" noGrp="1"/>
          </p:cNvSpPr>
          <p:nvPr/>
        </p:nvSpPr>
        <p:spPr>
          <a:xfrm xmlns:a="http://schemas.openxmlformats.org/drawingml/2006/main">
            <a:off x="8858250" y="3000375"/>
            <a:ext cx="266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443"/>
                </a:solidFill>
                <a:latin typeface="Arial"/>
                <a:ea typeface="Arial"/>
                <a:cs typeface="Arial"/>
              </a:defRPr>
            </a:defPPr>
            <a:lvl1pPr>
              <a:defRPr sz="2025" b="0">
                <a:solidFill>
                  <a:srgbClr val="153443"/>
                </a:solidFill>
                <a:latin typeface="Arial"/>
                <a:ea typeface="Arial"/>
                <a:cs typeface="Arial"/>
              </a:defRPr>
            </a:lvl1pPr>
            <a:lvl2pPr>
              <a:defRPr sz="2025" b="0">
                <a:solidFill>
                  <a:srgbClr val="153443"/>
                </a:solidFill>
                <a:latin typeface="Arial"/>
                <a:ea typeface="Arial"/>
                <a:cs typeface="Arial"/>
              </a:defRPr>
            </a:lvl2pPr>
            <a:lvl3pPr>
              <a:defRPr sz="2025" b="0">
                <a:solidFill>
                  <a:srgbClr val="153443"/>
                </a:solidFill>
                <a:latin typeface="Arial"/>
                <a:ea typeface="Arial"/>
                <a:cs typeface="Arial"/>
              </a:defRPr>
            </a:lvl3pPr>
            <a:lvl4pPr>
              <a:defRPr sz="2025" b="0">
                <a:solidFill>
                  <a:srgbClr val="153443"/>
                </a:solidFill>
                <a:latin typeface="Arial"/>
                <a:ea typeface="Arial"/>
                <a:cs typeface="Arial"/>
              </a:defRPr>
            </a:lvl4pPr>
            <a:lvl5pPr>
              <a:defRPr sz="2025" b="0">
                <a:solidFill>
                  <a:srgbClr val="153443"/>
                </a:solidFill>
                <a:latin typeface="Arial"/>
                <a:ea typeface="Arial"/>
                <a:cs typeface="Arial"/>
              </a:defRPr>
            </a:lvl5pPr>
            <a:lvl6pPr>
              <a:defRPr sz="2025" b="0">
                <a:solidFill>
                  <a:srgbClr val="153443"/>
                </a:solidFill>
                <a:latin typeface="Arial"/>
                <a:ea typeface="Arial"/>
                <a:cs typeface="Arial"/>
              </a:defRPr>
            </a:lvl6pPr>
            <a:lvl7pPr>
              <a:defRPr sz="2025" b="0">
                <a:solidFill>
                  <a:srgbClr val="153443"/>
                </a:solidFill>
                <a:latin typeface="Arial"/>
                <a:ea typeface="Arial"/>
                <a:cs typeface="Arial"/>
              </a:defRPr>
            </a:lvl7pPr>
            <a:lvl8pPr>
              <a:defRPr sz="2025" b="0">
                <a:solidFill>
                  <a:srgbClr val="153443"/>
                </a:solidFill>
                <a:latin typeface="Arial"/>
                <a:ea typeface="Arial"/>
                <a:cs typeface="Arial"/>
              </a:defRPr>
            </a:lvl8pPr>
            <a:lvl9pPr>
              <a:defRPr sz="2025" b="0">
                <a:solidFill>
                  <a:srgbClr val="153443"/>
                </a:solidFill>
                <a:latin typeface="Arial"/>
                <a:ea typeface="Arial"/>
                <a:cs typeface="Arial"/>
              </a:defRPr>
            </a:lvl9pPr>
          </a:lstStyle>
          <a:p xmlns:a="http://schemas.openxmlformats.org/drawingml/2006/main">
            <a:pPr>
              <a:defRPr sz="2025" b="0">
                <a:solidFill>
                  <a:srgbClr val="153443"/>
                </a:solidFill>
                <a:latin typeface="Arial"/>
                <a:ea typeface="Arial"/>
                <a:cs typeface="Arial"/>
              </a:defRPr>
            </a:pPr>
            <a:r>
              <a:rPr sz="2025" b="0">
                <a:solidFill>
                  <a:srgbClr val="153443"/>
                </a:solidFill>
                <a:latin typeface="Arial"/>
                <a:ea typeface="Arial"/>
                <a:cs typeface="Arial"/>
              </a:rPr>
              <a:t>n selubung = 1,50</a:t>
            </a:r>
          </a:p>
        </p:txBody>
      </p:sp>
      <p:sp>
        <p:nvSpPr>
          <p:cNvPr id="13" name="">
            <a:extLst xmlns:a="http://schemas.openxmlformats.org/drawingml/2006/main">
              <a:ext uri="{FF2B5EF4-FFF2-40B4-BE49-F238E27FC236}">
                <a16:creationId xmlns:a16="http://schemas.microsoft.com/office/drawing/2014/main" id="{A5FD8385-8CF6-4D4B-A962-D86A4F218FDB}"/>
              </a:ext>
            </a:extLst>
          </p:cNvPr>
          <p:cNvSpPr>
            <a:spLocks xmlns:a="http://schemas.openxmlformats.org/drawingml/2006/main" noGrp="1"/>
          </p:cNvSpPr>
          <p:nvPr/>
        </p:nvSpPr>
        <p:spPr>
          <a:xfrm xmlns:a="http://schemas.openxmlformats.org/drawingml/2006/main">
            <a:off x="8858250" y="4095750"/>
            <a:ext cx="266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443"/>
                </a:solidFill>
                <a:latin typeface="Arial"/>
                <a:ea typeface="Arial"/>
                <a:cs typeface="Arial"/>
              </a:defRPr>
            </a:defPPr>
            <a:lvl1pPr>
              <a:defRPr sz="2025" b="0">
                <a:solidFill>
                  <a:srgbClr val="153443"/>
                </a:solidFill>
                <a:latin typeface="Arial"/>
                <a:ea typeface="Arial"/>
                <a:cs typeface="Arial"/>
              </a:defRPr>
            </a:lvl1pPr>
            <a:lvl2pPr>
              <a:defRPr sz="2025" b="0">
                <a:solidFill>
                  <a:srgbClr val="153443"/>
                </a:solidFill>
                <a:latin typeface="Arial"/>
                <a:ea typeface="Arial"/>
                <a:cs typeface="Arial"/>
              </a:defRPr>
            </a:lvl2pPr>
            <a:lvl3pPr>
              <a:defRPr sz="2025" b="0">
                <a:solidFill>
                  <a:srgbClr val="153443"/>
                </a:solidFill>
                <a:latin typeface="Arial"/>
                <a:ea typeface="Arial"/>
                <a:cs typeface="Arial"/>
              </a:defRPr>
            </a:lvl3pPr>
            <a:lvl4pPr>
              <a:defRPr sz="2025" b="0">
                <a:solidFill>
                  <a:srgbClr val="153443"/>
                </a:solidFill>
                <a:latin typeface="Arial"/>
                <a:ea typeface="Arial"/>
                <a:cs typeface="Arial"/>
              </a:defRPr>
            </a:lvl4pPr>
            <a:lvl5pPr>
              <a:defRPr sz="2025" b="0">
                <a:solidFill>
                  <a:srgbClr val="153443"/>
                </a:solidFill>
                <a:latin typeface="Arial"/>
                <a:ea typeface="Arial"/>
                <a:cs typeface="Arial"/>
              </a:defRPr>
            </a:lvl5pPr>
            <a:lvl6pPr>
              <a:defRPr sz="2025" b="0">
                <a:solidFill>
                  <a:srgbClr val="153443"/>
                </a:solidFill>
                <a:latin typeface="Arial"/>
                <a:ea typeface="Arial"/>
                <a:cs typeface="Arial"/>
              </a:defRPr>
            </a:lvl6pPr>
            <a:lvl7pPr>
              <a:defRPr sz="2025" b="0">
                <a:solidFill>
                  <a:srgbClr val="153443"/>
                </a:solidFill>
                <a:latin typeface="Arial"/>
                <a:ea typeface="Arial"/>
                <a:cs typeface="Arial"/>
              </a:defRPr>
            </a:lvl7pPr>
            <a:lvl8pPr>
              <a:defRPr sz="2025" b="0">
                <a:solidFill>
                  <a:srgbClr val="153443"/>
                </a:solidFill>
                <a:latin typeface="Arial"/>
                <a:ea typeface="Arial"/>
                <a:cs typeface="Arial"/>
              </a:defRPr>
            </a:lvl8pPr>
            <a:lvl9pPr>
              <a:defRPr sz="2025" b="0">
                <a:solidFill>
                  <a:srgbClr val="153443"/>
                </a:solidFill>
                <a:latin typeface="Arial"/>
                <a:ea typeface="Arial"/>
                <a:cs typeface="Arial"/>
              </a:defRPr>
            </a:lvl9pPr>
          </a:lstStyle>
          <a:p xmlns:a="http://schemas.openxmlformats.org/drawingml/2006/main">
            <a:pPr>
              <a:defRPr sz="2025" b="0">
                <a:solidFill>
                  <a:srgbClr val="153443"/>
                </a:solidFill>
                <a:latin typeface="Arial"/>
                <a:ea typeface="Arial"/>
                <a:cs typeface="Arial"/>
              </a:defRPr>
            </a:pPr>
            <a:r>
              <a:rPr sz="2025" b="0">
                <a:solidFill>
                  <a:srgbClr val="153443"/>
                </a:solidFill>
                <a:latin typeface="Arial"/>
                <a:ea typeface="Arial"/>
                <a:cs typeface="Arial"/>
              </a:rPr>
              <a:t>Jarak pusat</a:t>
            </a:r>
          </a:p>
          <a:p xmlns:a="http://schemas.openxmlformats.org/drawingml/2006/main">
            <a:pPr>
              <a:defRPr sz="2025" b="0">
                <a:solidFill>
                  <a:srgbClr val="153443"/>
                </a:solidFill>
                <a:latin typeface="Arial"/>
                <a:ea typeface="Arial"/>
                <a:cs typeface="Arial"/>
              </a:defRPr>
            </a:pPr>
            <a:r>
              <a:rPr sz="2025" b="0">
                <a:solidFill>
                  <a:srgbClr val="153443"/>
                </a:solidFill>
                <a:latin typeface="Arial"/>
                <a:ea typeface="Arial"/>
                <a:cs typeface="Arial"/>
              </a:rPr>
              <a:t>g + d</a:t>
            </a:r>
          </a:p>
        </p:txBody>
      </p:sp>
    </p:spTree>
    <p:extLst>
      <p:ext uri="{BB962C8B-B14F-4D97-AF65-F5344CB8AC3E}">
        <p14:creationId xmlns:p14="http://schemas.microsoft.com/office/powerpoint/2010/main" val="18742140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15E3ED-6CE4-4DD8-97E7-8E117CD26339}"/>
              </a:ext>
            </a:extLst>
          </p:cNvPr>
          <p:cNvSpPr>
            <a:spLocks xmlns:a="http://schemas.openxmlformats.org/drawingml/2006/main" noGrp="1"/>
          </p:cNvSpPr>
          <p:nvPr/>
        </p:nvSpPr>
        <p:spPr>
          <a:xfrm xmlns:a="http://schemas.openxmlformats.org/drawingml/2006/main">
            <a:off x="609600" y="3810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443"/>
                </a:solidFill>
                <a:latin typeface="Arial"/>
                <a:ea typeface="Arial"/>
                <a:cs typeface="Arial"/>
              </a:defRPr>
            </a:defPPr>
            <a:lvl1pPr>
              <a:defRPr sz="3225" b="1">
                <a:solidFill>
                  <a:srgbClr val="153443"/>
                </a:solidFill>
                <a:latin typeface="Arial"/>
                <a:ea typeface="Arial"/>
                <a:cs typeface="Arial"/>
              </a:defRPr>
            </a:lvl1pPr>
            <a:lvl2pPr>
              <a:defRPr sz="3225" b="1">
                <a:solidFill>
                  <a:srgbClr val="153443"/>
                </a:solidFill>
                <a:latin typeface="Arial"/>
                <a:ea typeface="Arial"/>
                <a:cs typeface="Arial"/>
              </a:defRPr>
            </a:lvl2pPr>
            <a:lvl3pPr>
              <a:defRPr sz="3225" b="1">
                <a:solidFill>
                  <a:srgbClr val="153443"/>
                </a:solidFill>
                <a:latin typeface="Arial"/>
                <a:ea typeface="Arial"/>
                <a:cs typeface="Arial"/>
              </a:defRPr>
            </a:lvl3pPr>
            <a:lvl4pPr>
              <a:defRPr sz="3225" b="1">
                <a:solidFill>
                  <a:srgbClr val="153443"/>
                </a:solidFill>
                <a:latin typeface="Arial"/>
                <a:ea typeface="Arial"/>
                <a:cs typeface="Arial"/>
              </a:defRPr>
            </a:lvl4pPr>
            <a:lvl5pPr>
              <a:defRPr sz="3225" b="1">
                <a:solidFill>
                  <a:srgbClr val="153443"/>
                </a:solidFill>
                <a:latin typeface="Arial"/>
                <a:ea typeface="Arial"/>
                <a:cs typeface="Arial"/>
              </a:defRPr>
            </a:lvl5pPr>
            <a:lvl6pPr>
              <a:defRPr sz="3225" b="1">
                <a:solidFill>
                  <a:srgbClr val="153443"/>
                </a:solidFill>
                <a:latin typeface="Arial"/>
                <a:ea typeface="Arial"/>
                <a:cs typeface="Arial"/>
              </a:defRPr>
            </a:lvl6pPr>
            <a:lvl7pPr>
              <a:defRPr sz="3225" b="1">
                <a:solidFill>
                  <a:srgbClr val="153443"/>
                </a:solidFill>
                <a:latin typeface="Arial"/>
                <a:ea typeface="Arial"/>
                <a:cs typeface="Arial"/>
              </a:defRPr>
            </a:lvl7pPr>
            <a:lvl8pPr>
              <a:defRPr sz="3225" b="1">
                <a:solidFill>
                  <a:srgbClr val="153443"/>
                </a:solidFill>
                <a:latin typeface="Arial"/>
                <a:ea typeface="Arial"/>
                <a:cs typeface="Arial"/>
              </a:defRPr>
            </a:lvl8pPr>
            <a:lvl9pPr>
              <a:defRPr sz="3225" b="1">
                <a:solidFill>
                  <a:srgbClr val="153443"/>
                </a:solidFill>
                <a:latin typeface="Arial"/>
                <a:ea typeface="Arial"/>
                <a:cs typeface="Arial"/>
              </a:defRPr>
            </a:lvl9pPr>
          </a:lstStyle>
          <a:p xmlns:a="http://schemas.openxmlformats.org/drawingml/2006/main">
            <a:pPr>
              <a:defRPr sz="3225" b="1">
                <a:solidFill>
                  <a:srgbClr val="153443"/>
                </a:solidFill>
                <a:latin typeface="Arial"/>
                <a:ea typeface="Arial"/>
                <a:cs typeface="Arial"/>
              </a:defRPr>
            </a:pPr>
            <a:r>
              <a:rPr sz="3225" b="1">
                <a:solidFill>
                  <a:srgbClr val="153443"/>
                </a:solidFill>
                <a:latin typeface="Arial"/>
                <a:ea typeface="Arial"/>
                <a:cs typeface="Arial"/>
              </a:rPr>
              <a:t>Supermode menentukan koefisien kopling</a:t>
            </a:r>
          </a:p>
        </p:txBody>
      </p:sp>
      <p:sp>
        <p:nvSpPr>
          <p:cNvPr id="2" name="">
            <a:extLst xmlns:a="http://schemas.openxmlformats.org/drawingml/2006/main">
              <a:ext uri="{FF2B5EF4-FFF2-40B4-BE49-F238E27FC236}">
                <a16:creationId xmlns:a16="http://schemas.microsoft.com/office/drawing/2014/main" id="{EBDF97E7-0A18-4410-ADD6-99EA864EC677}"/>
              </a:ext>
            </a:extLst>
          </p:cNvPr>
          <p:cNvSpPr>
            <a:spLocks xmlns:a="http://schemas.openxmlformats.org/drawingml/2006/main" noGrp="1"/>
          </p:cNvSpPr>
          <p:nvPr/>
        </p:nvSpPr>
        <p:spPr>
          <a:xfrm xmlns:a="http://schemas.openxmlformats.org/drawingml/2006/main">
            <a:off x="609600" y="63817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OPTIK MODERN  ·  PENUGASAN 1</a:t>
            </a:r>
          </a:p>
        </p:txBody>
      </p:sp>
      <p:sp>
        <p:nvSpPr>
          <p:cNvPr id="3" name="">
            <a:extLst xmlns:a="http://schemas.openxmlformats.org/drawingml/2006/main">
              <a:ext uri="{FF2B5EF4-FFF2-40B4-BE49-F238E27FC236}">
                <a16:creationId xmlns:a16="http://schemas.microsoft.com/office/drawing/2014/main" id="{45E87A22-42AE-4078-82BD-EEC2A7F57E1A}"/>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4163FAF0-05E8-41FE-BC60-1642262706AD}"/>
              </a:ext>
            </a:extLst>
          </p:cNvPr>
          <p:cNvSpPr>
            <a:spLocks xmlns:a="http://schemas.openxmlformats.org/drawingml/2006/main" noGrp="1"/>
          </p:cNvSpPr>
          <p:nvPr/>
        </p:nvSpPr>
        <p:spPr>
          <a:xfrm xmlns:a="http://schemas.openxmlformats.org/drawingml/2006/main">
            <a:off x="609600" y="16668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53443"/>
                </a:solidFill>
                <a:latin typeface="Arial"/>
                <a:ea typeface="Arial"/>
                <a:cs typeface="Arial"/>
              </a:defRPr>
            </a:defPPr>
            <a:lvl1pPr>
              <a:defRPr sz="2325" b="0">
                <a:solidFill>
                  <a:srgbClr val="153443"/>
                </a:solidFill>
                <a:latin typeface="Arial"/>
                <a:ea typeface="Arial"/>
                <a:cs typeface="Arial"/>
              </a:defRPr>
            </a:lvl1pPr>
            <a:lvl2pPr>
              <a:defRPr sz="2325" b="0">
                <a:solidFill>
                  <a:srgbClr val="153443"/>
                </a:solidFill>
                <a:latin typeface="Arial"/>
                <a:ea typeface="Arial"/>
                <a:cs typeface="Arial"/>
              </a:defRPr>
            </a:lvl2pPr>
            <a:lvl3pPr>
              <a:defRPr sz="2325" b="0">
                <a:solidFill>
                  <a:srgbClr val="153443"/>
                </a:solidFill>
                <a:latin typeface="Arial"/>
                <a:ea typeface="Arial"/>
                <a:cs typeface="Arial"/>
              </a:defRPr>
            </a:lvl3pPr>
            <a:lvl4pPr>
              <a:defRPr sz="2325" b="0">
                <a:solidFill>
                  <a:srgbClr val="153443"/>
                </a:solidFill>
                <a:latin typeface="Arial"/>
                <a:ea typeface="Arial"/>
                <a:cs typeface="Arial"/>
              </a:defRPr>
            </a:lvl4pPr>
            <a:lvl5pPr>
              <a:defRPr sz="2325" b="0">
                <a:solidFill>
                  <a:srgbClr val="153443"/>
                </a:solidFill>
                <a:latin typeface="Arial"/>
                <a:ea typeface="Arial"/>
                <a:cs typeface="Arial"/>
              </a:defRPr>
            </a:lvl5pPr>
            <a:lvl6pPr>
              <a:defRPr sz="2325" b="0">
                <a:solidFill>
                  <a:srgbClr val="153443"/>
                </a:solidFill>
                <a:latin typeface="Arial"/>
                <a:ea typeface="Arial"/>
                <a:cs typeface="Arial"/>
              </a:defRPr>
            </a:lvl6pPr>
            <a:lvl7pPr>
              <a:defRPr sz="2325" b="0">
                <a:solidFill>
                  <a:srgbClr val="153443"/>
                </a:solidFill>
                <a:latin typeface="Arial"/>
                <a:ea typeface="Arial"/>
                <a:cs typeface="Arial"/>
              </a:defRPr>
            </a:lvl7pPr>
            <a:lvl8pPr>
              <a:defRPr sz="2325" b="0">
                <a:solidFill>
                  <a:srgbClr val="153443"/>
                </a:solidFill>
                <a:latin typeface="Arial"/>
                <a:ea typeface="Arial"/>
                <a:cs typeface="Arial"/>
              </a:defRPr>
            </a:lvl8pPr>
            <a:lvl9pPr>
              <a:defRPr sz="2325" b="0">
                <a:solidFill>
                  <a:srgbClr val="153443"/>
                </a:solidFill>
                <a:latin typeface="Arial"/>
                <a:ea typeface="Arial"/>
                <a:cs typeface="Arial"/>
              </a:defRPr>
            </a:lvl9pPr>
          </a:lstStyle>
          <a:p xmlns:a="http://schemas.openxmlformats.org/drawingml/2006/main">
            <a:pPr>
              <a:defRPr sz="2325" b="0">
                <a:solidFill>
                  <a:srgbClr val="153443"/>
                </a:solidFill>
                <a:latin typeface="Arial"/>
                <a:ea typeface="Arial"/>
                <a:cs typeface="Arial"/>
              </a:defRPr>
            </a:pPr>
            <a:r>
              <a:rPr sz="2325" b="0">
                <a:solidFill>
                  <a:srgbClr val="153443"/>
                </a:solidFill>
                <a:latin typeface="Arial"/>
                <a:ea typeface="Arial"/>
                <a:cs typeface="Arial"/>
              </a:rPr>
              <a:t>Supermode simetris: β₊ = 6,095196 µm⁻¹</a:t>
            </a:r>
          </a:p>
        </p:txBody>
      </p:sp>
      <p:sp>
        <p:nvSpPr>
          <p:cNvPr id="5" name="">
            <a:extLst xmlns:a="http://schemas.openxmlformats.org/drawingml/2006/main">
              <a:ext uri="{FF2B5EF4-FFF2-40B4-BE49-F238E27FC236}">
                <a16:creationId xmlns:a16="http://schemas.microsoft.com/office/drawing/2014/main" id="{32C04B2D-E4E2-44F9-9991-B79590C5B1F7}"/>
              </a:ext>
            </a:extLst>
          </p:cNvPr>
          <p:cNvSpPr>
            <a:spLocks xmlns:a="http://schemas.openxmlformats.org/drawingml/2006/main" noGrp="1"/>
          </p:cNvSpPr>
          <p:nvPr/>
        </p:nvSpPr>
        <p:spPr>
          <a:xfrm xmlns:a="http://schemas.openxmlformats.org/drawingml/2006/main">
            <a:off x="609600" y="25717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53443"/>
                </a:solidFill>
                <a:latin typeface="Arial"/>
                <a:ea typeface="Arial"/>
                <a:cs typeface="Arial"/>
              </a:defRPr>
            </a:defPPr>
            <a:lvl1pPr>
              <a:defRPr sz="2325" b="0">
                <a:solidFill>
                  <a:srgbClr val="153443"/>
                </a:solidFill>
                <a:latin typeface="Arial"/>
                <a:ea typeface="Arial"/>
                <a:cs typeface="Arial"/>
              </a:defRPr>
            </a:lvl1pPr>
            <a:lvl2pPr>
              <a:defRPr sz="2325" b="0">
                <a:solidFill>
                  <a:srgbClr val="153443"/>
                </a:solidFill>
                <a:latin typeface="Arial"/>
                <a:ea typeface="Arial"/>
                <a:cs typeface="Arial"/>
              </a:defRPr>
            </a:lvl2pPr>
            <a:lvl3pPr>
              <a:defRPr sz="2325" b="0">
                <a:solidFill>
                  <a:srgbClr val="153443"/>
                </a:solidFill>
                <a:latin typeface="Arial"/>
                <a:ea typeface="Arial"/>
                <a:cs typeface="Arial"/>
              </a:defRPr>
            </a:lvl3pPr>
            <a:lvl4pPr>
              <a:defRPr sz="2325" b="0">
                <a:solidFill>
                  <a:srgbClr val="153443"/>
                </a:solidFill>
                <a:latin typeface="Arial"/>
                <a:ea typeface="Arial"/>
                <a:cs typeface="Arial"/>
              </a:defRPr>
            </a:lvl4pPr>
            <a:lvl5pPr>
              <a:defRPr sz="2325" b="0">
                <a:solidFill>
                  <a:srgbClr val="153443"/>
                </a:solidFill>
                <a:latin typeface="Arial"/>
                <a:ea typeface="Arial"/>
                <a:cs typeface="Arial"/>
              </a:defRPr>
            </a:lvl5pPr>
            <a:lvl6pPr>
              <a:defRPr sz="2325" b="0">
                <a:solidFill>
                  <a:srgbClr val="153443"/>
                </a:solidFill>
                <a:latin typeface="Arial"/>
                <a:ea typeface="Arial"/>
                <a:cs typeface="Arial"/>
              </a:defRPr>
            </a:lvl6pPr>
            <a:lvl7pPr>
              <a:defRPr sz="2325" b="0">
                <a:solidFill>
                  <a:srgbClr val="153443"/>
                </a:solidFill>
                <a:latin typeface="Arial"/>
                <a:ea typeface="Arial"/>
                <a:cs typeface="Arial"/>
              </a:defRPr>
            </a:lvl7pPr>
            <a:lvl8pPr>
              <a:defRPr sz="2325" b="0">
                <a:solidFill>
                  <a:srgbClr val="153443"/>
                </a:solidFill>
                <a:latin typeface="Arial"/>
                <a:ea typeface="Arial"/>
                <a:cs typeface="Arial"/>
              </a:defRPr>
            </a:lvl8pPr>
            <a:lvl9pPr>
              <a:defRPr sz="2325" b="0">
                <a:solidFill>
                  <a:srgbClr val="153443"/>
                </a:solidFill>
                <a:latin typeface="Arial"/>
                <a:ea typeface="Arial"/>
                <a:cs typeface="Arial"/>
              </a:defRPr>
            </a:lvl9pPr>
          </a:lstStyle>
          <a:p xmlns:a="http://schemas.openxmlformats.org/drawingml/2006/main">
            <a:pPr>
              <a:defRPr sz="2325" b="0">
                <a:solidFill>
                  <a:srgbClr val="153443"/>
                </a:solidFill>
                <a:latin typeface="Arial"/>
                <a:ea typeface="Arial"/>
                <a:cs typeface="Arial"/>
              </a:defRPr>
            </a:pPr>
            <a:r>
              <a:rPr sz="2325" b="0">
                <a:solidFill>
                  <a:srgbClr val="153443"/>
                </a:solidFill>
                <a:latin typeface="Arial"/>
                <a:ea typeface="Arial"/>
                <a:cs typeface="Arial"/>
              </a:rPr>
              <a:t>Supermode antisimetri: β₋ = 6,089617 µm⁻¹</a:t>
            </a:r>
          </a:p>
        </p:txBody>
      </p:sp>
      <p:sp>
        <p:nvSpPr>
          <p:cNvPr id="6" name="">
            <a:extLst xmlns:a="http://schemas.openxmlformats.org/drawingml/2006/main">
              <a:ext uri="{FF2B5EF4-FFF2-40B4-BE49-F238E27FC236}">
                <a16:creationId xmlns:a16="http://schemas.microsoft.com/office/drawing/2014/main" id="{2425A80F-D9A7-4517-B604-F06192B580EE}"/>
              </a:ext>
            </a:extLst>
          </p:cNvPr>
          <p:cNvSpPr>
            <a:spLocks xmlns:a="http://schemas.openxmlformats.org/drawingml/2006/main" noGrp="1"/>
          </p:cNvSpPr>
          <p:nvPr/>
        </p:nvSpPr>
        <p:spPr>
          <a:xfrm xmlns:a="http://schemas.openxmlformats.org/drawingml/2006/main">
            <a:off x="609600" y="37623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46078"/>
                </a:solidFill>
                <a:latin typeface="Arial"/>
                <a:ea typeface="Arial"/>
                <a:cs typeface="Arial"/>
              </a:defRPr>
            </a:defPPr>
            <a:lvl1pPr>
              <a:defRPr sz="2625" b="1">
                <a:solidFill>
                  <a:srgbClr val="146078"/>
                </a:solidFill>
                <a:latin typeface="Arial"/>
                <a:ea typeface="Arial"/>
                <a:cs typeface="Arial"/>
              </a:defRPr>
            </a:lvl1pPr>
            <a:lvl2pPr>
              <a:defRPr sz="2625" b="1">
                <a:solidFill>
                  <a:srgbClr val="146078"/>
                </a:solidFill>
                <a:latin typeface="Arial"/>
                <a:ea typeface="Arial"/>
                <a:cs typeface="Arial"/>
              </a:defRPr>
            </a:lvl2pPr>
            <a:lvl3pPr>
              <a:defRPr sz="2625" b="1">
                <a:solidFill>
                  <a:srgbClr val="146078"/>
                </a:solidFill>
                <a:latin typeface="Arial"/>
                <a:ea typeface="Arial"/>
                <a:cs typeface="Arial"/>
              </a:defRPr>
            </a:lvl3pPr>
            <a:lvl4pPr>
              <a:defRPr sz="2625" b="1">
                <a:solidFill>
                  <a:srgbClr val="146078"/>
                </a:solidFill>
                <a:latin typeface="Arial"/>
                <a:ea typeface="Arial"/>
                <a:cs typeface="Arial"/>
              </a:defRPr>
            </a:lvl4pPr>
            <a:lvl5pPr>
              <a:defRPr sz="2625" b="1">
                <a:solidFill>
                  <a:srgbClr val="146078"/>
                </a:solidFill>
                <a:latin typeface="Arial"/>
                <a:ea typeface="Arial"/>
                <a:cs typeface="Arial"/>
              </a:defRPr>
            </a:lvl5pPr>
            <a:lvl6pPr>
              <a:defRPr sz="2625" b="1">
                <a:solidFill>
                  <a:srgbClr val="146078"/>
                </a:solidFill>
                <a:latin typeface="Arial"/>
                <a:ea typeface="Arial"/>
                <a:cs typeface="Arial"/>
              </a:defRPr>
            </a:lvl6pPr>
            <a:lvl7pPr>
              <a:defRPr sz="2625" b="1">
                <a:solidFill>
                  <a:srgbClr val="146078"/>
                </a:solidFill>
                <a:latin typeface="Arial"/>
                <a:ea typeface="Arial"/>
                <a:cs typeface="Arial"/>
              </a:defRPr>
            </a:lvl7pPr>
            <a:lvl8pPr>
              <a:defRPr sz="2625" b="1">
                <a:solidFill>
                  <a:srgbClr val="146078"/>
                </a:solidFill>
                <a:latin typeface="Arial"/>
                <a:ea typeface="Arial"/>
                <a:cs typeface="Arial"/>
              </a:defRPr>
            </a:lvl8pPr>
            <a:lvl9pPr>
              <a:defRPr sz="2625" b="1">
                <a:solidFill>
                  <a:srgbClr val="146078"/>
                </a:solidFill>
                <a:latin typeface="Arial"/>
                <a:ea typeface="Arial"/>
                <a:cs typeface="Arial"/>
              </a:defRPr>
            </a:lvl9pPr>
          </a:lstStyle>
          <a:p xmlns:a="http://schemas.openxmlformats.org/drawingml/2006/main">
            <a:pPr>
              <a:defRPr sz="2625" b="1">
                <a:solidFill>
                  <a:srgbClr val="146078"/>
                </a:solidFill>
                <a:latin typeface="Arial"/>
                <a:ea typeface="Arial"/>
                <a:cs typeface="Arial"/>
              </a:defRPr>
            </a:pPr>
            <a:r>
              <a:rPr sz="2625" b="1">
                <a:solidFill>
                  <a:srgbClr val="146078"/>
                </a:solidFill>
                <a:latin typeface="Arial"/>
                <a:ea typeface="Arial"/>
                <a:cs typeface="Arial"/>
              </a:rPr>
              <a:t>κ = (β₊ − β₋)/2 = 0,0027896 µm⁻¹</a:t>
            </a:r>
          </a:p>
        </p:txBody>
      </p:sp>
      <p:sp>
        <p:nvSpPr>
          <p:cNvPr id="7" name="">
            <a:extLst xmlns:a="http://schemas.openxmlformats.org/drawingml/2006/main">
              <a:ext uri="{FF2B5EF4-FFF2-40B4-BE49-F238E27FC236}">
                <a16:creationId xmlns:a16="http://schemas.microsoft.com/office/drawing/2014/main" id="{119EE72C-A6E6-4C1F-8D37-A60BDCBE9132}"/>
              </a:ext>
            </a:extLst>
          </p:cNvPr>
          <p:cNvSpPr>
            <a:spLocks xmlns:a="http://schemas.openxmlformats.org/drawingml/2006/main" noGrp="1"/>
          </p:cNvSpPr>
          <p:nvPr/>
        </p:nvSpPr>
        <p:spPr>
          <a:xfrm xmlns:a="http://schemas.openxmlformats.org/drawingml/2006/main">
            <a:off x="609600" y="4953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443"/>
                </a:solidFill>
                <a:latin typeface="Arial"/>
                <a:ea typeface="Arial"/>
                <a:cs typeface="Arial"/>
              </a:defRPr>
            </a:defPPr>
            <a:lvl1pPr>
              <a:defRPr sz="2100" b="0">
                <a:solidFill>
                  <a:srgbClr val="153443"/>
                </a:solidFill>
                <a:latin typeface="Arial"/>
                <a:ea typeface="Arial"/>
                <a:cs typeface="Arial"/>
              </a:defRPr>
            </a:lvl1pPr>
            <a:lvl2pPr>
              <a:defRPr sz="2100" b="0">
                <a:solidFill>
                  <a:srgbClr val="153443"/>
                </a:solidFill>
                <a:latin typeface="Arial"/>
                <a:ea typeface="Arial"/>
                <a:cs typeface="Arial"/>
              </a:defRPr>
            </a:lvl2pPr>
            <a:lvl3pPr>
              <a:defRPr sz="2100" b="0">
                <a:solidFill>
                  <a:srgbClr val="153443"/>
                </a:solidFill>
                <a:latin typeface="Arial"/>
                <a:ea typeface="Arial"/>
                <a:cs typeface="Arial"/>
              </a:defRPr>
            </a:lvl3pPr>
            <a:lvl4pPr>
              <a:defRPr sz="2100" b="0">
                <a:solidFill>
                  <a:srgbClr val="153443"/>
                </a:solidFill>
                <a:latin typeface="Arial"/>
                <a:ea typeface="Arial"/>
                <a:cs typeface="Arial"/>
              </a:defRPr>
            </a:lvl4pPr>
            <a:lvl5pPr>
              <a:defRPr sz="2100" b="0">
                <a:solidFill>
                  <a:srgbClr val="153443"/>
                </a:solidFill>
                <a:latin typeface="Arial"/>
                <a:ea typeface="Arial"/>
                <a:cs typeface="Arial"/>
              </a:defRPr>
            </a:lvl5pPr>
            <a:lvl6pPr>
              <a:defRPr sz="2100" b="0">
                <a:solidFill>
                  <a:srgbClr val="153443"/>
                </a:solidFill>
                <a:latin typeface="Arial"/>
                <a:ea typeface="Arial"/>
                <a:cs typeface="Arial"/>
              </a:defRPr>
            </a:lvl6pPr>
            <a:lvl7pPr>
              <a:defRPr sz="2100" b="0">
                <a:solidFill>
                  <a:srgbClr val="153443"/>
                </a:solidFill>
                <a:latin typeface="Arial"/>
                <a:ea typeface="Arial"/>
                <a:cs typeface="Arial"/>
              </a:defRPr>
            </a:lvl7pPr>
            <a:lvl8pPr>
              <a:defRPr sz="2100" b="0">
                <a:solidFill>
                  <a:srgbClr val="153443"/>
                </a:solidFill>
                <a:latin typeface="Arial"/>
                <a:ea typeface="Arial"/>
                <a:cs typeface="Arial"/>
              </a:defRPr>
            </a:lvl8pPr>
            <a:lvl9pPr>
              <a:defRPr sz="2100" b="0">
                <a:solidFill>
                  <a:srgbClr val="153443"/>
                </a:solidFill>
                <a:latin typeface="Arial"/>
                <a:ea typeface="Arial"/>
                <a:cs typeface="Arial"/>
              </a:defRPr>
            </a:lvl9pPr>
          </a:lstStyle>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Hasil untuk celah acuan g = 4 µm</a:t>
            </a:r>
          </a:p>
        </p:txBody>
      </p:sp>
      <p:sp>
        <p:nvSpPr>
          <p:cNvPr id="8" name="">
            <a:extLst xmlns:a="http://schemas.openxmlformats.org/drawingml/2006/main">
              <a:ext uri="{FF2B5EF4-FFF2-40B4-BE49-F238E27FC236}">
                <a16:creationId xmlns:a16="http://schemas.microsoft.com/office/drawing/2014/main" id="{E338046D-B20D-46DB-BCAC-F7DB30439E27}"/>
              </a:ext>
            </a:extLst>
          </p:cNvPr>
          <p:cNvSpPr>
            <a:spLocks xmlns:a="http://schemas.openxmlformats.org/drawingml/2006/main" noGrp="1"/>
          </p:cNvSpPr>
          <p:nvPr/>
        </p:nvSpPr>
        <p:spPr>
          <a:xfrm xmlns:a="http://schemas.openxmlformats.org/drawingml/2006/main">
            <a:off x="609600" y="56007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16B"/>
                </a:solidFill>
                <a:latin typeface="Arial"/>
                <a:ea typeface="Arial"/>
                <a:cs typeface="Arial"/>
              </a:defRPr>
            </a:defPPr>
            <a:lvl1pPr>
              <a:defRPr sz="1875" b="0">
                <a:solidFill>
                  <a:srgbClr val="52616B"/>
                </a:solidFill>
                <a:latin typeface="Arial"/>
                <a:ea typeface="Arial"/>
                <a:cs typeface="Arial"/>
              </a:defRPr>
            </a:lvl1pPr>
            <a:lvl2pPr>
              <a:defRPr sz="1875" b="0">
                <a:solidFill>
                  <a:srgbClr val="52616B"/>
                </a:solidFill>
                <a:latin typeface="Arial"/>
                <a:ea typeface="Arial"/>
                <a:cs typeface="Arial"/>
              </a:defRPr>
            </a:lvl2pPr>
            <a:lvl3pPr>
              <a:defRPr sz="1875" b="0">
                <a:solidFill>
                  <a:srgbClr val="52616B"/>
                </a:solidFill>
                <a:latin typeface="Arial"/>
                <a:ea typeface="Arial"/>
                <a:cs typeface="Arial"/>
              </a:defRPr>
            </a:lvl3pPr>
            <a:lvl4pPr>
              <a:defRPr sz="1875" b="0">
                <a:solidFill>
                  <a:srgbClr val="52616B"/>
                </a:solidFill>
                <a:latin typeface="Arial"/>
                <a:ea typeface="Arial"/>
                <a:cs typeface="Arial"/>
              </a:defRPr>
            </a:lvl4pPr>
            <a:lvl5pPr>
              <a:defRPr sz="1875" b="0">
                <a:solidFill>
                  <a:srgbClr val="52616B"/>
                </a:solidFill>
                <a:latin typeface="Arial"/>
                <a:ea typeface="Arial"/>
                <a:cs typeface="Arial"/>
              </a:defRPr>
            </a:lvl5pPr>
            <a:lvl6pPr>
              <a:defRPr sz="1875" b="0">
                <a:solidFill>
                  <a:srgbClr val="52616B"/>
                </a:solidFill>
                <a:latin typeface="Arial"/>
                <a:ea typeface="Arial"/>
                <a:cs typeface="Arial"/>
              </a:defRPr>
            </a:lvl6pPr>
            <a:lvl7pPr>
              <a:defRPr sz="1875" b="0">
                <a:solidFill>
                  <a:srgbClr val="52616B"/>
                </a:solidFill>
                <a:latin typeface="Arial"/>
                <a:ea typeface="Arial"/>
                <a:cs typeface="Arial"/>
              </a:defRPr>
            </a:lvl7pPr>
            <a:lvl8pPr>
              <a:defRPr sz="1875" b="0">
                <a:solidFill>
                  <a:srgbClr val="52616B"/>
                </a:solidFill>
                <a:latin typeface="Arial"/>
                <a:ea typeface="Arial"/>
                <a:cs typeface="Arial"/>
              </a:defRPr>
            </a:lvl8pPr>
            <a:lvl9pPr>
              <a:defRPr sz="1875" b="0">
                <a:solidFill>
                  <a:srgbClr val="52616B"/>
                </a:solidFill>
                <a:latin typeface="Arial"/>
                <a:ea typeface="Arial"/>
                <a:cs typeface="Arial"/>
              </a:defRPr>
            </a:lvl9pPr>
          </a:lstStyle>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κ adalah besaran turunan dari struktur dan solusi medan.</a:t>
            </a:r>
          </a:p>
        </p:txBody>
      </p:sp>
    </p:spTree>
    <p:extLst>
      <p:ext uri="{BB962C8B-B14F-4D97-AF65-F5344CB8AC3E}">
        <p14:creationId xmlns:p14="http://schemas.microsoft.com/office/powerpoint/2010/main" val="567562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1C8358-DE8A-486C-8ABA-D8DA2258FE44}"/>
              </a:ext>
            </a:extLst>
          </p:cNvPr>
          <p:cNvSpPr>
            <a:spLocks xmlns:a="http://schemas.openxmlformats.org/drawingml/2006/main" noGrp="1"/>
          </p:cNvSpPr>
          <p:nvPr/>
        </p:nvSpPr>
        <p:spPr>
          <a:xfrm xmlns:a="http://schemas.openxmlformats.org/drawingml/2006/main">
            <a:off x="609600" y="3810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443"/>
                </a:solidFill>
                <a:latin typeface="Arial"/>
                <a:ea typeface="Arial"/>
                <a:cs typeface="Arial"/>
              </a:defRPr>
            </a:defPPr>
            <a:lvl1pPr>
              <a:defRPr sz="3225" b="1">
                <a:solidFill>
                  <a:srgbClr val="153443"/>
                </a:solidFill>
                <a:latin typeface="Arial"/>
                <a:ea typeface="Arial"/>
                <a:cs typeface="Arial"/>
              </a:defRPr>
            </a:lvl1pPr>
            <a:lvl2pPr>
              <a:defRPr sz="3225" b="1">
                <a:solidFill>
                  <a:srgbClr val="153443"/>
                </a:solidFill>
                <a:latin typeface="Arial"/>
                <a:ea typeface="Arial"/>
                <a:cs typeface="Arial"/>
              </a:defRPr>
            </a:lvl2pPr>
            <a:lvl3pPr>
              <a:defRPr sz="3225" b="1">
                <a:solidFill>
                  <a:srgbClr val="153443"/>
                </a:solidFill>
                <a:latin typeface="Arial"/>
                <a:ea typeface="Arial"/>
                <a:cs typeface="Arial"/>
              </a:defRPr>
            </a:lvl3pPr>
            <a:lvl4pPr>
              <a:defRPr sz="3225" b="1">
                <a:solidFill>
                  <a:srgbClr val="153443"/>
                </a:solidFill>
                <a:latin typeface="Arial"/>
                <a:ea typeface="Arial"/>
                <a:cs typeface="Arial"/>
              </a:defRPr>
            </a:lvl4pPr>
            <a:lvl5pPr>
              <a:defRPr sz="3225" b="1">
                <a:solidFill>
                  <a:srgbClr val="153443"/>
                </a:solidFill>
                <a:latin typeface="Arial"/>
                <a:ea typeface="Arial"/>
                <a:cs typeface="Arial"/>
              </a:defRPr>
            </a:lvl5pPr>
            <a:lvl6pPr>
              <a:defRPr sz="3225" b="1">
                <a:solidFill>
                  <a:srgbClr val="153443"/>
                </a:solidFill>
                <a:latin typeface="Arial"/>
                <a:ea typeface="Arial"/>
                <a:cs typeface="Arial"/>
              </a:defRPr>
            </a:lvl6pPr>
            <a:lvl7pPr>
              <a:defRPr sz="3225" b="1">
                <a:solidFill>
                  <a:srgbClr val="153443"/>
                </a:solidFill>
                <a:latin typeface="Arial"/>
                <a:ea typeface="Arial"/>
                <a:cs typeface="Arial"/>
              </a:defRPr>
            </a:lvl7pPr>
            <a:lvl8pPr>
              <a:defRPr sz="3225" b="1">
                <a:solidFill>
                  <a:srgbClr val="153443"/>
                </a:solidFill>
                <a:latin typeface="Arial"/>
                <a:ea typeface="Arial"/>
                <a:cs typeface="Arial"/>
              </a:defRPr>
            </a:lvl8pPr>
            <a:lvl9pPr>
              <a:defRPr sz="3225" b="1">
                <a:solidFill>
                  <a:srgbClr val="153443"/>
                </a:solidFill>
                <a:latin typeface="Arial"/>
                <a:ea typeface="Arial"/>
                <a:cs typeface="Arial"/>
              </a:defRPr>
            </a:lvl9pPr>
          </a:lstStyle>
          <a:p xmlns:a="http://schemas.openxmlformats.org/drawingml/2006/main">
            <a:pPr>
              <a:defRPr sz="3225" b="1">
                <a:solidFill>
                  <a:srgbClr val="153443"/>
                </a:solidFill>
                <a:latin typeface="Arial"/>
                <a:ea typeface="Arial"/>
                <a:cs typeface="Arial"/>
              </a:defRPr>
            </a:pPr>
            <a:r>
              <a:rPr sz="3225" b="1">
                <a:solidFill>
                  <a:srgbClr val="153443"/>
                </a:solidFill>
                <a:latin typeface="Arial"/>
                <a:ea typeface="Arial"/>
                <a:cs typeface="Arial"/>
              </a:rPr>
              <a:t>Perpindahan daya sepanjang propagasi</a:t>
            </a:r>
          </a:p>
        </p:txBody>
      </p:sp>
      <p:sp>
        <p:nvSpPr>
          <p:cNvPr id="2" name="">
            <a:extLst xmlns:a="http://schemas.openxmlformats.org/drawingml/2006/main">
              <a:ext uri="{FF2B5EF4-FFF2-40B4-BE49-F238E27FC236}">
                <a16:creationId xmlns:a16="http://schemas.microsoft.com/office/drawing/2014/main" id="{FA2A0585-F1C7-4758-8FC1-26BE3EBF2B51}"/>
              </a:ext>
            </a:extLst>
          </p:cNvPr>
          <p:cNvSpPr>
            <a:spLocks xmlns:a="http://schemas.openxmlformats.org/drawingml/2006/main" noGrp="1"/>
          </p:cNvSpPr>
          <p:nvPr/>
        </p:nvSpPr>
        <p:spPr>
          <a:xfrm xmlns:a="http://schemas.openxmlformats.org/drawingml/2006/main">
            <a:off x="609600" y="63817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OPTIK MODERN  ·  PENUGASAN 1</a:t>
            </a:r>
          </a:p>
        </p:txBody>
      </p:sp>
      <p:sp>
        <p:nvSpPr>
          <p:cNvPr id="3" name="">
            <a:extLst xmlns:a="http://schemas.openxmlformats.org/drawingml/2006/main">
              <a:ext uri="{FF2B5EF4-FFF2-40B4-BE49-F238E27FC236}">
                <a16:creationId xmlns:a16="http://schemas.microsoft.com/office/drawing/2014/main" id="{34D6B1F7-98DF-4D58-B816-77C283349AB1}"/>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12</a:t>
            </a:r>
          </a:p>
        </p:txBody>
      </p:sp>
      <p:graphicFrame>
        <p:nvGraphicFramePr>
          <p:cNvPr id="4" name="Chart">
            <a:extLst xmlns:a="http://schemas.openxmlformats.org/drawingml/2006/main">
              <a:ext uri="{FF2B5EF4-FFF2-40B4-BE49-F238E27FC236}">
                <a16:creationId xmlns:a16="http://schemas.microsoft.com/office/drawing/2014/main" id="{F2375E98-1C0F-49AE-8D99-A60E7CCA35A1}"/>
              </a:ext>
            </a:extLst>
          </p:cNvPr>
          <p:cNvGraphicFramePr/>
          <p:nvPr/>
        </p:nvGraphicFramePr>
        <p:xfrm>
          <a:off xmlns:a="http://schemas.openxmlformats.org/drawingml/2006/main" x="428625" y="1476375"/>
          <a:ext xmlns:a="http://schemas.openxmlformats.org/drawingml/2006/main" cx="7620000" cy="4429125"/>
        </p:xfrm>
        <a:graphic xmlns:a="http://schemas.openxmlformats.org/drawingml/2006/main">
          <a:graphicData uri="http://schemas.openxmlformats.org/drawingml/2006/chart">
            <c:chart xmlns:r="http://schemas.openxmlformats.org/officeDocument/2006/relationships" xmlns:c="http://schemas.openxmlformats.org/drawingml/2006/chart" r:id="Rd66590fd1c97491b"/>
          </a:graphicData>
        </a:graphic>
      </p:graphicFrame>
      <p:sp>
        <p:nvSpPr>
          <p:cNvPr id="5" name="">
            <a:extLst xmlns:a="http://schemas.openxmlformats.org/drawingml/2006/main">
              <a:ext uri="{FF2B5EF4-FFF2-40B4-BE49-F238E27FC236}">
                <a16:creationId xmlns:a16="http://schemas.microsoft.com/office/drawing/2014/main" id="{4BA3AD7C-B4D9-4056-BEE3-479A2F5D3921}"/>
              </a:ext>
            </a:extLst>
          </p:cNvPr>
          <p:cNvSpPr>
            <a:spLocks xmlns:a="http://schemas.openxmlformats.org/drawingml/2006/main" noGrp="1"/>
          </p:cNvSpPr>
          <p:nvPr/>
        </p:nvSpPr>
        <p:spPr>
          <a:xfrm xmlns:a="http://schemas.openxmlformats.org/drawingml/2006/main">
            <a:off x="8382000" y="1857375"/>
            <a:ext cx="323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6078"/>
                </a:solidFill>
                <a:latin typeface="Arial"/>
                <a:ea typeface="Arial"/>
                <a:cs typeface="Arial"/>
              </a:defRPr>
            </a:defPPr>
            <a:lvl1pPr>
              <a:defRPr sz="2250" b="1">
                <a:solidFill>
                  <a:srgbClr val="146078"/>
                </a:solidFill>
                <a:latin typeface="Arial"/>
                <a:ea typeface="Arial"/>
                <a:cs typeface="Arial"/>
              </a:defRPr>
            </a:lvl1pPr>
            <a:lvl2pPr>
              <a:defRPr sz="2250" b="1">
                <a:solidFill>
                  <a:srgbClr val="146078"/>
                </a:solidFill>
                <a:latin typeface="Arial"/>
                <a:ea typeface="Arial"/>
                <a:cs typeface="Arial"/>
              </a:defRPr>
            </a:lvl2pPr>
            <a:lvl3pPr>
              <a:defRPr sz="2250" b="1">
                <a:solidFill>
                  <a:srgbClr val="146078"/>
                </a:solidFill>
                <a:latin typeface="Arial"/>
                <a:ea typeface="Arial"/>
                <a:cs typeface="Arial"/>
              </a:defRPr>
            </a:lvl3pPr>
            <a:lvl4pPr>
              <a:defRPr sz="2250" b="1">
                <a:solidFill>
                  <a:srgbClr val="146078"/>
                </a:solidFill>
                <a:latin typeface="Arial"/>
                <a:ea typeface="Arial"/>
                <a:cs typeface="Arial"/>
              </a:defRPr>
            </a:lvl4pPr>
            <a:lvl5pPr>
              <a:defRPr sz="2250" b="1">
                <a:solidFill>
                  <a:srgbClr val="146078"/>
                </a:solidFill>
                <a:latin typeface="Arial"/>
                <a:ea typeface="Arial"/>
                <a:cs typeface="Arial"/>
              </a:defRPr>
            </a:lvl5pPr>
            <a:lvl6pPr>
              <a:defRPr sz="2250" b="1">
                <a:solidFill>
                  <a:srgbClr val="146078"/>
                </a:solidFill>
                <a:latin typeface="Arial"/>
                <a:ea typeface="Arial"/>
                <a:cs typeface="Arial"/>
              </a:defRPr>
            </a:lvl6pPr>
            <a:lvl7pPr>
              <a:defRPr sz="2250" b="1">
                <a:solidFill>
                  <a:srgbClr val="146078"/>
                </a:solidFill>
                <a:latin typeface="Arial"/>
                <a:ea typeface="Arial"/>
                <a:cs typeface="Arial"/>
              </a:defRPr>
            </a:lvl7pPr>
            <a:lvl8pPr>
              <a:defRPr sz="2250" b="1">
                <a:solidFill>
                  <a:srgbClr val="146078"/>
                </a:solidFill>
                <a:latin typeface="Arial"/>
                <a:ea typeface="Arial"/>
                <a:cs typeface="Arial"/>
              </a:defRPr>
            </a:lvl8pPr>
            <a:lvl9pPr>
              <a:defRPr sz="2250" b="1">
                <a:solidFill>
                  <a:srgbClr val="146078"/>
                </a:solidFill>
                <a:latin typeface="Arial"/>
                <a:ea typeface="Arial"/>
                <a:cs typeface="Arial"/>
              </a:defRPr>
            </a:lvl9pPr>
          </a:lstStyle>
          <a:p xmlns:a="http://schemas.openxmlformats.org/drawingml/2006/main">
            <a:pPr>
              <a:defRPr sz="2250" b="1">
                <a:solidFill>
                  <a:srgbClr val="146078"/>
                </a:solidFill>
                <a:latin typeface="Arial"/>
                <a:ea typeface="Arial"/>
                <a:cs typeface="Arial"/>
              </a:defRPr>
            </a:pPr>
            <a:r>
              <a:rPr sz="2250" b="1">
                <a:solidFill>
                  <a:srgbClr val="146078"/>
                </a:solidFill>
                <a:latin typeface="Arial"/>
                <a:ea typeface="Arial"/>
                <a:cs typeface="Arial"/>
              </a:rPr>
              <a:t>P(a)/P₀ = cos²(κz)</a:t>
            </a:r>
          </a:p>
          <a:p xmlns:a="http://schemas.openxmlformats.org/drawingml/2006/main">
            <a:pPr>
              <a:defRPr sz="2250" b="1">
                <a:solidFill>
                  <a:srgbClr val="146078"/>
                </a:solidFill>
                <a:latin typeface="Arial"/>
                <a:ea typeface="Arial"/>
                <a:cs typeface="Arial"/>
              </a:defRPr>
            </a:pPr>
            <a:r>
              <a:rPr sz="2250" b="1">
                <a:solidFill>
                  <a:srgbClr val="146078"/>
                </a:solidFill>
                <a:latin typeface="Arial"/>
                <a:ea typeface="Arial"/>
                <a:cs typeface="Arial"/>
              </a:rPr>
              <a:t>P(b)/P₀ = sin²(κz)</a:t>
            </a:r>
          </a:p>
        </p:txBody>
      </p:sp>
      <p:sp>
        <p:nvSpPr>
          <p:cNvPr id="6" name="">
            <a:extLst xmlns:a="http://schemas.openxmlformats.org/drawingml/2006/main">
              <a:ext uri="{FF2B5EF4-FFF2-40B4-BE49-F238E27FC236}">
                <a16:creationId xmlns:a16="http://schemas.microsoft.com/office/drawing/2014/main" id="{ED2EB82E-6E1C-44C0-937F-6676BEA6A146}"/>
              </a:ext>
            </a:extLst>
          </p:cNvPr>
          <p:cNvSpPr>
            <a:spLocks xmlns:a="http://schemas.openxmlformats.org/drawingml/2006/main" noGrp="1"/>
          </p:cNvSpPr>
          <p:nvPr/>
        </p:nvSpPr>
        <p:spPr>
          <a:xfrm xmlns:a="http://schemas.openxmlformats.org/drawingml/2006/main">
            <a:off x="8382000" y="3619500"/>
            <a:ext cx="323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443"/>
                </a:solidFill>
                <a:latin typeface="Arial"/>
                <a:ea typeface="Arial"/>
                <a:cs typeface="Arial"/>
              </a:defRPr>
            </a:defPPr>
            <a:lvl1pPr>
              <a:defRPr sz="2100" b="0">
                <a:solidFill>
                  <a:srgbClr val="153443"/>
                </a:solidFill>
                <a:latin typeface="Arial"/>
                <a:ea typeface="Arial"/>
                <a:cs typeface="Arial"/>
              </a:defRPr>
            </a:lvl1pPr>
            <a:lvl2pPr>
              <a:defRPr sz="2100" b="0">
                <a:solidFill>
                  <a:srgbClr val="153443"/>
                </a:solidFill>
                <a:latin typeface="Arial"/>
                <a:ea typeface="Arial"/>
                <a:cs typeface="Arial"/>
              </a:defRPr>
            </a:lvl2pPr>
            <a:lvl3pPr>
              <a:defRPr sz="2100" b="0">
                <a:solidFill>
                  <a:srgbClr val="153443"/>
                </a:solidFill>
                <a:latin typeface="Arial"/>
                <a:ea typeface="Arial"/>
                <a:cs typeface="Arial"/>
              </a:defRPr>
            </a:lvl3pPr>
            <a:lvl4pPr>
              <a:defRPr sz="2100" b="0">
                <a:solidFill>
                  <a:srgbClr val="153443"/>
                </a:solidFill>
                <a:latin typeface="Arial"/>
                <a:ea typeface="Arial"/>
                <a:cs typeface="Arial"/>
              </a:defRPr>
            </a:lvl4pPr>
            <a:lvl5pPr>
              <a:defRPr sz="2100" b="0">
                <a:solidFill>
                  <a:srgbClr val="153443"/>
                </a:solidFill>
                <a:latin typeface="Arial"/>
                <a:ea typeface="Arial"/>
                <a:cs typeface="Arial"/>
              </a:defRPr>
            </a:lvl5pPr>
            <a:lvl6pPr>
              <a:defRPr sz="2100" b="0">
                <a:solidFill>
                  <a:srgbClr val="153443"/>
                </a:solidFill>
                <a:latin typeface="Arial"/>
                <a:ea typeface="Arial"/>
                <a:cs typeface="Arial"/>
              </a:defRPr>
            </a:lvl6pPr>
            <a:lvl7pPr>
              <a:defRPr sz="2100" b="0">
                <a:solidFill>
                  <a:srgbClr val="153443"/>
                </a:solidFill>
                <a:latin typeface="Arial"/>
                <a:ea typeface="Arial"/>
                <a:cs typeface="Arial"/>
              </a:defRPr>
            </a:lvl7pPr>
            <a:lvl8pPr>
              <a:defRPr sz="2100" b="0">
                <a:solidFill>
                  <a:srgbClr val="153443"/>
                </a:solidFill>
                <a:latin typeface="Arial"/>
                <a:ea typeface="Arial"/>
                <a:cs typeface="Arial"/>
              </a:defRPr>
            </a:lvl8pPr>
            <a:lvl9pPr>
              <a:defRPr sz="2100" b="0">
                <a:solidFill>
                  <a:srgbClr val="153443"/>
                </a:solidFill>
                <a:latin typeface="Arial"/>
                <a:ea typeface="Arial"/>
                <a:cs typeface="Arial"/>
              </a:defRPr>
            </a:lvl9pPr>
          </a:lstStyle>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L₅₀ = 281,55 µm</a:t>
            </a:r>
          </a:p>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Lc = 563,09 µm</a:t>
            </a:r>
          </a:p>
          <a:p xmlns:a="http://schemas.openxmlformats.org/drawingml/2006/main">
            <a:pPr>
              <a:defRPr sz="2100" b="0">
                <a:solidFill>
                  <a:srgbClr val="153443"/>
                </a:solidFill>
                <a:latin typeface="Arial"/>
                <a:ea typeface="Arial"/>
                <a:cs typeface="Arial"/>
              </a:defRPr>
            </a:pPr>
            <a:r>
              <a:rPr sz="2100" b="0">
                <a:solidFill>
                  <a:srgbClr val="153443"/>
                </a:solidFill>
                <a:latin typeface="Arial"/>
                <a:ea typeface="Arial"/>
                <a:cs typeface="Arial"/>
              </a:rPr>
              <a:t>L beat = 2Lc</a:t>
            </a:r>
          </a:p>
        </p:txBody>
      </p:sp>
    </p:spTree>
    <p:extLst>
      <p:ext uri="{BB962C8B-B14F-4D97-AF65-F5344CB8AC3E}">
        <p14:creationId xmlns:p14="http://schemas.microsoft.com/office/powerpoint/2010/main" val="34436196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E94DBD-E0A3-4E52-9E05-83045903D10C}"/>
              </a:ext>
            </a:extLst>
          </p:cNvPr>
          <p:cNvSpPr>
            <a:spLocks xmlns:a="http://schemas.openxmlformats.org/drawingml/2006/main" noGrp="1"/>
          </p:cNvSpPr>
          <p:nvPr/>
        </p:nvSpPr>
        <p:spPr>
          <a:xfrm xmlns:a="http://schemas.openxmlformats.org/drawingml/2006/main">
            <a:off x="609600" y="3810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443"/>
                </a:solidFill>
                <a:latin typeface="Arial"/>
                <a:ea typeface="Arial"/>
                <a:cs typeface="Arial"/>
              </a:defRPr>
            </a:defPPr>
            <a:lvl1pPr>
              <a:defRPr sz="3225" b="1">
                <a:solidFill>
                  <a:srgbClr val="153443"/>
                </a:solidFill>
                <a:latin typeface="Arial"/>
                <a:ea typeface="Arial"/>
                <a:cs typeface="Arial"/>
              </a:defRPr>
            </a:lvl1pPr>
            <a:lvl2pPr>
              <a:defRPr sz="3225" b="1">
                <a:solidFill>
                  <a:srgbClr val="153443"/>
                </a:solidFill>
                <a:latin typeface="Arial"/>
                <a:ea typeface="Arial"/>
                <a:cs typeface="Arial"/>
              </a:defRPr>
            </a:lvl2pPr>
            <a:lvl3pPr>
              <a:defRPr sz="3225" b="1">
                <a:solidFill>
                  <a:srgbClr val="153443"/>
                </a:solidFill>
                <a:latin typeface="Arial"/>
                <a:ea typeface="Arial"/>
                <a:cs typeface="Arial"/>
              </a:defRPr>
            </a:lvl3pPr>
            <a:lvl4pPr>
              <a:defRPr sz="3225" b="1">
                <a:solidFill>
                  <a:srgbClr val="153443"/>
                </a:solidFill>
                <a:latin typeface="Arial"/>
                <a:ea typeface="Arial"/>
                <a:cs typeface="Arial"/>
              </a:defRPr>
            </a:lvl4pPr>
            <a:lvl5pPr>
              <a:defRPr sz="3225" b="1">
                <a:solidFill>
                  <a:srgbClr val="153443"/>
                </a:solidFill>
                <a:latin typeface="Arial"/>
                <a:ea typeface="Arial"/>
                <a:cs typeface="Arial"/>
              </a:defRPr>
            </a:lvl5pPr>
            <a:lvl6pPr>
              <a:defRPr sz="3225" b="1">
                <a:solidFill>
                  <a:srgbClr val="153443"/>
                </a:solidFill>
                <a:latin typeface="Arial"/>
                <a:ea typeface="Arial"/>
                <a:cs typeface="Arial"/>
              </a:defRPr>
            </a:lvl6pPr>
            <a:lvl7pPr>
              <a:defRPr sz="3225" b="1">
                <a:solidFill>
                  <a:srgbClr val="153443"/>
                </a:solidFill>
                <a:latin typeface="Arial"/>
                <a:ea typeface="Arial"/>
                <a:cs typeface="Arial"/>
              </a:defRPr>
            </a:lvl7pPr>
            <a:lvl8pPr>
              <a:defRPr sz="3225" b="1">
                <a:solidFill>
                  <a:srgbClr val="153443"/>
                </a:solidFill>
                <a:latin typeface="Arial"/>
                <a:ea typeface="Arial"/>
                <a:cs typeface="Arial"/>
              </a:defRPr>
            </a:lvl8pPr>
            <a:lvl9pPr>
              <a:defRPr sz="3225" b="1">
                <a:solidFill>
                  <a:srgbClr val="153443"/>
                </a:solidFill>
                <a:latin typeface="Arial"/>
                <a:ea typeface="Arial"/>
                <a:cs typeface="Arial"/>
              </a:defRPr>
            </a:lvl9pPr>
          </a:lstStyle>
          <a:p xmlns:a="http://schemas.openxmlformats.org/drawingml/2006/main">
            <a:pPr>
              <a:defRPr sz="3225" b="1">
                <a:solidFill>
                  <a:srgbClr val="153443"/>
                </a:solidFill>
                <a:latin typeface="Arial"/>
                <a:ea typeface="Arial"/>
                <a:cs typeface="Arial"/>
              </a:defRPr>
            </a:pPr>
            <a:r>
              <a:rPr sz="3225" b="1">
                <a:solidFill>
                  <a:srgbClr val="153443"/>
                </a:solidFill>
                <a:latin typeface="Arial"/>
                <a:ea typeface="Arial"/>
                <a:cs typeface="Arial"/>
              </a:rPr>
              <a:t>Pengaruh celah antarpandu</a:t>
            </a:r>
          </a:p>
        </p:txBody>
      </p:sp>
      <p:sp>
        <p:nvSpPr>
          <p:cNvPr id="2" name="">
            <a:extLst xmlns:a="http://schemas.openxmlformats.org/drawingml/2006/main">
              <a:ext uri="{FF2B5EF4-FFF2-40B4-BE49-F238E27FC236}">
                <a16:creationId xmlns:a16="http://schemas.microsoft.com/office/drawing/2014/main" id="{3A615F09-1541-48D3-8502-B3A16FCD4F0A}"/>
              </a:ext>
            </a:extLst>
          </p:cNvPr>
          <p:cNvSpPr>
            <a:spLocks xmlns:a="http://schemas.openxmlformats.org/drawingml/2006/main" noGrp="1"/>
          </p:cNvSpPr>
          <p:nvPr/>
        </p:nvSpPr>
        <p:spPr>
          <a:xfrm xmlns:a="http://schemas.openxmlformats.org/drawingml/2006/main">
            <a:off x="609600" y="63817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OPTIK MODERN  ·  PENUGASAN 1</a:t>
            </a:r>
          </a:p>
        </p:txBody>
      </p:sp>
      <p:sp>
        <p:nvSpPr>
          <p:cNvPr id="3" name="">
            <a:extLst xmlns:a="http://schemas.openxmlformats.org/drawingml/2006/main">
              <a:ext uri="{FF2B5EF4-FFF2-40B4-BE49-F238E27FC236}">
                <a16:creationId xmlns:a16="http://schemas.microsoft.com/office/drawing/2014/main" id="{A293FAC5-7154-4C5B-BF2D-885B3C171028}"/>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13</a:t>
            </a:r>
          </a:p>
        </p:txBody>
      </p:sp>
      <p:graphicFrame>
        <p:nvGraphicFramePr>
          <p:cNvPr id="4" name="Chart">
            <a:extLst xmlns:a="http://schemas.openxmlformats.org/drawingml/2006/main">
              <a:ext uri="{FF2B5EF4-FFF2-40B4-BE49-F238E27FC236}">
                <a16:creationId xmlns:a16="http://schemas.microsoft.com/office/drawing/2014/main" id="{B452E3A2-3709-4906-A077-43EABAB882AC}"/>
              </a:ext>
            </a:extLst>
          </p:cNvPr>
          <p:cNvGraphicFramePr/>
          <p:nvPr/>
        </p:nvGraphicFramePr>
        <p:xfrm>
          <a:off xmlns:a="http://schemas.openxmlformats.org/drawingml/2006/main" x="428625" y="1476375"/>
          <a:ext xmlns:a="http://schemas.openxmlformats.org/drawingml/2006/main" cx="6572250" cy="4286250"/>
        </p:xfrm>
        <a:graphic xmlns:a="http://schemas.openxmlformats.org/drawingml/2006/main">
          <a:graphicData uri="http://schemas.openxmlformats.org/drawingml/2006/chart">
            <c:chart xmlns:r="http://schemas.openxmlformats.org/officeDocument/2006/relationships" xmlns:c="http://schemas.openxmlformats.org/drawingml/2006/chart" r:id="Rb287b4f3eaa94755"/>
          </a:graphicData>
        </a:graphic>
      </p:graphicFrame>
      <p:graphicFrame>
        <p:nvGraphicFramePr>
          <p:cNvPr id="5" name="">
            <a:extLst xmlns:a="http://schemas.openxmlformats.org/drawingml/2006/main">
              <a:ext uri="{FF2B5EF4-FFF2-40B4-BE49-F238E27FC236}">
                <a16:creationId xmlns:a16="http://schemas.microsoft.com/office/drawing/2014/main" id="{C64D5362-46CB-4307-A812-A6BDEBD0A1CB}"/>
              </a:ext>
            </a:extLst>
          </p:cNvPr>
          <p:cNvGraphicFramePr/>
          <p:nvPr/>
        </p:nvGraphicFramePr>
        <p:xfrm>
          <a:off xmlns:a="http://schemas.openxmlformats.org/drawingml/2006/main" x="7429500" y="1809750"/>
          <a:ext xmlns:a="http://schemas.openxmlformats.org/drawingml/2006/main" cx="4143375" cy="2524125"/>
        </p:xfrm>
        <a:graphic xmlns:a="http://schemas.openxmlformats.org/drawingml/2006/main">
          <a:graphicData uri="http://schemas.openxmlformats.org/drawingml/2006/table">
            <a:tbl>
              <a:tblPr/>
              <a:tblGrid>
                <a:gridCol w="1000125"/>
                <a:gridCol w="1571625"/>
                <a:gridCol w="1571625"/>
              </a:tblGrid>
              <a:tr h="631031">
                <a:tc>
                  <a:txBody>
                    <a:bodyPr/>
                    <a:lstStyle/>
                    <a:p>
                      <a:r>
                        <a:rPr sz="1800" b="1">
                          <a:solidFill>
                            <a:srgbClr val="153443"/>
                          </a:solidFill>
                          <a:latin typeface="Arial"/>
                          <a:ea typeface="Arial"/>
                          <a:cs typeface="Arial"/>
                        </a:rPr>
                        <a:t>g (µm)</a:t>
                      </a:r>
                    </a:p>
                  </a:txBody>
                  <a:tcPr marL="91440" marR="91440" marT="45720" marB="45720">
                    <a:solidFill>
                      <a:srgbClr val="E5EFF3"/>
                    </a:solidFill>
                  </a:tcPr>
                </a:tc>
                <a:tc>
                  <a:txBody>
                    <a:bodyPr/>
                    <a:lstStyle/>
                    <a:p>
                      <a:r>
                        <a:rPr sz="1800" b="1">
                          <a:solidFill>
                            <a:srgbClr val="153443"/>
                          </a:solidFill>
                          <a:latin typeface="Arial"/>
                          <a:ea typeface="Arial"/>
                          <a:cs typeface="Arial"/>
                        </a:rPr>
                        <a:t>κ (µm⁻¹)</a:t>
                      </a:r>
                    </a:p>
                  </a:txBody>
                  <a:tcPr marL="91440" marR="91440" marT="45720" marB="45720">
                    <a:solidFill>
                      <a:srgbClr val="E5EFF3"/>
                    </a:solidFill>
                  </a:tcPr>
                </a:tc>
                <a:tc>
                  <a:txBody>
                    <a:bodyPr/>
                    <a:lstStyle/>
                    <a:p>
                      <a:r>
                        <a:rPr sz="1800" b="1">
                          <a:solidFill>
                            <a:srgbClr val="153443"/>
                          </a:solidFill>
                          <a:latin typeface="Arial"/>
                          <a:ea typeface="Arial"/>
                          <a:cs typeface="Arial"/>
                        </a:rPr>
                        <a:t>Lc (µm)</a:t>
                      </a:r>
                    </a:p>
                  </a:txBody>
                  <a:tcPr marL="91440" marR="91440" marT="45720" marB="45720">
                    <a:solidFill>
                      <a:srgbClr val="E5EFF3"/>
                    </a:solidFill>
                  </a:tcPr>
                </a:tc>
              </a:tr>
              <a:tr h="631031">
                <a:tc>
                  <a:txBody>
                    <a:bodyPr/>
                    <a:lstStyle/>
                    <a:p>
                      <a:r>
                        <a:rPr sz="1800" b="0">
                          <a:solidFill>
                            <a:srgbClr val="153443"/>
                          </a:solidFill>
                          <a:latin typeface="Arial"/>
                          <a:ea typeface="Arial"/>
                          <a:cs typeface="Arial"/>
                        </a:rPr>
                        <a:t>2</a:t>
                      </a:r>
                    </a:p>
                  </a:txBody>
                  <a:tcPr marL="91440" marR="91440" marT="45720" marB="45720">
                    <a:solidFill>
                      <a:srgbClr val="FFFFFF"/>
                    </a:solidFill>
                  </a:tcPr>
                </a:tc>
                <a:tc>
                  <a:txBody>
                    <a:bodyPr/>
                    <a:lstStyle/>
                    <a:p>
                      <a:r>
                        <a:rPr sz="1800" b="0">
                          <a:solidFill>
                            <a:srgbClr val="153443"/>
                          </a:solidFill>
                          <a:latin typeface="Arial"/>
                          <a:ea typeface="Arial"/>
                          <a:cs typeface="Arial"/>
                        </a:rPr>
                        <a:t>0,0064496</a:t>
                      </a:r>
                    </a:p>
                  </a:txBody>
                  <a:tcPr marL="91440" marR="91440" marT="45720" marB="45720">
                    <a:solidFill>
                      <a:srgbClr val="FFFFFF"/>
                    </a:solidFill>
                  </a:tcPr>
                </a:tc>
                <a:tc>
                  <a:txBody>
                    <a:bodyPr/>
                    <a:lstStyle/>
                    <a:p>
                      <a:r>
                        <a:rPr sz="1800" b="0">
                          <a:solidFill>
                            <a:srgbClr val="153443"/>
                          </a:solidFill>
                          <a:latin typeface="Arial"/>
                          <a:ea typeface="Arial"/>
                          <a:cs typeface="Arial"/>
                        </a:rPr>
                        <a:t>243,55</a:t>
                      </a:r>
                    </a:p>
                  </a:txBody>
                  <a:tcPr marL="91440" marR="91440" marT="45720" marB="45720">
                    <a:solidFill>
                      <a:srgbClr val="FFFFFF"/>
                    </a:solidFill>
                  </a:tcPr>
                </a:tc>
              </a:tr>
              <a:tr h="631031">
                <a:tc>
                  <a:txBody>
                    <a:bodyPr/>
                    <a:lstStyle/>
                    <a:p>
                      <a:r>
                        <a:rPr sz="1800" b="0">
                          <a:solidFill>
                            <a:srgbClr val="153443"/>
                          </a:solidFill>
                          <a:latin typeface="Arial"/>
                          <a:ea typeface="Arial"/>
                          <a:cs typeface="Arial"/>
                        </a:rPr>
                        <a:t>4</a:t>
                      </a:r>
                    </a:p>
                  </a:txBody>
                  <a:tcPr marL="91440" marR="91440" marT="45720" marB="45720">
                    <a:solidFill>
                      <a:srgbClr val="FFFFFF"/>
                    </a:solidFill>
                  </a:tcPr>
                </a:tc>
                <a:tc>
                  <a:txBody>
                    <a:bodyPr/>
                    <a:lstStyle/>
                    <a:p>
                      <a:r>
                        <a:rPr sz="1800" b="0">
                          <a:solidFill>
                            <a:srgbClr val="153443"/>
                          </a:solidFill>
                          <a:latin typeface="Arial"/>
                          <a:ea typeface="Arial"/>
                          <a:cs typeface="Arial"/>
                        </a:rPr>
                        <a:t>0,0027896</a:t>
                      </a:r>
                    </a:p>
                  </a:txBody>
                  <a:tcPr marL="91440" marR="91440" marT="45720" marB="45720">
                    <a:solidFill>
                      <a:srgbClr val="FFFFFF"/>
                    </a:solidFill>
                  </a:tcPr>
                </a:tc>
                <a:tc>
                  <a:txBody>
                    <a:bodyPr/>
                    <a:lstStyle/>
                    <a:p>
                      <a:r>
                        <a:rPr sz="1800" b="0">
                          <a:solidFill>
                            <a:srgbClr val="153443"/>
                          </a:solidFill>
                          <a:latin typeface="Arial"/>
                          <a:ea typeface="Arial"/>
                          <a:cs typeface="Arial"/>
                        </a:rPr>
                        <a:t>563,09</a:t>
                      </a:r>
                    </a:p>
                  </a:txBody>
                  <a:tcPr marL="91440" marR="91440" marT="45720" marB="45720">
                    <a:solidFill>
                      <a:srgbClr val="FFFFFF"/>
                    </a:solidFill>
                  </a:tcPr>
                </a:tc>
              </a:tr>
              <a:tr h="631031">
                <a:tc>
                  <a:txBody>
                    <a:bodyPr/>
                    <a:lstStyle/>
                    <a:p>
                      <a:r>
                        <a:rPr sz="1800" b="0">
                          <a:solidFill>
                            <a:srgbClr val="153443"/>
                          </a:solidFill>
                          <a:latin typeface="Arial"/>
                          <a:ea typeface="Arial"/>
                          <a:cs typeface="Arial"/>
                        </a:rPr>
                        <a:t>6</a:t>
                      </a:r>
                    </a:p>
                  </a:txBody>
                  <a:tcPr marL="91440" marR="91440" marT="45720" marB="45720">
                    <a:solidFill>
                      <a:srgbClr val="FFFFFF"/>
                    </a:solidFill>
                  </a:tcPr>
                </a:tc>
                <a:tc>
                  <a:txBody>
                    <a:bodyPr/>
                    <a:lstStyle/>
                    <a:p>
                      <a:r>
                        <a:rPr sz="1800" b="0">
                          <a:solidFill>
                            <a:srgbClr val="153443"/>
                          </a:solidFill>
                          <a:latin typeface="Arial"/>
                          <a:ea typeface="Arial"/>
                          <a:cs typeface="Arial"/>
                        </a:rPr>
                        <a:t>0,0012331</a:t>
                      </a:r>
                    </a:p>
                  </a:txBody>
                  <a:tcPr marL="91440" marR="91440" marT="45720" marB="45720">
                    <a:solidFill>
                      <a:srgbClr val="FFFFFF"/>
                    </a:solidFill>
                  </a:tcPr>
                </a:tc>
                <a:tc>
                  <a:txBody>
                    <a:bodyPr/>
                    <a:lstStyle/>
                    <a:p>
                      <a:r>
                        <a:rPr sz="1800" b="0">
                          <a:solidFill>
                            <a:srgbClr val="153443"/>
                          </a:solidFill>
                          <a:latin typeface="Arial"/>
                          <a:ea typeface="Arial"/>
                          <a:cs typeface="Arial"/>
                        </a:rPr>
                        <a:t>1273,90</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069AAF7-EC0B-4A3B-8963-F61CC556499E}"/>
              </a:ext>
            </a:extLst>
          </p:cNvPr>
          <p:cNvSpPr>
            <a:spLocks xmlns:a="http://schemas.openxmlformats.org/drawingml/2006/main" noGrp="1"/>
          </p:cNvSpPr>
          <p:nvPr/>
        </p:nvSpPr>
        <p:spPr>
          <a:xfrm xmlns:a="http://schemas.openxmlformats.org/drawingml/2006/main">
            <a:off x="7524750" y="4714875"/>
            <a:ext cx="4000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6078"/>
                </a:solidFill>
                <a:latin typeface="Arial"/>
                <a:ea typeface="Arial"/>
                <a:cs typeface="Arial"/>
              </a:defRPr>
            </a:defPPr>
            <a:lvl1pPr>
              <a:defRPr sz="1950" b="0">
                <a:solidFill>
                  <a:srgbClr val="146078"/>
                </a:solidFill>
                <a:latin typeface="Arial"/>
                <a:ea typeface="Arial"/>
                <a:cs typeface="Arial"/>
              </a:defRPr>
            </a:lvl1pPr>
            <a:lvl2pPr>
              <a:defRPr sz="1950" b="0">
                <a:solidFill>
                  <a:srgbClr val="146078"/>
                </a:solidFill>
                <a:latin typeface="Arial"/>
                <a:ea typeface="Arial"/>
                <a:cs typeface="Arial"/>
              </a:defRPr>
            </a:lvl2pPr>
            <a:lvl3pPr>
              <a:defRPr sz="1950" b="0">
                <a:solidFill>
                  <a:srgbClr val="146078"/>
                </a:solidFill>
                <a:latin typeface="Arial"/>
                <a:ea typeface="Arial"/>
                <a:cs typeface="Arial"/>
              </a:defRPr>
            </a:lvl3pPr>
            <a:lvl4pPr>
              <a:defRPr sz="1950" b="0">
                <a:solidFill>
                  <a:srgbClr val="146078"/>
                </a:solidFill>
                <a:latin typeface="Arial"/>
                <a:ea typeface="Arial"/>
                <a:cs typeface="Arial"/>
              </a:defRPr>
            </a:lvl4pPr>
            <a:lvl5pPr>
              <a:defRPr sz="1950" b="0">
                <a:solidFill>
                  <a:srgbClr val="146078"/>
                </a:solidFill>
                <a:latin typeface="Arial"/>
                <a:ea typeface="Arial"/>
                <a:cs typeface="Arial"/>
              </a:defRPr>
            </a:lvl5pPr>
            <a:lvl6pPr>
              <a:defRPr sz="1950" b="0">
                <a:solidFill>
                  <a:srgbClr val="146078"/>
                </a:solidFill>
                <a:latin typeface="Arial"/>
                <a:ea typeface="Arial"/>
                <a:cs typeface="Arial"/>
              </a:defRPr>
            </a:lvl6pPr>
            <a:lvl7pPr>
              <a:defRPr sz="1950" b="0">
                <a:solidFill>
                  <a:srgbClr val="146078"/>
                </a:solidFill>
                <a:latin typeface="Arial"/>
                <a:ea typeface="Arial"/>
                <a:cs typeface="Arial"/>
              </a:defRPr>
            </a:lvl7pPr>
            <a:lvl8pPr>
              <a:defRPr sz="1950" b="0">
                <a:solidFill>
                  <a:srgbClr val="146078"/>
                </a:solidFill>
                <a:latin typeface="Arial"/>
                <a:ea typeface="Arial"/>
                <a:cs typeface="Arial"/>
              </a:defRPr>
            </a:lvl8pPr>
            <a:lvl9pPr>
              <a:defRPr sz="1950" b="0">
                <a:solidFill>
                  <a:srgbClr val="146078"/>
                </a:solidFill>
                <a:latin typeface="Arial"/>
                <a:ea typeface="Arial"/>
                <a:cs typeface="Arial"/>
              </a:defRPr>
            </a:lvl9pPr>
          </a:lstStyle>
          <a:p xmlns:a="http://schemas.openxmlformats.org/drawingml/2006/main">
            <a:pPr>
              <a:defRPr sz="1950" b="0">
                <a:solidFill>
                  <a:srgbClr val="146078"/>
                </a:solidFill>
                <a:latin typeface="Arial"/>
                <a:ea typeface="Arial"/>
                <a:cs typeface="Arial"/>
              </a:defRPr>
            </a:pPr>
            <a:r>
              <a:rPr sz="1950" b="0">
                <a:solidFill>
                  <a:srgbClr val="146078"/>
                </a:solidFill>
                <a:latin typeface="Arial"/>
                <a:ea typeface="Arial"/>
                <a:cs typeface="Arial"/>
              </a:rPr>
              <a:t>Celah membesar</a:t>
            </a:r>
          </a:p>
          <a:p xmlns:a="http://schemas.openxmlformats.org/drawingml/2006/main">
            <a:pPr>
              <a:defRPr sz="1950" b="0">
                <a:solidFill>
                  <a:srgbClr val="146078"/>
                </a:solidFill>
                <a:latin typeface="Arial"/>
                <a:ea typeface="Arial"/>
                <a:cs typeface="Arial"/>
              </a:defRPr>
            </a:pPr>
            <a:r>
              <a:rPr sz="1950" b="0">
                <a:solidFill>
                  <a:srgbClr val="146078"/>
                </a:solidFill>
                <a:latin typeface="Arial"/>
                <a:ea typeface="Arial"/>
                <a:cs typeface="Arial"/>
              </a:rPr>
              <a:t>Kopling melemah</a:t>
            </a:r>
          </a:p>
          <a:p xmlns:a="http://schemas.openxmlformats.org/drawingml/2006/main">
            <a:pPr>
              <a:defRPr sz="1950" b="0">
                <a:solidFill>
                  <a:srgbClr val="146078"/>
                </a:solidFill>
                <a:latin typeface="Arial"/>
                <a:ea typeface="Arial"/>
                <a:cs typeface="Arial"/>
              </a:defRPr>
            </a:pPr>
            <a:r>
              <a:rPr sz="1950" b="0">
                <a:solidFill>
                  <a:srgbClr val="146078"/>
                </a:solidFill>
                <a:latin typeface="Arial"/>
                <a:ea typeface="Arial"/>
                <a:cs typeface="Arial"/>
              </a:rPr>
              <a:t>Panjang transfer bertambah</a:t>
            </a:r>
          </a:p>
        </p:txBody>
      </p:sp>
    </p:spTree>
    <p:extLst>
      <p:ext uri="{BB962C8B-B14F-4D97-AF65-F5344CB8AC3E}">
        <p14:creationId xmlns:p14="http://schemas.microsoft.com/office/powerpoint/2010/main" val="6044839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7824A80-2B6F-46AE-924F-E8CF83DC084E}"/>
              </a:ext>
            </a:extLst>
          </p:cNvPr>
          <p:cNvSpPr>
            <a:spLocks xmlns:a="http://schemas.openxmlformats.org/drawingml/2006/main" noGrp="1"/>
          </p:cNvSpPr>
          <p:nvPr/>
        </p:nvSpPr>
        <p:spPr>
          <a:xfrm xmlns:a="http://schemas.openxmlformats.org/drawingml/2006/main">
            <a:off x="609600" y="3810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443"/>
                </a:solidFill>
                <a:latin typeface="Arial"/>
                <a:ea typeface="Arial"/>
                <a:cs typeface="Arial"/>
              </a:defRPr>
            </a:defPPr>
            <a:lvl1pPr>
              <a:defRPr sz="3225" b="1">
                <a:solidFill>
                  <a:srgbClr val="153443"/>
                </a:solidFill>
                <a:latin typeface="Arial"/>
                <a:ea typeface="Arial"/>
                <a:cs typeface="Arial"/>
              </a:defRPr>
            </a:lvl1pPr>
            <a:lvl2pPr>
              <a:defRPr sz="3225" b="1">
                <a:solidFill>
                  <a:srgbClr val="153443"/>
                </a:solidFill>
                <a:latin typeface="Arial"/>
                <a:ea typeface="Arial"/>
                <a:cs typeface="Arial"/>
              </a:defRPr>
            </a:lvl2pPr>
            <a:lvl3pPr>
              <a:defRPr sz="3225" b="1">
                <a:solidFill>
                  <a:srgbClr val="153443"/>
                </a:solidFill>
                <a:latin typeface="Arial"/>
                <a:ea typeface="Arial"/>
                <a:cs typeface="Arial"/>
              </a:defRPr>
            </a:lvl3pPr>
            <a:lvl4pPr>
              <a:defRPr sz="3225" b="1">
                <a:solidFill>
                  <a:srgbClr val="153443"/>
                </a:solidFill>
                <a:latin typeface="Arial"/>
                <a:ea typeface="Arial"/>
                <a:cs typeface="Arial"/>
              </a:defRPr>
            </a:lvl4pPr>
            <a:lvl5pPr>
              <a:defRPr sz="3225" b="1">
                <a:solidFill>
                  <a:srgbClr val="153443"/>
                </a:solidFill>
                <a:latin typeface="Arial"/>
                <a:ea typeface="Arial"/>
                <a:cs typeface="Arial"/>
              </a:defRPr>
            </a:lvl5pPr>
            <a:lvl6pPr>
              <a:defRPr sz="3225" b="1">
                <a:solidFill>
                  <a:srgbClr val="153443"/>
                </a:solidFill>
                <a:latin typeface="Arial"/>
                <a:ea typeface="Arial"/>
                <a:cs typeface="Arial"/>
              </a:defRPr>
            </a:lvl6pPr>
            <a:lvl7pPr>
              <a:defRPr sz="3225" b="1">
                <a:solidFill>
                  <a:srgbClr val="153443"/>
                </a:solidFill>
                <a:latin typeface="Arial"/>
                <a:ea typeface="Arial"/>
                <a:cs typeface="Arial"/>
              </a:defRPr>
            </a:lvl7pPr>
            <a:lvl8pPr>
              <a:defRPr sz="3225" b="1">
                <a:solidFill>
                  <a:srgbClr val="153443"/>
                </a:solidFill>
                <a:latin typeface="Arial"/>
                <a:ea typeface="Arial"/>
                <a:cs typeface="Arial"/>
              </a:defRPr>
            </a:lvl8pPr>
            <a:lvl9pPr>
              <a:defRPr sz="3225" b="1">
                <a:solidFill>
                  <a:srgbClr val="153443"/>
                </a:solidFill>
                <a:latin typeface="Arial"/>
                <a:ea typeface="Arial"/>
                <a:cs typeface="Arial"/>
              </a:defRPr>
            </a:lvl9pPr>
          </a:lstStyle>
          <a:p xmlns:a="http://schemas.openxmlformats.org/drawingml/2006/main">
            <a:pPr>
              <a:defRPr sz="3225" b="1">
                <a:solidFill>
                  <a:srgbClr val="153443"/>
                </a:solidFill>
                <a:latin typeface="Arial"/>
                <a:ea typeface="Arial"/>
                <a:cs typeface="Arial"/>
              </a:defRPr>
            </a:pPr>
            <a:r>
              <a:rPr sz="3225" b="1">
                <a:solidFill>
                  <a:srgbClr val="153443"/>
                </a:solidFill>
                <a:latin typeface="Arial"/>
                <a:ea typeface="Arial"/>
                <a:cs typeface="Arial"/>
              </a:rPr>
              <a:t>Pembagi daya dan prinsip sakelar</a:t>
            </a:r>
          </a:p>
        </p:txBody>
      </p:sp>
      <p:sp>
        <p:nvSpPr>
          <p:cNvPr id="2" name="">
            <a:extLst xmlns:a="http://schemas.openxmlformats.org/drawingml/2006/main">
              <a:ext uri="{FF2B5EF4-FFF2-40B4-BE49-F238E27FC236}">
                <a16:creationId xmlns:a16="http://schemas.microsoft.com/office/drawing/2014/main" id="{2815D6A8-FDF9-4CA1-85C6-6B5D8C8EB316}"/>
              </a:ext>
            </a:extLst>
          </p:cNvPr>
          <p:cNvSpPr>
            <a:spLocks xmlns:a="http://schemas.openxmlformats.org/drawingml/2006/main" noGrp="1"/>
          </p:cNvSpPr>
          <p:nvPr/>
        </p:nvSpPr>
        <p:spPr>
          <a:xfrm xmlns:a="http://schemas.openxmlformats.org/drawingml/2006/main">
            <a:off x="609600" y="63817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OPTIK MODERN  ·  PENUGASAN 1</a:t>
            </a:r>
          </a:p>
        </p:txBody>
      </p:sp>
      <p:sp>
        <p:nvSpPr>
          <p:cNvPr id="3" name="">
            <a:extLst xmlns:a="http://schemas.openxmlformats.org/drawingml/2006/main">
              <a:ext uri="{FF2B5EF4-FFF2-40B4-BE49-F238E27FC236}">
                <a16:creationId xmlns:a16="http://schemas.microsoft.com/office/drawing/2014/main" id="{F65B1F6D-7F33-4788-93F2-04E391E2D102}"/>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81037B6D-DD9D-4358-AA48-4555287587D1}"/>
              </a:ext>
            </a:extLst>
          </p:cNvPr>
          <p:cNvSpPr>
            <a:spLocks xmlns:a="http://schemas.openxmlformats.org/drawingml/2006/main" noGrp="1"/>
          </p:cNvSpPr>
          <p:nvPr/>
        </p:nvSpPr>
        <p:spPr>
          <a:xfrm xmlns:a="http://schemas.openxmlformats.org/drawingml/2006/main">
            <a:off x="609600" y="1571625"/>
            <a:ext cx="10668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53443"/>
                </a:solidFill>
                <a:latin typeface="Arial"/>
                <a:ea typeface="Arial"/>
                <a:cs typeface="Arial"/>
              </a:defRPr>
            </a:defPPr>
            <a:lvl1pPr>
              <a:defRPr sz="2175" b="0">
                <a:solidFill>
                  <a:srgbClr val="153443"/>
                </a:solidFill>
                <a:latin typeface="Arial"/>
                <a:ea typeface="Arial"/>
                <a:cs typeface="Arial"/>
              </a:defRPr>
            </a:lvl1pPr>
            <a:lvl2pPr>
              <a:defRPr sz="2175" b="0">
                <a:solidFill>
                  <a:srgbClr val="153443"/>
                </a:solidFill>
                <a:latin typeface="Arial"/>
                <a:ea typeface="Arial"/>
                <a:cs typeface="Arial"/>
              </a:defRPr>
            </a:lvl2pPr>
            <a:lvl3pPr>
              <a:defRPr sz="2175" b="0">
                <a:solidFill>
                  <a:srgbClr val="153443"/>
                </a:solidFill>
                <a:latin typeface="Arial"/>
                <a:ea typeface="Arial"/>
                <a:cs typeface="Arial"/>
              </a:defRPr>
            </a:lvl3pPr>
            <a:lvl4pPr>
              <a:defRPr sz="2175" b="0">
                <a:solidFill>
                  <a:srgbClr val="153443"/>
                </a:solidFill>
                <a:latin typeface="Arial"/>
                <a:ea typeface="Arial"/>
                <a:cs typeface="Arial"/>
              </a:defRPr>
            </a:lvl4pPr>
            <a:lvl5pPr>
              <a:defRPr sz="2175" b="0">
                <a:solidFill>
                  <a:srgbClr val="153443"/>
                </a:solidFill>
                <a:latin typeface="Arial"/>
                <a:ea typeface="Arial"/>
                <a:cs typeface="Arial"/>
              </a:defRPr>
            </a:lvl5pPr>
            <a:lvl6pPr>
              <a:defRPr sz="2175" b="0">
                <a:solidFill>
                  <a:srgbClr val="153443"/>
                </a:solidFill>
                <a:latin typeface="Arial"/>
                <a:ea typeface="Arial"/>
                <a:cs typeface="Arial"/>
              </a:defRPr>
            </a:lvl6pPr>
            <a:lvl7pPr>
              <a:defRPr sz="2175" b="0">
                <a:solidFill>
                  <a:srgbClr val="153443"/>
                </a:solidFill>
                <a:latin typeface="Arial"/>
                <a:ea typeface="Arial"/>
                <a:cs typeface="Arial"/>
              </a:defRPr>
            </a:lvl7pPr>
            <a:lvl8pPr>
              <a:defRPr sz="2175" b="0">
                <a:solidFill>
                  <a:srgbClr val="153443"/>
                </a:solidFill>
                <a:latin typeface="Arial"/>
                <a:ea typeface="Arial"/>
                <a:cs typeface="Arial"/>
              </a:defRPr>
            </a:lvl8pPr>
            <a:lvl9pPr>
              <a:defRPr sz="2175" b="0">
                <a:solidFill>
                  <a:srgbClr val="153443"/>
                </a:solidFill>
                <a:latin typeface="Arial"/>
                <a:ea typeface="Arial"/>
                <a:cs typeface="Arial"/>
              </a:defRPr>
            </a:lvl9pPr>
          </a:lstStyle>
          <a:p xmlns:a="http://schemas.openxmlformats.org/drawingml/2006/main">
            <a:pPr>
              <a:defRPr sz="2175" b="0">
                <a:solidFill>
                  <a:srgbClr val="153443"/>
                </a:solidFill>
                <a:latin typeface="Arial"/>
                <a:ea typeface="Arial"/>
                <a:cs typeface="Arial"/>
              </a:defRPr>
            </a:pPr>
            <a:r>
              <a:rPr sz="2175" b="0">
                <a:solidFill>
                  <a:srgbClr val="153443"/>
                </a:solidFill>
                <a:latin typeface="Arial"/>
                <a:ea typeface="Arial"/>
                <a:cs typeface="Arial"/>
              </a:rPr>
              <a:t>Pembagi 50:50</a:t>
            </a:r>
          </a:p>
          <a:p xmlns:a="http://schemas.openxmlformats.org/drawingml/2006/main">
            <a:pPr>
              <a:defRPr sz="2175" b="0">
                <a:solidFill>
                  <a:srgbClr val="153443"/>
                </a:solidFill>
                <a:latin typeface="Arial"/>
                <a:ea typeface="Arial"/>
                <a:cs typeface="Arial"/>
              </a:defRPr>
            </a:pPr>
            <a:r>
              <a:rPr sz="2175" b="0">
                <a:solidFill>
                  <a:srgbClr val="153443"/>
                </a:solidFill>
                <a:latin typeface="Arial"/>
                <a:ea typeface="Arial"/>
                <a:cs typeface="Arial"/>
              </a:rPr>
              <a:t>L = π/(4κ) = 281,55 µm pada g = 4 µm</a:t>
            </a:r>
          </a:p>
        </p:txBody>
      </p:sp>
      <p:sp>
        <p:nvSpPr>
          <p:cNvPr id="5" name="">
            <a:extLst xmlns:a="http://schemas.openxmlformats.org/drawingml/2006/main">
              <a:ext uri="{FF2B5EF4-FFF2-40B4-BE49-F238E27FC236}">
                <a16:creationId xmlns:a16="http://schemas.microsoft.com/office/drawing/2014/main" id="{52F96DA2-8AF8-42C5-8ABE-DE198C62516F}"/>
              </a:ext>
            </a:extLst>
          </p:cNvPr>
          <p:cNvSpPr>
            <a:spLocks xmlns:a="http://schemas.openxmlformats.org/drawingml/2006/main" noGrp="1"/>
          </p:cNvSpPr>
          <p:nvPr/>
        </p:nvSpPr>
        <p:spPr>
          <a:xfrm xmlns:a="http://schemas.openxmlformats.org/drawingml/2006/main">
            <a:off x="609600" y="2857500"/>
            <a:ext cx="10668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53443"/>
                </a:solidFill>
                <a:latin typeface="Arial"/>
                <a:ea typeface="Arial"/>
                <a:cs typeface="Arial"/>
              </a:defRPr>
            </a:defPPr>
            <a:lvl1pPr>
              <a:defRPr sz="2175" b="0">
                <a:solidFill>
                  <a:srgbClr val="153443"/>
                </a:solidFill>
                <a:latin typeface="Arial"/>
                <a:ea typeface="Arial"/>
                <a:cs typeface="Arial"/>
              </a:defRPr>
            </a:lvl1pPr>
            <a:lvl2pPr>
              <a:defRPr sz="2175" b="0">
                <a:solidFill>
                  <a:srgbClr val="153443"/>
                </a:solidFill>
                <a:latin typeface="Arial"/>
                <a:ea typeface="Arial"/>
                <a:cs typeface="Arial"/>
              </a:defRPr>
            </a:lvl2pPr>
            <a:lvl3pPr>
              <a:defRPr sz="2175" b="0">
                <a:solidFill>
                  <a:srgbClr val="153443"/>
                </a:solidFill>
                <a:latin typeface="Arial"/>
                <a:ea typeface="Arial"/>
                <a:cs typeface="Arial"/>
              </a:defRPr>
            </a:lvl3pPr>
            <a:lvl4pPr>
              <a:defRPr sz="2175" b="0">
                <a:solidFill>
                  <a:srgbClr val="153443"/>
                </a:solidFill>
                <a:latin typeface="Arial"/>
                <a:ea typeface="Arial"/>
                <a:cs typeface="Arial"/>
              </a:defRPr>
            </a:lvl4pPr>
            <a:lvl5pPr>
              <a:defRPr sz="2175" b="0">
                <a:solidFill>
                  <a:srgbClr val="153443"/>
                </a:solidFill>
                <a:latin typeface="Arial"/>
                <a:ea typeface="Arial"/>
                <a:cs typeface="Arial"/>
              </a:defRPr>
            </a:lvl5pPr>
            <a:lvl6pPr>
              <a:defRPr sz="2175" b="0">
                <a:solidFill>
                  <a:srgbClr val="153443"/>
                </a:solidFill>
                <a:latin typeface="Arial"/>
                <a:ea typeface="Arial"/>
                <a:cs typeface="Arial"/>
              </a:defRPr>
            </a:lvl6pPr>
            <a:lvl7pPr>
              <a:defRPr sz="2175" b="0">
                <a:solidFill>
                  <a:srgbClr val="153443"/>
                </a:solidFill>
                <a:latin typeface="Arial"/>
                <a:ea typeface="Arial"/>
                <a:cs typeface="Arial"/>
              </a:defRPr>
            </a:lvl7pPr>
            <a:lvl8pPr>
              <a:defRPr sz="2175" b="0">
                <a:solidFill>
                  <a:srgbClr val="153443"/>
                </a:solidFill>
                <a:latin typeface="Arial"/>
                <a:ea typeface="Arial"/>
                <a:cs typeface="Arial"/>
              </a:defRPr>
            </a:lvl8pPr>
            <a:lvl9pPr>
              <a:defRPr sz="2175" b="0">
                <a:solidFill>
                  <a:srgbClr val="153443"/>
                </a:solidFill>
                <a:latin typeface="Arial"/>
                <a:ea typeface="Arial"/>
                <a:cs typeface="Arial"/>
              </a:defRPr>
            </a:lvl9pPr>
          </a:lstStyle>
          <a:p xmlns:a="http://schemas.openxmlformats.org/drawingml/2006/main">
            <a:pPr>
              <a:defRPr sz="2175" b="0">
                <a:solidFill>
                  <a:srgbClr val="153443"/>
                </a:solidFill>
                <a:latin typeface="Arial"/>
                <a:ea typeface="Arial"/>
                <a:cs typeface="Arial"/>
              </a:defRPr>
            </a:pPr>
            <a:r>
              <a:rPr sz="2175" b="0">
                <a:solidFill>
                  <a:srgbClr val="153443"/>
                </a:solidFill>
                <a:latin typeface="Arial"/>
                <a:ea typeface="Arial"/>
                <a:cs typeface="Arial"/>
              </a:rPr>
              <a:t>Transfer penuh ideal</a:t>
            </a:r>
          </a:p>
          <a:p xmlns:a="http://schemas.openxmlformats.org/drawingml/2006/main">
            <a:pPr>
              <a:defRPr sz="2175" b="0">
                <a:solidFill>
                  <a:srgbClr val="153443"/>
                </a:solidFill>
                <a:latin typeface="Arial"/>
                <a:ea typeface="Arial"/>
                <a:cs typeface="Arial"/>
              </a:defRPr>
            </a:pPr>
            <a:r>
              <a:rPr sz="2175" b="0">
                <a:solidFill>
                  <a:srgbClr val="153443"/>
                </a:solidFill>
                <a:latin typeface="Arial"/>
                <a:ea typeface="Arial"/>
                <a:cs typeface="Arial"/>
              </a:rPr>
              <a:t>L = π/(2κ) = 563,09 µm</a:t>
            </a:r>
          </a:p>
        </p:txBody>
      </p:sp>
      <p:sp>
        <p:nvSpPr>
          <p:cNvPr id="6" name="">
            <a:extLst xmlns:a="http://schemas.openxmlformats.org/drawingml/2006/main">
              <a:ext uri="{FF2B5EF4-FFF2-40B4-BE49-F238E27FC236}">
                <a16:creationId xmlns:a16="http://schemas.microsoft.com/office/drawing/2014/main" id="{4ED0EF39-E6A7-4EB2-B571-909CB2D8FAE8}"/>
              </a:ext>
            </a:extLst>
          </p:cNvPr>
          <p:cNvSpPr>
            <a:spLocks xmlns:a="http://schemas.openxmlformats.org/drawingml/2006/main" noGrp="1"/>
          </p:cNvSpPr>
          <p:nvPr/>
        </p:nvSpPr>
        <p:spPr>
          <a:xfrm xmlns:a="http://schemas.openxmlformats.org/drawingml/2006/main">
            <a:off x="609600" y="4143375"/>
            <a:ext cx="10668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53443"/>
                </a:solidFill>
                <a:latin typeface="Arial"/>
                <a:ea typeface="Arial"/>
                <a:cs typeface="Arial"/>
              </a:defRPr>
            </a:defPPr>
            <a:lvl1pPr>
              <a:defRPr sz="2175" b="0">
                <a:solidFill>
                  <a:srgbClr val="153443"/>
                </a:solidFill>
                <a:latin typeface="Arial"/>
                <a:ea typeface="Arial"/>
                <a:cs typeface="Arial"/>
              </a:defRPr>
            </a:lvl1pPr>
            <a:lvl2pPr>
              <a:defRPr sz="2175" b="0">
                <a:solidFill>
                  <a:srgbClr val="153443"/>
                </a:solidFill>
                <a:latin typeface="Arial"/>
                <a:ea typeface="Arial"/>
                <a:cs typeface="Arial"/>
              </a:defRPr>
            </a:lvl2pPr>
            <a:lvl3pPr>
              <a:defRPr sz="2175" b="0">
                <a:solidFill>
                  <a:srgbClr val="153443"/>
                </a:solidFill>
                <a:latin typeface="Arial"/>
                <a:ea typeface="Arial"/>
                <a:cs typeface="Arial"/>
              </a:defRPr>
            </a:lvl3pPr>
            <a:lvl4pPr>
              <a:defRPr sz="2175" b="0">
                <a:solidFill>
                  <a:srgbClr val="153443"/>
                </a:solidFill>
                <a:latin typeface="Arial"/>
                <a:ea typeface="Arial"/>
                <a:cs typeface="Arial"/>
              </a:defRPr>
            </a:lvl4pPr>
            <a:lvl5pPr>
              <a:defRPr sz="2175" b="0">
                <a:solidFill>
                  <a:srgbClr val="153443"/>
                </a:solidFill>
                <a:latin typeface="Arial"/>
                <a:ea typeface="Arial"/>
                <a:cs typeface="Arial"/>
              </a:defRPr>
            </a:lvl5pPr>
            <a:lvl6pPr>
              <a:defRPr sz="2175" b="0">
                <a:solidFill>
                  <a:srgbClr val="153443"/>
                </a:solidFill>
                <a:latin typeface="Arial"/>
                <a:ea typeface="Arial"/>
                <a:cs typeface="Arial"/>
              </a:defRPr>
            </a:lvl6pPr>
            <a:lvl7pPr>
              <a:defRPr sz="2175" b="0">
                <a:solidFill>
                  <a:srgbClr val="153443"/>
                </a:solidFill>
                <a:latin typeface="Arial"/>
                <a:ea typeface="Arial"/>
                <a:cs typeface="Arial"/>
              </a:defRPr>
            </a:lvl7pPr>
            <a:lvl8pPr>
              <a:defRPr sz="2175" b="0">
                <a:solidFill>
                  <a:srgbClr val="153443"/>
                </a:solidFill>
                <a:latin typeface="Arial"/>
                <a:ea typeface="Arial"/>
                <a:cs typeface="Arial"/>
              </a:defRPr>
            </a:lvl8pPr>
            <a:lvl9pPr>
              <a:defRPr sz="2175" b="0">
                <a:solidFill>
                  <a:srgbClr val="153443"/>
                </a:solidFill>
                <a:latin typeface="Arial"/>
                <a:ea typeface="Arial"/>
                <a:cs typeface="Arial"/>
              </a:defRPr>
            </a:lvl9pPr>
          </a:lstStyle>
          <a:p xmlns:a="http://schemas.openxmlformats.org/drawingml/2006/main">
            <a:pPr>
              <a:defRPr sz="2175" b="0">
                <a:solidFill>
                  <a:srgbClr val="153443"/>
                </a:solidFill>
                <a:latin typeface="Arial"/>
                <a:ea typeface="Arial"/>
                <a:cs typeface="Arial"/>
              </a:defRPr>
            </a:pPr>
            <a:r>
              <a:rPr sz="2175" b="0">
                <a:solidFill>
                  <a:srgbClr val="153443"/>
                </a:solidFill>
                <a:latin typeface="Arial"/>
                <a:ea typeface="Arial"/>
                <a:cs typeface="Arial"/>
              </a:rPr>
              <a:t>Sakelar aktif</a:t>
            </a:r>
          </a:p>
          <a:p xmlns:a="http://schemas.openxmlformats.org/drawingml/2006/main">
            <a:pPr>
              <a:defRPr sz="2175" b="0">
                <a:solidFill>
                  <a:srgbClr val="153443"/>
                </a:solidFill>
                <a:latin typeface="Arial"/>
                <a:ea typeface="Arial"/>
                <a:cs typeface="Arial"/>
              </a:defRPr>
            </a:pPr>
            <a:r>
              <a:rPr sz="2175" b="0">
                <a:solidFill>
                  <a:srgbClr val="153443"/>
                </a:solidFill>
                <a:latin typeface="Arial"/>
                <a:ea typeface="Arial"/>
                <a:cs typeface="Arial"/>
              </a:rPr>
              <a:t>Perlu kendali indeks untuk mengubah Δβ atau κ.</a:t>
            </a:r>
          </a:p>
        </p:txBody>
      </p:sp>
      <p:sp>
        <p:nvSpPr>
          <p:cNvPr id="7" name="">
            <a:extLst xmlns:a="http://schemas.openxmlformats.org/drawingml/2006/main">
              <a:ext uri="{FF2B5EF4-FFF2-40B4-BE49-F238E27FC236}">
                <a16:creationId xmlns:a16="http://schemas.microsoft.com/office/drawing/2014/main" id="{97A1515F-9A44-4193-A150-357EB88103F9}"/>
              </a:ext>
            </a:extLst>
          </p:cNvPr>
          <p:cNvSpPr>
            <a:spLocks xmlns:a="http://schemas.openxmlformats.org/drawingml/2006/main" noGrp="1"/>
          </p:cNvSpPr>
          <p:nvPr/>
        </p:nvSpPr>
        <p:spPr>
          <a:xfrm xmlns:a="http://schemas.openxmlformats.org/drawingml/2006/main">
            <a:off x="609600" y="56388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46078"/>
                </a:solidFill>
                <a:latin typeface="Arial"/>
                <a:ea typeface="Arial"/>
                <a:cs typeface="Arial"/>
              </a:defRPr>
            </a:defPPr>
            <a:lvl1pPr>
              <a:defRPr sz="2250" b="1">
                <a:solidFill>
                  <a:srgbClr val="146078"/>
                </a:solidFill>
                <a:latin typeface="Arial"/>
                <a:ea typeface="Arial"/>
                <a:cs typeface="Arial"/>
              </a:defRPr>
            </a:lvl1pPr>
            <a:lvl2pPr>
              <a:defRPr sz="2250" b="1">
                <a:solidFill>
                  <a:srgbClr val="146078"/>
                </a:solidFill>
                <a:latin typeface="Arial"/>
                <a:ea typeface="Arial"/>
                <a:cs typeface="Arial"/>
              </a:defRPr>
            </a:lvl2pPr>
            <a:lvl3pPr>
              <a:defRPr sz="2250" b="1">
                <a:solidFill>
                  <a:srgbClr val="146078"/>
                </a:solidFill>
                <a:latin typeface="Arial"/>
                <a:ea typeface="Arial"/>
                <a:cs typeface="Arial"/>
              </a:defRPr>
            </a:lvl3pPr>
            <a:lvl4pPr>
              <a:defRPr sz="2250" b="1">
                <a:solidFill>
                  <a:srgbClr val="146078"/>
                </a:solidFill>
                <a:latin typeface="Arial"/>
                <a:ea typeface="Arial"/>
                <a:cs typeface="Arial"/>
              </a:defRPr>
            </a:lvl4pPr>
            <a:lvl5pPr>
              <a:defRPr sz="2250" b="1">
                <a:solidFill>
                  <a:srgbClr val="146078"/>
                </a:solidFill>
                <a:latin typeface="Arial"/>
                <a:ea typeface="Arial"/>
                <a:cs typeface="Arial"/>
              </a:defRPr>
            </a:lvl5pPr>
            <a:lvl6pPr>
              <a:defRPr sz="2250" b="1">
                <a:solidFill>
                  <a:srgbClr val="146078"/>
                </a:solidFill>
                <a:latin typeface="Arial"/>
                <a:ea typeface="Arial"/>
                <a:cs typeface="Arial"/>
              </a:defRPr>
            </a:lvl6pPr>
            <a:lvl7pPr>
              <a:defRPr sz="2250" b="1">
                <a:solidFill>
                  <a:srgbClr val="146078"/>
                </a:solidFill>
                <a:latin typeface="Arial"/>
                <a:ea typeface="Arial"/>
                <a:cs typeface="Arial"/>
              </a:defRPr>
            </a:lvl7pPr>
            <a:lvl8pPr>
              <a:defRPr sz="2250" b="1">
                <a:solidFill>
                  <a:srgbClr val="146078"/>
                </a:solidFill>
                <a:latin typeface="Arial"/>
                <a:ea typeface="Arial"/>
                <a:cs typeface="Arial"/>
              </a:defRPr>
            </a:lvl8pPr>
            <a:lvl9pPr>
              <a:defRPr sz="2250" b="1">
                <a:solidFill>
                  <a:srgbClr val="146078"/>
                </a:solidFill>
                <a:latin typeface="Arial"/>
                <a:ea typeface="Arial"/>
                <a:cs typeface="Arial"/>
              </a:defRPr>
            </a:lvl9pPr>
          </a:lstStyle>
          <a:p xmlns:a="http://schemas.openxmlformats.org/drawingml/2006/main">
            <a:pPr>
              <a:defRPr sz="2250" b="1">
                <a:solidFill>
                  <a:srgbClr val="146078"/>
                </a:solidFill>
                <a:latin typeface="Arial"/>
                <a:ea typeface="Arial"/>
                <a:cs typeface="Arial"/>
              </a:defRPr>
            </a:pPr>
            <a:r>
              <a:rPr sz="2250" b="1">
                <a:solidFill>
                  <a:srgbClr val="146078"/>
                </a:solidFill>
                <a:latin typeface="Arial"/>
                <a:ea typeface="Arial"/>
                <a:cs typeface="Arial"/>
              </a:rPr>
              <a:t>P(b) maksimum / P₀ = κ² / [κ² + (Δβ/2)²]</a:t>
            </a:r>
          </a:p>
        </p:txBody>
      </p:sp>
    </p:spTree>
    <p:extLst>
      <p:ext uri="{BB962C8B-B14F-4D97-AF65-F5344CB8AC3E}">
        <p14:creationId xmlns:p14="http://schemas.microsoft.com/office/powerpoint/2010/main" val="54196304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A1C532-ED6D-4710-8295-959E0577D41F}"/>
              </a:ext>
            </a:extLst>
          </p:cNvPr>
          <p:cNvSpPr>
            <a:spLocks xmlns:a="http://schemas.openxmlformats.org/drawingml/2006/main" noGrp="1"/>
          </p:cNvSpPr>
          <p:nvPr/>
        </p:nvSpPr>
        <p:spPr>
          <a:xfrm xmlns:a="http://schemas.openxmlformats.org/drawingml/2006/main">
            <a:off x="609600" y="3810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443"/>
                </a:solidFill>
                <a:latin typeface="Arial"/>
                <a:ea typeface="Arial"/>
                <a:cs typeface="Arial"/>
              </a:defRPr>
            </a:defPPr>
            <a:lvl1pPr>
              <a:defRPr sz="3225" b="1">
                <a:solidFill>
                  <a:srgbClr val="153443"/>
                </a:solidFill>
                <a:latin typeface="Arial"/>
                <a:ea typeface="Arial"/>
                <a:cs typeface="Arial"/>
              </a:defRPr>
            </a:lvl1pPr>
            <a:lvl2pPr>
              <a:defRPr sz="3225" b="1">
                <a:solidFill>
                  <a:srgbClr val="153443"/>
                </a:solidFill>
                <a:latin typeface="Arial"/>
                <a:ea typeface="Arial"/>
                <a:cs typeface="Arial"/>
              </a:defRPr>
            </a:lvl2pPr>
            <a:lvl3pPr>
              <a:defRPr sz="3225" b="1">
                <a:solidFill>
                  <a:srgbClr val="153443"/>
                </a:solidFill>
                <a:latin typeface="Arial"/>
                <a:ea typeface="Arial"/>
                <a:cs typeface="Arial"/>
              </a:defRPr>
            </a:lvl3pPr>
            <a:lvl4pPr>
              <a:defRPr sz="3225" b="1">
                <a:solidFill>
                  <a:srgbClr val="153443"/>
                </a:solidFill>
                <a:latin typeface="Arial"/>
                <a:ea typeface="Arial"/>
                <a:cs typeface="Arial"/>
              </a:defRPr>
            </a:lvl4pPr>
            <a:lvl5pPr>
              <a:defRPr sz="3225" b="1">
                <a:solidFill>
                  <a:srgbClr val="153443"/>
                </a:solidFill>
                <a:latin typeface="Arial"/>
                <a:ea typeface="Arial"/>
                <a:cs typeface="Arial"/>
              </a:defRPr>
            </a:lvl5pPr>
            <a:lvl6pPr>
              <a:defRPr sz="3225" b="1">
                <a:solidFill>
                  <a:srgbClr val="153443"/>
                </a:solidFill>
                <a:latin typeface="Arial"/>
                <a:ea typeface="Arial"/>
                <a:cs typeface="Arial"/>
              </a:defRPr>
            </a:lvl6pPr>
            <a:lvl7pPr>
              <a:defRPr sz="3225" b="1">
                <a:solidFill>
                  <a:srgbClr val="153443"/>
                </a:solidFill>
                <a:latin typeface="Arial"/>
                <a:ea typeface="Arial"/>
                <a:cs typeface="Arial"/>
              </a:defRPr>
            </a:lvl7pPr>
            <a:lvl8pPr>
              <a:defRPr sz="3225" b="1">
                <a:solidFill>
                  <a:srgbClr val="153443"/>
                </a:solidFill>
                <a:latin typeface="Arial"/>
                <a:ea typeface="Arial"/>
                <a:cs typeface="Arial"/>
              </a:defRPr>
            </a:lvl8pPr>
            <a:lvl9pPr>
              <a:defRPr sz="3225" b="1">
                <a:solidFill>
                  <a:srgbClr val="153443"/>
                </a:solidFill>
                <a:latin typeface="Arial"/>
                <a:ea typeface="Arial"/>
                <a:cs typeface="Arial"/>
              </a:defRPr>
            </a:lvl9pPr>
          </a:lstStyle>
          <a:p xmlns:a="http://schemas.openxmlformats.org/drawingml/2006/main">
            <a:pPr>
              <a:defRPr sz="3225" b="1">
                <a:solidFill>
                  <a:srgbClr val="153443"/>
                </a:solidFill>
                <a:latin typeface="Arial"/>
                <a:ea typeface="Arial"/>
                <a:cs typeface="Arial"/>
              </a:defRPr>
            </a:pPr>
            <a:r>
              <a:rPr sz="3225" b="1">
                <a:solidFill>
                  <a:srgbClr val="153443"/>
                </a:solidFill>
                <a:latin typeface="Arial"/>
                <a:ea typeface="Arial"/>
                <a:cs typeface="Arial"/>
              </a:rPr>
              <a:t>Kesimpulan dan batas model</a:t>
            </a:r>
          </a:p>
        </p:txBody>
      </p:sp>
      <p:sp>
        <p:nvSpPr>
          <p:cNvPr id="2" name="">
            <a:extLst xmlns:a="http://schemas.openxmlformats.org/drawingml/2006/main">
              <a:ext uri="{FF2B5EF4-FFF2-40B4-BE49-F238E27FC236}">
                <a16:creationId xmlns:a16="http://schemas.microsoft.com/office/drawing/2014/main" id="{B9FE64B2-C9FA-4121-B925-90E826EAA94C}"/>
              </a:ext>
            </a:extLst>
          </p:cNvPr>
          <p:cNvSpPr>
            <a:spLocks xmlns:a="http://schemas.openxmlformats.org/drawingml/2006/main" noGrp="1"/>
          </p:cNvSpPr>
          <p:nvPr/>
        </p:nvSpPr>
        <p:spPr>
          <a:xfrm xmlns:a="http://schemas.openxmlformats.org/drawingml/2006/main">
            <a:off x="609600" y="63817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OPTIK MODERN  ·  PENUGASAN 1</a:t>
            </a:r>
          </a:p>
        </p:txBody>
      </p:sp>
      <p:sp>
        <p:nvSpPr>
          <p:cNvPr id="3" name="">
            <a:extLst xmlns:a="http://schemas.openxmlformats.org/drawingml/2006/main">
              <a:ext uri="{FF2B5EF4-FFF2-40B4-BE49-F238E27FC236}">
                <a16:creationId xmlns:a16="http://schemas.microsoft.com/office/drawing/2014/main" id="{429EAC55-5811-4109-B02B-1798359C5C98}"/>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F9BD9F1B-CAFE-45EB-8D2A-E9D75386D2F4}"/>
              </a:ext>
            </a:extLst>
          </p:cNvPr>
          <p:cNvSpPr>
            <a:spLocks xmlns:a="http://schemas.openxmlformats.org/drawingml/2006/main" noGrp="1"/>
          </p:cNvSpPr>
          <p:nvPr/>
        </p:nvSpPr>
        <p:spPr>
          <a:xfrm xmlns:a="http://schemas.openxmlformats.org/drawingml/2006/main">
            <a:off x="609600" y="157162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53443"/>
                </a:solidFill>
                <a:latin typeface="Arial"/>
                <a:ea typeface="Arial"/>
                <a:cs typeface="Arial"/>
              </a:defRPr>
            </a:defPPr>
            <a:lvl1pPr>
              <a:defRPr sz="2325" b="0">
                <a:solidFill>
                  <a:srgbClr val="153443"/>
                </a:solidFill>
                <a:latin typeface="Arial"/>
                <a:ea typeface="Arial"/>
                <a:cs typeface="Arial"/>
              </a:defRPr>
            </a:lvl1pPr>
            <a:lvl2pPr>
              <a:defRPr sz="2325" b="0">
                <a:solidFill>
                  <a:srgbClr val="153443"/>
                </a:solidFill>
                <a:latin typeface="Arial"/>
                <a:ea typeface="Arial"/>
                <a:cs typeface="Arial"/>
              </a:defRPr>
            </a:lvl2pPr>
            <a:lvl3pPr>
              <a:defRPr sz="2325" b="0">
                <a:solidFill>
                  <a:srgbClr val="153443"/>
                </a:solidFill>
                <a:latin typeface="Arial"/>
                <a:ea typeface="Arial"/>
                <a:cs typeface="Arial"/>
              </a:defRPr>
            </a:lvl3pPr>
            <a:lvl4pPr>
              <a:defRPr sz="2325" b="0">
                <a:solidFill>
                  <a:srgbClr val="153443"/>
                </a:solidFill>
                <a:latin typeface="Arial"/>
                <a:ea typeface="Arial"/>
                <a:cs typeface="Arial"/>
              </a:defRPr>
            </a:lvl4pPr>
            <a:lvl5pPr>
              <a:defRPr sz="2325" b="0">
                <a:solidFill>
                  <a:srgbClr val="153443"/>
                </a:solidFill>
                <a:latin typeface="Arial"/>
                <a:ea typeface="Arial"/>
                <a:cs typeface="Arial"/>
              </a:defRPr>
            </a:lvl5pPr>
            <a:lvl6pPr>
              <a:defRPr sz="2325" b="0">
                <a:solidFill>
                  <a:srgbClr val="153443"/>
                </a:solidFill>
                <a:latin typeface="Arial"/>
                <a:ea typeface="Arial"/>
                <a:cs typeface="Arial"/>
              </a:defRPr>
            </a:lvl6pPr>
            <a:lvl7pPr>
              <a:defRPr sz="2325" b="0">
                <a:solidFill>
                  <a:srgbClr val="153443"/>
                </a:solidFill>
                <a:latin typeface="Arial"/>
                <a:ea typeface="Arial"/>
                <a:cs typeface="Arial"/>
              </a:defRPr>
            </a:lvl7pPr>
            <a:lvl8pPr>
              <a:defRPr sz="2325" b="0">
                <a:solidFill>
                  <a:srgbClr val="153443"/>
                </a:solidFill>
                <a:latin typeface="Arial"/>
                <a:ea typeface="Arial"/>
                <a:cs typeface="Arial"/>
              </a:defRPr>
            </a:lvl8pPr>
            <a:lvl9pPr>
              <a:defRPr sz="2325" b="0">
                <a:solidFill>
                  <a:srgbClr val="153443"/>
                </a:solidFill>
                <a:latin typeface="Arial"/>
                <a:ea typeface="Arial"/>
                <a:cs typeface="Arial"/>
              </a:defRPr>
            </a:lvl9pPr>
          </a:lstStyle>
          <a:p xmlns:a="http://schemas.openxmlformats.org/drawingml/2006/main">
            <a:pPr>
              <a:defRPr sz="2325" b="0">
                <a:solidFill>
                  <a:srgbClr val="153443"/>
                </a:solidFill>
                <a:latin typeface="Arial"/>
                <a:ea typeface="Arial"/>
                <a:cs typeface="Arial"/>
              </a:defRPr>
            </a:pPr>
            <a:r>
              <a:rPr sz="2325" b="0">
                <a:solidFill>
                  <a:srgbClr val="153443"/>
                </a:solidFill>
                <a:latin typeface="Arial"/>
                <a:ea typeface="Arial"/>
                <a:cs typeface="Arial"/>
              </a:rPr>
              <a:t>Ketebalan menentukan jumlah modus dan indeks efektif.</a:t>
            </a:r>
          </a:p>
        </p:txBody>
      </p:sp>
      <p:sp>
        <p:nvSpPr>
          <p:cNvPr id="5" name="">
            <a:extLst xmlns:a="http://schemas.openxmlformats.org/drawingml/2006/main">
              <a:ext uri="{FF2B5EF4-FFF2-40B4-BE49-F238E27FC236}">
                <a16:creationId xmlns:a16="http://schemas.microsoft.com/office/drawing/2014/main" id="{EB9B2FA6-7CAD-484F-AC86-EB5D1BE704AE}"/>
              </a:ext>
            </a:extLst>
          </p:cNvPr>
          <p:cNvSpPr>
            <a:spLocks xmlns:a="http://schemas.openxmlformats.org/drawingml/2006/main" noGrp="1"/>
          </p:cNvSpPr>
          <p:nvPr/>
        </p:nvSpPr>
        <p:spPr>
          <a:xfrm xmlns:a="http://schemas.openxmlformats.org/drawingml/2006/main">
            <a:off x="609600" y="24765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53443"/>
                </a:solidFill>
                <a:latin typeface="Arial"/>
                <a:ea typeface="Arial"/>
                <a:cs typeface="Arial"/>
              </a:defRPr>
            </a:defPPr>
            <a:lvl1pPr>
              <a:defRPr sz="2325" b="0">
                <a:solidFill>
                  <a:srgbClr val="153443"/>
                </a:solidFill>
                <a:latin typeface="Arial"/>
                <a:ea typeface="Arial"/>
                <a:cs typeface="Arial"/>
              </a:defRPr>
            </a:lvl1pPr>
            <a:lvl2pPr>
              <a:defRPr sz="2325" b="0">
                <a:solidFill>
                  <a:srgbClr val="153443"/>
                </a:solidFill>
                <a:latin typeface="Arial"/>
                <a:ea typeface="Arial"/>
                <a:cs typeface="Arial"/>
              </a:defRPr>
            </a:lvl2pPr>
            <a:lvl3pPr>
              <a:defRPr sz="2325" b="0">
                <a:solidFill>
                  <a:srgbClr val="153443"/>
                </a:solidFill>
                <a:latin typeface="Arial"/>
                <a:ea typeface="Arial"/>
                <a:cs typeface="Arial"/>
              </a:defRPr>
            </a:lvl3pPr>
            <a:lvl4pPr>
              <a:defRPr sz="2325" b="0">
                <a:solidFill>
                  <a:srgbClr val="153443"/>
                </a:solidFill>
                <a:latin typeface="Arial"/>
                <a:ea typeface="Arial"/>
                <a:cs typeface="Arial"/>
              </a:defRPr>
            </a:lvl4pPr>
            <a:lvl5pPr>
              <a:defRPr sz="2325" b="0">
                <a:solidFill>
                  <a:srgbClr val="153443"/>
                </a:solidFill>
                <a:latin typeface="Arial"/>
                <a:ea typeface="Arial"/>
                <a:cs typeface="Arial"/>
              </a:defRPr>
            </a:lvl5pPr>
            <a:lvl6pPr>
              <a:defRPr sz="2325" b="0">
                <a:solidFill>
                  <a:srgbClr val="153443"/>
                </a:solidFill>
                <a:latin typeface="Arial"/>
                <a:ea typeface="Arial"/>
                <a:cs typeface="Arial"/>
              </a:defRPr>
            </a:lvl6pPr>
            <a:lvl7pPr>
              <a:defRPr sz="2325" b="0">
                <a:solidFill>
                  <a:srgbClr val="153443"/>
                </a:solidFill>
                <a:latin typeface="Arial"/>
                <a:ea typeface="Arial"/>
                <a:cs typeface="Arial"/>
              </a:defRPr>
            </a:lvl7pPr>
            <a:lvl8pPr>
              <a:defRPr sz="2325" b="0">
                <a:solidFill>
                  <a:srgbClr val="153443"/>
                </a:solidFill>
                <a:latin typeface="Arial"/>
                <a:ea typeface="Arial"/>
                <a:cs typeface="Arial"/>
              </a:defRPr>
            </a:lvl8pPr>
            <a:lvl9pPr>
              <a:defRPr sz="2325" b="0">
                <a:solidFill>
                  <a:srgbClr val="153443"/>
                </a:solidFill>
                <a:latin typeface="Arial"/>
                <a:ea typeface="Arial"/>
                <a:cs typeface="Arial"/>
              </a:defRPr>
            </a:lvl9pPr>
          </a:lstStyle>
          <a:p xmlns:a="http://schemas.openxmlformats.org/drawingml/2006/main">
            <a:pPr>
              <a:defRPr sz="2325" b="0">
                <a:solidFill>
                  <a:srgbClr val="153443"/>
                </a:solidFill>
                <a:latin typeface="Arial"/>
                <a:ea typeface="Arial"/>
                <a:cs typeface="Arial"/>
              </a:defRPr>
            </a:pPr>
            <a:r>
              <a:rPr sz="2325" b="0">
                <a:solidFill>
                  <a:srgbClr val="153443"/>
                </a:solidFill>
                <a:latin typeface="Arial"/>
                <a:ea typeface="Arial"/>
                <a:cs typeface="Arial"/>
              </a:rPr>
              <a:t>Tumpang tindih medan menghasilkan pemisahan supermode.</a:t>
            </a:r>
          </a:p>
        </p:txBody>
      </p:sp>
      <p:sp>
        <p:nvSpPr>
          <p:cNvPr id="6" name="">
            <a:extLst xmlns:a="http://schemas.openxmlformats.org/drawingml/2006/main">
              <a:ext uri="{FF2B5EF4-FFF2-40B4-BE49-F238E27FC236}">
                <a16:creationId xmlns:a16="http://schemas.microsoft.com/office/drawing/2014/main" id="{6CCC9E2D-868D-471E-A24B-8F92E2F2F5D3}"/>
              </a:ext>
            </a:extLst>
          </p:cNvPr>
          <p:cNvSpPr>
            <a:spLocks xmlns:a="http://schemas.openxmlformats.org/drawingml/2006/main" noGrp="1"/>
          </p:cNvSpPr>
          <p:nvPr/>
        </p:nvSpPr>
        <p:spPr>
          <a:xfrm xmlns:a="http://schemas.openxmlformats.org/drawingml/2006/main">
            <a:off x="609600" y="33813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53443"/>
                </a:solidFill>
                <a:latin typeface="Arial"/>
                <a:ea typeface="Arial"/>
                <a:cs typeface="Arial"/>
              </a:defRPr>
            </a:defPPr>
            <a:lvl1pPr>
              <a:defRPr sz="2325" b="0">
                <a:solidFill>
                  <a:srgbClr val="153443"/>
                </a:solidFill>
                <a:latin typeface="Arial"/>
                <a:ea typeface="Arial"/>
                <a:cs typeface="Arial"/>
              </a:defRPr>
            </a:lvl1pPr>
            <a:lvl2pPr>
              <a:defRPr sz="2325" b="0">
                <a:solidFill>
                  <a:srgbClr val="153443"/>
                </a:solidFill>
                <a:latin typeface="Arial"/>
                <a:ea typeface="Arial"/>
                <a:cs typeface="Arial"/>
              </a:defRPr>
            </a:lvl2pPr>
            <a:lvl3pPr>
              <a:defRPr sz="2325" b="0">
                <a:solidFill>
                  <a:srgbClr val="153443"/>
                </a:solidFill>
                <a:latin typeface="Arial"/>
                <a:ea typeface="Arial"/>
                <a:cs typeface="Arial"/>
              </a:defRPr>
            </a:lvl3pPr>
            <a:lvl4pPr>
              <a:defRPr sz="2325" b="0">
                <a:solidFill>
                  <a:srgbClr val="153443"/>
                </a:solidFill>
                <a:latin typeface="Arial"/>
                <a:ea typeface="Arial"/>
                <a:cs typeface="Arial"/>
              </a:defRPr>
            </a:lvl4pPr>
            <a:lvl5pPr>
              <a:defRPr sz="2325" b="0">
                <a:solidFill>
                  <a:srgbClr val="153443"/>
                </a:solidFill>
                <a:latin typeface="Arial"/>
                <a:ea typeface="Arial"/>
                <a:cs typeface="Arial"/>
              </a:defRPr>
            </a:lvl5pPr>
            <a:lvl6pPr>
              <a:defRPr sz="2325" b="0">
                <a:solidFill>
                  <a:srgbClr val="153443"/>
                </a:solidFill>
                <a:latin typeface="Arial"/>
                <a:ea typeface="Arial"/>
                <a:cs typeface="Arial"/>
              </a:defRPr>
            </a:lvl6pPr>
            <a:lvl7pPr>
              <a:defRPr sz="2325" b="0">
                <a:solidFill>
                  <a:srgbClr val="153443"/>
                </a:solidFill>
                <a:latin typeface="Arial"/>
                <a:ea typeface="Arial"/>
                <a:cs typeface="Arial"/>
              </a:defRPr>
            </a:lvl7pPr>
            <a:lvl8pPr>
              <a:defRPr sz="2325" b="0">
                <a:solidFill>
                  <a:srgbClr val="153443"/>
                </a:solidFill>
                <a:latin typeface="Arial"/>
                <a:ea typeface="Arial"/>
                <a:cs typeface="Arial"/>
              </a:defRPr>
            </a:lvl8pPr>
            <a:lvl9pPr>
              <a:defRPr sz="2325" b="0">
                <a:solidFill>
                  <a:srgbClr val="153443"/>
                </a:solidFill>
                <a:latin typeface="Arial"/>
                <a:ea typeface="Arial"/>
                <a:cs typeface="Arial"/>
              </a:defRPr>
            </a:lvl9pPr>
          </a:lstStyle>
          <a:p xmlns:a="http://schemas.openxmlformats.org/drawingml/2006/main">
            <a:pPr>
              <a:defRPr sz="2325" b="0">
                <a:solidFill>
                  <a:srgbClr val="153443"/>
                </a:solidFill>
                <a:latin typeface="Arial"/>
                <a:ea typeface="Arial"/>
                <a:cs typeface="Arial"/>
              </a:defRPr>
            </a:pPr>
            <a:r>
              <a:rPr sz="2325" b="0">
                <a:solidFill>
                  <a:srgbClr val="153443"/>
                </a:solidFill>
                <a:latin typeface="Arial"/>
                <a:ea typeface="Arial"/>
                <a:cs typeface="Arial"/>
              </a:rPr>
              <a:t>Celah dan panjang interaksi menentukan pembagian daya.</a:t>
            </a:r>
          </a:p>
        </p:txBody>
      </p:sp>
      <p:sp>
        <p:nvSpPr>
          <p:cNvPr id="7" name="">
            <a:extLst xmlns:a="http://schemas.openxmlformats.org/drawingml/2006/main">
              <a:ext uri="{FF2B5EF4-FFF2-40B4-BE49-F238E27FC236}">
                <a16:creationId xmlns:a16="http://schemas.microsoft.com/office/drawing/2014/main" id="{CF4CFB1E-E1F1-4B61-95E8-6CD3DDD3B072}"/>
              </a:ext>
            </a:extLst>
          </p:cNvPr>
          <p:cNvSpPr>
            <a:spLocks xmlns:a="http://schemas.openxmlformats.org/drawingml/2006/main" noGrp="1"/>
          </p:cNvSpPr>
          <p:nvPr/>
        </p:nvSpPr>
        <p:spPr>
          <a:xfrm xmlns:a="http://schemas.openxmlformats.org/drawingml/2006/main">
            <a:off x="609600" y="45243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16B"/>
                </a:solidFill>
                <a:latin typeface="Arial"/>
                <a:ea typeface="Arial"/>
                <a:cs typeface="Arial"/>
              </a:defRPr>
            </a:defPPr>
            <a:lvl1pPr>
              <a:defRPr sz="2025" b="0">
                <a:solidFill>
                  <a:srgbClr val="52616B"/>
                </a:solidFill>
                <a:latin typeface="Arial"/>
                <a:ea typeface="Arial"/>
                <a:cs typeface="Arial"/>
              </a:defRPr>
            </a:lvl1pPr>
            <a:lvl2pPr>
              <a:defRPr sz="2025" b="0">
                <a:solidFill>
                  <a:srgbClr val="52616B"/>
                </a:solidFill>
                <a:latin typeface="Arial"/>
                <a:ea typeface="Arial"/>
                <a:cs typeface="Arial"/>
              </a:defRPr>
            </a:lvl2pPr>
            <a:lvl3pPr>
              <a:defRPr sz="2025" b="0">
                <a:solidFill>
                  <a:srgbClr val="52616B"/>
                </a:solidFill>
                <a:latin typeface="Arial"/>
                <a:ea typeface="Arial"/>
                <a:cs typeface="Arial"/>
              </a:defRPr>
            </a:lvl3pPr>
            <a:lvl4pPr>
              <a:defRPr sz="2025" b="0">
                <a:solidFill>
                  <a:srgbClr val="52616B"/>
                </a:solidFill>
                <a:latin typeface="Arial"/>
                <a:ea typeface="Arial"/>
                <a:cs typeface="Arial"/>
              </a:defRPr>
            </a:lvl4pPr>
            <a:lvl5pPr>
              <a:defRPr sz="2025" b="0">
                <a:solidFill>
                  <a:srgbClr val="52616B"/>
                </a:solidFill>
                <a:latin typeface="Arial"/>
                <a:ea typeface="Arial"/>
                <a:cs typeface="Arial"/>
              </a:defRPr>
            </a:lvl5pPr>
            <a:lvl6pPr>
              <a:defRPr sz="2025" b="0">
                <a:solidFill>
                  <a:srgbClr val="52616B"/>
                </a:solidFill>
                <a:latin typeface="Arial"/>
                <a:ea typeface="Arial"/>
                <a:cs typeface="Arial"/>
              </a:defRPr>
            </a:lvl6pPr>
            <a:lvl7pPr>
              <a:defRPr sz="2025" b="0">
                <a:solidFill>
                  <a:srgbClr val="52616B"/>
                </a:solidFill>
                <a:latin typeface="Arial"/>
                <a:ea typeface="Arial"/>
                <a:cs typeface="Arial"/>
              </a:defRPr>
            </a:lvl7pPr>
            <a:lvl8pPr>
              <a:defRPr sz="2025" b="0">
                <a:solidFill>
                  <a:srgbClr val="52616B"/>
                </a:solidFill>
                <a:latin typeface="Arial"/>
                <a:ea typeface="Arial"/>
                <a:cs typeface="Arial"/>
              </a:defRPr>
            </a:lvl8pPr>
            <a:lvl9pPr>
              <a:defRPr sz="2025" b="0">
                <a:solidFill>
                  <a:srgbClr val="52616B"/>
                </a:solidFill>
                <a:latin typeface="Arial"/>
                <a:ea typeface="Arial"/>
                <a:cs typeface="Arial"/>
              </a:defRPr>
            </a:lvl9pPr>
          </a:lstStyle>
          <a:p xmlns:a="http://schemas.openxmlformats.org/drawingml/2006/main">
            <a:pPr>
              <a:defRPr sz="2025" b="0">
                <a:solidFill>
                  <a:srgbClr val="52616B"/>
                </a:solidFill>
                <a:latin typeface="Arial"/>
                <a:ea typeface="Arial"/>
                <a:cs typeface="Arial"/>
              </a:defRPr>
            </a:pPr>
            <a:r>
              <a:rPr sz="2025" b="0">
                <a:solidFill>
                  <a:srgbClr val="52616B"/>
                </a:solidFill>
                <a:latin typeface="Arial"/>
                <a:ea typeface="Arial"/>
                <a:cs typeface="Arial"/>
              </a:rPr>
              <a:t>Model ideal: 1D, dua modus dominan, tanpa dispersi material</a:t>
            </a:r>
          </a:p>
          <a:p xmlns:a="http://schemas.openxmlformats.org/drawingml/2006/main">
            <a:pPr>
              <a:defRPr sz="2025" b="0">
                <a:solidFill>
                  <a:srgbClr val="52616B"/>
                </a:solidFill>
                <a:latin typeface="Arial"/>
                <a:ea typeface="Arial"/>
                <a:cs typeface="Arial"/>
              </a:defRPr>
            </a:pPr>
            <a:r>
              <a:rPr sz="2025" b="0">
                <a:solidFill>
                  <a:srgbClr val="52616B"/>
                </a:solidFill>
                <a:latin typeface="Arial"/>
                <a:ea typeface="Arial"/>
                <a:cs typeface="Arial"/>
              </a:rPr>
              <a:t>dan tanpa rugi fabrikasi atau sambungan.</a:t>
            </a:r>
          </a:p>
        </p:txBody>
      </p:sp>
      <p:sp>
        <p:nvSpPr>
          <p:cNvPr id="8" name="">
            <a:extLst xmlns:a="http://schemas.openxmlformats.org/drawingml/2006/main">
              <a:ext uri="{FF2B5EF4-FFF2-40B4-BE49-F238E27FC236}">
                <a16:creationId xmlns:a16="http://schemas.microsoft.com/office/drawing/2014/main" id="{6549A67B-3CCD-480F-A43A-C2C0894FA781}"/>
              </a:ext>
            </a:extLst>
          </p:cNvPr>
          <p:cNvSpPr>
            <a:spLocks xmlns:a="http://schemas.openxmlformats.org/drawingml/2006/main" noGrp="1"/>
          </p:cNvSpPr>
          <p:nvPr/>
        </p:nvSpPr>
        <p:spPr>
          <a:xfrm xmlns:a="http://schemas.openxmlformats.org/drawingml/2006/main">
            <a:off x="609600" y="57340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6078"/>
                </a:solidFill>
                <a:latin typeface="Arial"/>
                <a:ea typeface="Arial"/>
                <a:cs typeface="Arial"/>
              </a:defRPr>
            </a:defPPr>
            <a:lvl1pPr>
              <a:defRPr sz="1800" b="0">
                <a:solidFill>
                  <a:srgbClr val="146078"/>
                </a:solidFill>
                <a:latin typeface="Arial"/>
                <a:ea typeface="Arial"/>
                <a:cs typeface="Arial"/>
              </a:defRPr>
            </a:lvl1pPr>
            <a:lvl2pPr>
              <a:defRPr sz="1800" b="0">
                <a:solidFill>
                  <a:srgbClr val="146078"/>
                </a:solidFill>
                <a:latin typeface="Arial"/>
                <a:ea typeface="Arial"/>
                <a:cs typeface="Arial"/>
              </a:defRPr>
            </a:lvl2pPr>
            <a:lvl3pPr>
              <a:defRPr sz="1800" b="0">
                <a:solidFill>
                  <a:srgbClr val="146078"/>
                </a:solidFill>
                <a:latin typeface="Arial"/>
                <a:ea typeface="Arial"/>
                <a:cs typeface="Arial"/>
              </a:defRPr>
            </a:lvl3pPr>
            <a:lvl4pPr>
              <a:defRPr sz="1800" b="0">
                <a:solidFill>
                  <a:srgbClr val="146078"/>
                </a:solidFill>
                <a:latin typeface="Arial"/>
                <a:ea typeface="Arial"/>
                <a:cs typeface="Arial"/>
              </a:defRPr>
            </a:lvl4pPr>
            <a:lvl5pPr>
              <a:defRPr sz="1800" b="0">
                <a:solidFill>
                  <a:srgbClr val="146078"/>
                </a:solidFill>
                <a:latin typeface="Arial"/>
                <a:ea typeface="Arial"/>
                <a:cs typeface="Arial"/>
              </a:defRPr>
            </a:lvl5pPr>
            <a:lvl6pPr>
              <a:defRPr sz="1800" b="0">
                <a:solidFill>
                  <a:srgbClr val="146078"/>
                </a:solidFill>
                <a:latin typeface="Arial"/>
                <a:ea typeface="Arial"/>
                <a:cs typeface="Arial"/>
              </a:defRPr>
            </a:lvl6pPr>
            <a:lvl7pPr>
              <a:defRPr sz="1800" b="0">
                <a:solidFill>
                  <a:srgbClr val="146078"/>
                </a:solidFill>
                <a:latin typeface="Arial"/>
                <a:ea typeface="Arial"/>
                <a:cs typeface="Arial"/>
              </a:defRPr>
            </a:lvl7pPr>
            <a:lvl8pPr>
              <a:defRPr sz="1800" b="0">
                <a:solidFill>
                  <a:srgbClr val="146078"/>
                </a:solidFill>
                <a:latin typeface="Arial"/>
                <a:ea typeface="Arial"/>
                <a:cs typeface="Arial"/>
              </a:defRPr>
            </a:lvl8pPr>
            <a:lvl9pPr>
              <a:defRPr sz="1800" b="0">
                <a:solidFill>
                  <a:srgbClr val="146078"/>
                </a:solidFill>
                <a:latin typeface="Arial"/>
                <a:ea typeface="Arial"/>
                <a:cs typeface="Arial"/>
              </a:defRPr>
            </a:lvl9pPr>
          </a:lstStyle>
          <a:p xmlns:a="http://schemas.openxmlformats.org/drawingml/2006/main">
            <a:pPr>
              <a:defRPr sz="1800" b="0">
                <a:solidFill>
                  <a:srgbClr val="146078"/>
                </a:solidFill>
                <a:latin typeface="Arial"/>
                <a:ea typeface="Arial"/>
                <a:cs typeface="Arial"/>
              </a:defRPr>
            </a:pPr>
            <a:r>
              <a:rPr sz="1800" b="0">
                <a:solidFill>
                  <a:srgbClr val="146078"/>
                </a:solidFill>
                <a:latin typeface="Arial"/>
                <a:ea typeface="Arial"/>
                <a:cs typeface="Arial"/>
              </a:rPr>
              <a:t>Pemeriksaan: syarat terikat, residual akar, dan konservasi daya.</a:t>
            </a:r>
          </a:p>
        </p:txBody>
      </p:sp>
    </p:spTree>
    <p:extLst>
      <p:ext uri="{BB962C8B-B14F-4D97-AF65-F5344CB8AC3E}">
        <p14:creationId xmlns:p14="http://schemas.microsoft.com/office/powerpoint/2010/main" val="96739442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5386AB-750E-4FB8-B054-BBE27EAB46AA}"/>
              </a:ext>
            </a:extLst>
          </p:cNvPr>
          <p:cNvSpPr>
            <a:spLocks xmlns:a="http://schemas.openxmlformats.org/drawingml/2006/main" noGrp="1"/>
          </p:cNvSpPr>
          <p:nvPr/>
        </p:nvSpPr>
        <p:spPr>
          <a:xfrm xmlns:a="http://schemas.openxmlformats.org/drawingml/2006/main">
            <a:off x="609600" y="3810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443"/>
                </a:solidFill>
                <a:latin typeface="Arial"/>
                <a:ea typeface="Arial"/>
                <a:cs typeface="Arial"/>
              </a:defRPr>
            </a:defPPr>
            <a:lvl1pPr>
              <a:defRPr sz="3225" b="1">
                <a:solidFill>
                  <a:srgbClr val="153443"/>
                </a:solidFill>
                <a:latin typeface="Arial"/>
                <a:ea typeface="Arial"/>
                <a:cs typeface="Arial"/>
              </a:defRPr>
            </a:lvl1pPr>
            <a:lvl2pPr>
              <a:defRPr sz="3225" b="1">
                <a:solidFill>
                  <a:srgbClr val="153443"/>
                </a:solidFill>
                <a:latin typeface="Arial"/>
                <a:ea typeface="Arial"/>
                <a:cs typeface="Arial"/>
              </a:defRPr>
            </a:lvl2pPr>
            <a:lvl3pPr>
              <a:defRPr sz="3225" b="1">
                <a:solidFill>
                  <a:srgbClr val="153443"/>
                </a:solidFill>
                <a:latin typeface="Arial"/>
                <a:ea typeface="Arial"/>
                <a:cs typeface="Arial"/>
              </a:defRPr>
            </a:lvl3pPr>
            <a:lvl4pPr>
              <a:defRPr sz="3225" b="1">
                <a:solidFill>
                  <a:srgbClr val="153443"/>
                </a:solidFill>
                <a:latin typeface="Arial"/>
                <a:ea typeface="Arial"/>
                <a:cs typeface="Arial"/>
              </a:defRPr>
            </a:lvl4pPr>
            <a:lvl5pPr>
              <a:defRPr sz="3225" b="1">
                <a:solidFill>
                  <a:srgbClr val="153443"/>
                </a:solidFill>
                <a:latin typeface="Arial"/>
                <a:ea typeface="Arial"/>
                <a:cs typeface="Arial"/>
              </a:defRPr>
            </a:lvl5pPr>
            <a:lvl6pPr>
              <a:defRPr sz="3225" b="1">
                <a:solidFill>
                  <a:srgbClr val="153443"/>
                </a:solidFill>
                <a:latin typeface="Arial"/>
                <a:ea typeface="Arial"/>
                <a:cs typeface="Arial"/>
              </a:defRPr>
            </a:lvl6pPr>
            <a:lvl7pPr>
              <a:defRPr sz="3225" b="1">
                <a:solidFill>
                  <a:srgbClr val="153443"/>
                </a:solidFill>
                <a:latin typeface="Arial"/>
                <a:ea typeface="Arial"/>
                <a:cs typeface="Arial"/>
              </a:defRPr>
            </a:lvl7pPr>
            <a:lvl8pPr>
              <a:defRPr sz="3225" b="1">
                <a:solidFill>
                  <a:srgbClr val="153443"/>
                </a:solidFill>
                <a:latin typeface="Arial"/>
                <a:ea typeface="Arial"/>
                <a:cs typeface="Arial"/>
              </a:defRPr>
            </a:lvl8pPr>
            <a:lvl9pPr>
              <a:defRPr sz="3225" b="1">
                <a:solidFill>
                  <a:srgbClr val="153443"/>
                </a:solidFill>
                <a:latin typeface="Arial"/>
                <a:ea typeface="Arial"/>
                <a:cs typeface="Arial"/>
              </a:defRPr>
            </a:lvl9pPr>
          </a:lstStyle>
          <a:p xmlns:a="http://schemas.openxmlformats.org/drawingml/2006/main">
            <a:pPr>
              <a:defRPr sz="3225" b="1">
                <a:solidFill>
                  <a:srgbClr val="153443"/>
                </a:solidFill>
                <a:latin typeface="Arial"/>
                <a:ea typeface="Arial"/>
                <a:cs typeface="Arial"/>
              </a:defRPr>
            </a:pPr>
            <a:r>
              <a:rPr sz="3225" b="1">
                <a:solidFill>
                  <a:srgbClr val="153443"/>
                </a:solidFill>
                <a:latin typeface="Arial"/>
                <a:ea typeface="Arial"/>
                <a:cs typeface="Arial"/>
              </a:rPr>
              <a:t>Pustaka dan diskusi</a:t>
            </a:r>
          </a:p>
        </p:txBody>
      </p:sp>
      <p:sp>
        <p:nvSpPr>
          <p:cNvPr id="2" name="">
            <a:extLst xmlns:a="http://schemas.openxmlformats.org/drawingml/2006/main">
              <a:ext uri="{FF2B5EF4-FFF2-40B4-BE49-F238E27FC236}">
                <a16:creationId xmlns:a16="http://schemas.microsoft.com/office/drawing/2014/main" id="{31F86305-295E-4EE2-9913-1AF411FBD3FD}"/>
              </a:ext>
            </a:extLst>
          </p:cNvPr>
          <p:cNvSpPr>
            <a:spLocks xmlns:a="http://schemas.openxmlformats.org/drawingml/2006/main" noGrp="1"/>
          </p:cNvSpPr>
          <p:nvPr/>
        </p:nvSpPr>
        <p:spPr>
          <a:xfrm xmlns:a="http://schemas.openxmlformats.org/drawingml/2006/main">
            <a:off x="609600" y="63817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OPTIK MODERN  ·  PENUGASAN 1</a:t>
            </a:r>
          </a:p>
        </p:txBody>
      </p:sp>
      <p:sp>
        <p:nvSpPr>
          <p:cNvPr id="3" name="">
            <a:extLst xmlns:a="http://schemas.openxmlformats.org/drawingml/2006/main">
              <a:ext uri="{FF2B5EF4-FFF2-40B4-BE49-F238E27FC236}">
                <a16:creationId xmlns:a16="http://schemas.microsoft.com/office/drawing/2014/main" id="{B9ECE430-CD3A-4F44-B627-16F11562169C}"/>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16B"/>
                </a:solidFill>
                <a:latin typeface="Arial"/>
                <a:ea typeface="Arial"/>
                <a:cs typeface="Arial"/>
              </a:defRPr>
            </a:defPPr>
            <a:lvl1pPr>
              <a:defRPr sz="1200" b="0">
                <a:solidFill>
                  <a:srgbClr val="52616B"/>
                </a:solidFill>
                <a:latin typeface="Arial"/>
                <a:ea typeface="Arial"/>
                <a:cs typeface="Arial"/>
              </a:defRPr>
            </a:lvl1pPr>
            <a:lvl2pPr>
              <a:defRPr sz="1200" b="0">
                <a:solidFill>
                  <a:srgbClr val="52616B"/>
                </a:solidFill>
                <a:latin typeface="Arial"/>
                <a:ea typeface="Arial"/>
                <a:cs typeface="Arial"/>
              </a:defRPr>
            </a:lvl2pPr>
            <a:lvl3pPr>
              <a:defRPr sz="1200" b="0">
                <a:solidFill>
                  <a:srgbClr val="52616B"/>
                </a:solidFill>
                <a:latin typeface="Arial"/>
                <a:ea typeface="Arial"/>
                <a:cs typeface="Arial"/>
              </a:defRPr>
            </a:lvl3pPr>
            <a:lvl4pPr>
              <a:defRPr sz="1200" b="0">
                <a:solidFill>
                  <a:srgbClr val="52616B"/>
                </a:solidFill>
                <a:latin typeface="Arial"/>
                <a:ea typeface="Arial"/>
                <a:cs typeface="Arial"/>
              </a:defRPr>
            </a:lvl4pPr>
            <a:lvl5pPr>
              <a:defRPr sz="1200" b="0">
                <a:solidFill>
                  <a:srgbClr val="52616B"/>
                </a:solidFill>
                <a:latin typeface="Arial"/>
                <a:ea typeface="Arial"/>
                <a:cs typeface="Arial"/>
              </a:defRPr>
            </a:lvl5pPr>
            <a:lvl6pPr>
              <a:defRPr sz="1200" b="0">
                <a:solidFill>
                  <a:srgbClr val="52616B"/>
                </a:solidFill>
                <a:latin typeface="Arial"/>
                <a:ea typeface="Arial"/>
                <a:cs typeface="Arial"/>
              </a:defRPr>
            </a:lvl6pPr>
            <a:lvl7pPr>
              <a:defRPr sz="1200" b="0">
                <a:solidFill>
                  <a:srgbClr val="52616B"/>
                </a:solidFill>
                <a:latin typeface="Arial"/>
                <a:ea typeface="Arial"/>
                <a:cs typeface="Arial"/>
              </a:defRPr>
            </a:lvl7pPr>
            <a:lvl8pPr>
              <a:defRPr sz="1200" b="0">
                <a:solidFill>
                  <a:srgbClr val="52616B"/>
                </a:solidFill>
                <a:latin typeface="Arial"/>
                <a:ea typeface="Arial"/>
                <a:cs typeface="Arial"/>
              </a:defRPr>
            </a:lvl8pPr>
            <a:lvl9pPr>
              <a:defRPr sz="1200" b="0">
                <a:solidFill>
                  <a:srgbClr val="52616B"/>
                </a:solidFill>
                <a:latin typeface="Arial"/>
                <a:ea typeface="Arial"/>
                <a:cs typeface="Arial"/>
              </a:defRPr>
            </a:lvl9pPr>
          </a:lstStyle>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87BEB81E-B92E-4AB7-8671-E097E5BD2BDB}"/>
              </a:ext>
            </a:extLst>
          </p:cNvPr>
          <p:cNvSpPr>
            <a:spLocks xmlns:a="http://schemas.openxmlformats.org/drawingml/2006/main" noGrp="1"/>
          </p:cNvSpPr>
          <p:nvPr/>
        </p:nvSpPr>
        <p:spPr>
          <a:xfrm xmlns:a="http://schemas.openxmlformats.org/drawingml/2006/main">
            <a:off x="609600" y="1524000"/>
            <a:ext cx="10668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3443"/>
                </a:solidFill>
                <a:latin typeface="Arial"/>
                <a:ea typeface="Arial"/>
                <a:cs typeface="Arial"/>
              </a:defRPr>
            </a:defPPr>
            <a:lvl1pPr>
              <a:defRPr sz="1950" b="0">
                <a:solidFill>
                  <a:srgbClr val="153443"/>
                </a:solidFill>
                <a:latin typeface="Arial"/>
                <a:ea typeface="Arial"/>
                <a:cs typeface="Arial"/>
              </a:defRPr>
            </a:lvl1pPr>
            <a:lvl2pPr>
              <a:defRPr sz="1950" b="0">
                <a:solidFill>
                  <a:srgbClr val="153443"/>
                </a:solidFill>
                <a:latin typeface="Arial"/>
                <a:ea typeface="Arial"/>
                <a:cs typeface="Arial"/>
              </a:defRPr>
            </a:lvl2pPr>
            <a:lvl3pPr>
              <a:defRPr sz="1950" b="0">
                <a:solidFill>
                  <a:srgbClr val="153443"/>
                </a:solidFill>
                <a:latin typeface="Arial"/>
                <a:ea typeface="Arial"/>
                <a:cs typeface="Arial"/>
              </a:defRPr>
            </a:lvl3pPr>
            <a:lvl4pPr>
              <a:defRPr sz="1950" b="0">
                <a:solidFill>
                  <a:srgbClr val="153443"/>
                </a:solidFill>
                <a:latin typeface="Arial"/>
                <a:ea typeface="Arial"/>
                <a:cs typeface="Arial"/>
              </a:defRPr>
            </a:lvl4pPr>
            <a:lvl5pPr>
              <a:defRPr sz="1950" b="0">
                <a:solidFill>
                  <a:srgbClr val="153443"/>
                </a:solidFill>
                <a:latin typeface="Arial"/>
                <a:ea typeface="Arial"/>
                <a:cs typeface="Arial"/>
              </a:defRPr>
            </a:lvl5pPr>
            <a:lvl6pPr>
              <a:defRPr sz="1950" b="0">
                <a:solidFill>
                  <a:srgbClr val="153443"/>
                </a:solidFill>
                <a:latin typeface="Arial"/>
                <a:ea typeface="Arial"/>
                <a:cs typeface="Arial"/>
              </a:defRPr>
            </a:lvl6pPr>
            <a:lvl7pPr>
              <a:defRPr sz="1950" b="0">
                <a:solidFill>
                  <a:srgbClr val="153443"/>
                </a:solidFill>
                <a:latin typeface="Arial"/>
                <a:ea typeface="Arial"/>
                <a:cs typeface="Arial"/>
              </a:defRPr>
            </a:lvl7pPr>
            <a:lvl8pPr>
              <a:defRPr sz="1950" b="0">
                <a:solidFill>
                  <a:srgbClr val="153443"/>
                </a:solidFill>
                <a:latin typeface="Arial"/>
                <a:ea typeface="Arial"/>
                <a:cs typeface="Arial"/>
              </a:defRPr>
            </a:lvl8pPr>
            <a:lvl9pPr>
              <a:defRPr sz="1950" b="0">
                <a:solidFill>
                  <a:srgbClr val="153443"/>
                </a:solidFill>
                <a:latin typeface="Arial"/>
                <a:ea typeface="Arial"/>
                <a:cs typeface="Arial"/>
              </a:defRPr>
            </a:lvl9pPr>
          </a:lstStyle>
          <a:p xmlns:a="http://schemas.openxmlformats.org/drawingml/2006/main">
            <a:pPr>
              <a:defRPr sz="1950" b="0">
                <a:solidFill>
                  <a:srgbClr val="153443"/>
                </a:solidFill>
                <a:latin typeface="Arial"/>
                <a:ea typeface="Arial"/>
                <a:cs typeface="Arial"/>
              </a:defRPr>
            </a:pPr>
            <a:r>
              <a:rPr sz="1950" b="0">
                <a:solidFill>
                  <a:srgbClr val="153443"/>
                </a:solidFill>
                <a:latin typeface="Arial"/>
                <a:ea typeface="Arial"/>
                <a:cs typeface="Arial"/>
              </a:rPr>
              <a:t>Bab 4 Pandu Gelombang Planar</a:t>
            </a:r>
          </a:p>
          <a:p xmlns:a="http://schemas.openxmlformats.org/drawingml/2006/main">
            <a:pPr>
              <a:defRPr sz="1950" b="0">
                <a:solidFill>
                  <a:srgbClr val="153443"/>
                </a:solidFill>
                <a:latin typeface="Arial"/>
                <a:ea typeface="Arial"/>
                <a:cs typeface="Arial"/>
              </a:defRPr>
            </a:pPr>
            <a:r>
              <a:rPr sz="1950" b="0">
                <a:solidFill>
                  <a:srgbClr val="153443"/>
                </a:solidFill>
                <a:latin typeface="Arial"/>
                <a:ea typeface="Arial"/>
                <a:cs typeface="Arial"/>
              </a:rPr>
              <a:t>Materi kuliah yang diberikan, hlm. 93–120.</a:t>
            </a:r>
          </a:p>
        </p:txBody>
      </p:sp>
      <p:sp>
        <p:nvSpPr>
          <p:cNvPr id="5" name="">
            <a:extLst xmlns:a="http://schemas.openxmlformats.org/drawingml/2006/main">
              <a:ext uri="{FF2B5EF4-FFF2-40B4-BE49-F238E27FC236}">
                <a16:creationId xmlns:a16="http://schemas.microsoft.com/office/drawing/2014/main" id="{E13E48F2-681C-4B67-A3F6-68CC33863D81}"/>
              </a:ext>
            </a:extLst>
          </p:cNvPr>
          <p:cNvSpPr>
            <a:spLocks xmlns:a="http://schemas.openxmlformats.org/drawingml/2006/main" noGrp="1"/>
          </p:cNvSpPr>
          <p:nvPr/>
        </p:nvSpPr>
        <p:spPr>
          <a:xfrm xmlns:a="http://schemas.openxmlformats.org/drawingml/2006/main">
            <a:off x="609600" y="2714625"/>
            <a:ext cx="10668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3443"/>
                </a:solidFill>
                <a:latin typeface="Arial"/>
                <a:ea typeface="Arial"/>
                <a:cs typeface="Arial"/>
              </a:defRPr>
            </a:defPPr>
            <a:lvl1pPr>
              <a:defRPr sz="1950" b="0">
                <a:solidFill>
                  <a:srgbClr val="153443"/>
                </a:solidFill>
                <a:latin typeface="Arial"/>
                <a:ea typeface="Arial"/>
                <a:cs typeface="Arial"/>
              </a:defRPr>
            </a:lvl1pPr>
            <a:lvl2pPr>
              <a:defRPr sz="1950" b="0">
                <a:solidFill>
                  <a:srgbClr val="153443"/>
                </a:solidFill>
                <a:latin typeface="Arial"/>
                <a:ea typeface="Arial"/>
                <a:cs typeface="Arial"/>
              </a:defRPr>
            </a:lvl2pPr>
            <a:lvl3pPr>
              <a:defRPr sz="1950" b="0">
                <a:solidFill>
                  <a:srgbClr val="153443"/>
                </a:solidFill>
                <a:latin typeface="Arial"/>
                <a:ea typeface="Arial"/>
                <a:cs typeface="Arial"/>
              </a:defRPr>
            </a:lvl3pPr>
            <a:lvl4pPr>
              <a:defRPr sz="1950" b="0">
                <a:solidFill>
                  <a:srgbClr val="153443"/>
                </a:solidFill>
                <a:latin typeface="Arial"/>
                <a:ea typeface="Arial"/>
                <a:cs typeface="Arial"/>
              </a:defRPr>
            </a:lvl4pPr>
            <a:lvl5pPr>
              <a:defRPr sz="1950" b="0">
                <a:solidFill>
                  <a:srgbClr val="153443"/>
                </a:solidFill>
                <a:latin typeface="Arial"/>
                <a:ea typeface="Arial"/>
                <a:cs typeface="Arial"/>
              </a:defRPr>
            </a:lvl5pPr>
            <a:lvl6pPr>
              <a:defRPr sz="1950" b="0">
                <a:solidFill>
                  <a:srgbClr val="153443"/>
                </a:solidFill>
                <a:latin typeface="Arial"/>
                <a:ea typeface="Arial"/>
                <a:cs typeface="Arial"/>
              </a:defRPr>
            </a:lvl6pPr>
            <a:lvl7pPr>
              <a:defRPr sz="1950" b="0">
                <a:solidFill>
                  <a:srgbClr val="153443"/>
                </a:solidFill>
                <a:latin typeface="Arial"/>
                <a:ea typeface="Arial"/>
                <a:cs typeface="Arial"/>
              </a:defRPr>
            </a:lvl7pPr>
            <a:lvl8pPr>
              <a:defRPr sz="1950" b="0">
                <a:solidFill>
                  <a:srgbClr val="153443"/>
                </a:solidFill>
                <a:latin typeface="Arial"/>
                <a:ea typeface="Arial"/>
                <a:cs typeface="Arial"/>
              </a:defRPr>
            </a:lvl8pPr>
            <a:lvl9pPr>
              <a:defRPr sz="1950" b="0">
                <a:solidFill>
                  <a:srgbClr val="153443"/>
                </a:solidFill>
                <a:latin typeface="Arial"/>
                <a:ea typeface="Arial"/>
                <a:cs typeface="Arial"/>
              </a:defRPr>
            </a:lvl9pPr>
          </a:lstStyle>
          <a:p xmlns:a="http://schemas.openxmlformats.org/drawingml/2006/main">
            <a:pPr>
              <a:defRPr sz="1950" b="0">
                <a:solidFill>
                  <a:srgbClr val="153443"/>
                </a:solidFill>
                <a:latin typeface="Arial"/>
                <a:ea typeface="Arial"/>
                <a:cs typeface="Arial"/>
              </a:defRPr>
            </a:pPr>
            <a:r>
              <a:rPr sz="1950" b="0">
                <a:solidFill>
                  <a:srgbClr val="153443"/>
                </a:solidFill>
                <a:latin typeface="Arial"/>
                <a:ea typeface="Arial"/>
                <a:cs typeface="Arial"/>
              </a:rPr>
              <a:t>Optik Modern Pertemuan 9</a:t>
            </a:r>
          </a:p>
          <a:p xmlns:a="http://schemas.openxmlformats.org/drawingml/2006/main">
            <a:pPr>
              <a:defRPr sz="1950" b="0">
                <a:solidFill>
                  <a:srgbClr val="153443"/>
                </a:solidFill>
                <a:latin typeface="Arial"/>
                <a:ea typeface="Arial"/>
                <a:cs typeface="Arial"/>
              </a:defRPr>
            </a:pPr>
            <a:r>
              <a:rPr sz="1950" b="0">
                <a:solidFill>
                  <a:srgbClr val="153443"/>
                </a:solidFill>
                <a:latin typeface="Arial"/>
                <a:ea typeface="Arial"/>
                <a:cs typeface="Arial"/>
              </a:rPr>
              <a:t>Penugasan 1, slide 9–12, semester ganjil 2026/2027.</a:t>
            </a:r>
          </a:p>
        </p:txBody>
      </p:sp>
      <p:sp>
        <p:nvSpPr>
          <p:cNvPr id="6" name="">
            <a:extLst xmlns:a="http://schemas.openxmlformats.org/drawingml/2006/main">
              <a:ext uri="{FF2B5EF4-FFF2-40B4-BE49-F238E27FC236}">
                <a16:creationId xmlns:a16="http://schemas.microsoft.com/office/drawing/2014/main" id="{FABD687F-3F39-4C63-AF2E-C5E3DDA85DCA}"/>
              </a:ext>
            </a:extLst>
          </p:cNvPr>
          <p:cNvSpPr>
            <a:spLocks xmlns:a="http://schemas.openxmlformats.org/drawingml/2006/main" noGrp="1"/>
          </p:cNvSpPr>
          <p:nvPr/>
        </p:nvSpPr>
        <p:spPr>
          <a:xfrm xmlns:a="http://schemas.openxmlformats.org/drawingml/2006/main">
            <a:off x="609600" y="3905250"/>
            <a:ext cx="10668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3443"/>
                </a:solidFill>
                <a:latin typeface="Arial"/>
                <a:ea typeface="Arial"/>
                <a:cs typeface="Arial"/>
              </a:defRPr>
            </a:defPPr>
            <a:lvl1pPr>
              <a:defRPr sz="1950" b="0">
                <a:solidFill>
                  <a:srgbClr val="153443"/>
                </a:solidFill>
                <a:latin typeface="Arial"/>
                <a:ea typeface="Arial"/>
                <a:cs typeface="Arial"/>
              </a:defRPr>
            </a:lvl1pPr>
            <a:lvl2pPr>
              <a:defRPr sz="1950" b="0">
                <a:solidFill>
                  <a:srgbClr val="153443"/>
                </a:solidFill>
                <a:latin typeface="Arial"/>
                <a:ea typeface="Arial"/>
                <a:cs typeface="Arial"/>
              </a:defRPr>
            </a:lvl2pPr>
            <a:lvl3pPr>
              <a:defRPr sz="1950" b="0">
                <a:solidFill>
                  <a:srgbClr val="153443"/>
                </a:solidFill>
                <a:latin typeface="Arial"/>
                <a:ea typeface="Arial"/>
                <a:cs typeface="Arial"/>
              </a:defRPr>
            </a:lvl3pPr>
            <a:lvl4pPr>
              <a:defRPr sz="1950" b="0">
                <a:solidFill>
                  <a:srgbClr val="153443"/>
                </a:solidFill>
                <a:latin typeface="Arial"/>
                <a:ea typeface="Arial"/>
                <a:cs typeface="Arial"/>
              </a:defRPr>
            </a:lvl4pPr>
            <a:lvl5pPr>
              <a:defRPr sz="1950" b="0">
                <a:solidFill>
                  <a:srgbClr val="153443"/>
                </a:solidFill>
                <a:latin typeface="Arial"/>
                <a:ea typeface="Arial"/>
                <a:cs typeface="Arial"/>
              </a:defRPr>
            </a:lvl5pPr>
            <a:lvl6pPr>
              <a:defRPr sz="1950" b="0">
                <a:solidFill>
                  <a:srgbClr val="153443"/>
                </a:solidFill>
                <a:latin typeface="Arial"/>
                <a:ea typeface="Arial"/>
                <a:cs typeface="Arial"/>
              </a:defRPr>
            </a:lvl6pPr>
            <a:lvl7pPr>
              <a:defRPr sz="1950" b="0">
                <a:solidFill>
                  <a:srgbClr val="153443"/>
                </a:solidFill>
                <a:latin typeface="Arial"/>
                <a:ea typeface="Arial"/>
                <a:cs typeface="Arial"/>
              </a:defRPr>
            </a:lvl7pPr>
            <a:lvl8pPr>
              <a:defRPr sz="1950" b="0">
                <a:solidFill>
                  <a:srgbClr val="153443"/>
                </a:solidFill>
                <a:latin typeface="Arial"/>
                <a:ea typeface="Arial"/>
                <a:cs typeface="Arial"/>
              </a:defRPr>
            </a:lvl8pPr>
            <a:lvl9pPr>
              <a:defRPr sz="1950" b="0">
                <a:solidFill>
                  <a:srgbClr val="153443"/>
                </a:solidFill>
                <a:latin typeface="Arial"/>
                <a:ea typeface="Arial"/>
                <a:cs typeface="Arial"/>
              </a:defRPr>
            </a:lvl9pPr>
          </a:lstStyle>
          <a:p xmlns:a="http://schemas.openxmlformats.org/drawingml/2006/main">
            <a:pPr>
              <a:defRPr sz="1950" b="0">
                <a:solidFill>
                  <a:srgbClr val="153443"/>
                </a:solidFill>
                <a:latin typeface="Arial"/>
                <a:ea typeface="Arial"/>
                <a:cs typeface="Arial"/>
              </a:defRPr>
            </a:pPr>
            <a:r>
              <a:rPr sz="1950" b="0">
                <a:solidFill>
                  <a:srgbClr val="153443"/>
                </a:solidFill>
                <a:latin typeface="Arial"/>
                <a:ea typeface="Arial"/>
                <a:cs typeface="Arial"/>
              </a:rPr>
              <a:t>COMSOL 6.3, Directional Coupler</a:t>
            </a:r>
          </a:p>
          <a:p xmlns:a="http://schemas.openxmlformats.org/drawingml/2006/main">
            <a:pPr>
              <a:defRPr sz="1950" b="0">
                <a:solidFill>
                  <a:srgbClr val="153443"/>
                </a:solidFill>
                <a:latin typeface="Arial"/>
                <a:ea typeface="Arial"/>
                <a:cs typeface="Arial"/>
              </a:defRPr>
            </a:pPr>
            <a:r>
              <a:rPr sz="1950" b="0">
                <a:solidFill>
                  <a:srgbClr val="153443"/>
                </a:solidFill>
                <a:latin typeface="Arial"/>
                <a:ea typeface="Arial"/>
                <a:cs typeface="Arial"/>
              </a:rPr>
              <a:t>Bagian pengantar dan definisi model.</a:t>
            </a:r>
          </a:p>
        </p:txBody>
      </p:sp>
      <p:sp>
        <p:nvSpPr>
          <p:cNvPr id="7" name="">
            <a:extLst xmlns:a="http://schemas.openxmlformats.org/drawingml/2006/main">
              <a:ext uri="{FF2B5EF4-FFF2-40B4-BE49-F238E27FC236}">
                <a16:creationId xmlns:a16="http://schemas.microsoft.com/office/drawing/2014/main" id="{819DED23-5005-438F-88A1-3F5EC551C81C}"/>
              </a:ext>
            </a:extLst>
          </p:cNvPr>
          <p:cNvSpPr>
            <a:spLocks xmlns:a="http://schemas.openxmlformats.org/drawingml/2006/main" noGrp="1"/>
          </p:cNvSpPr>
          <p:nvPr/>
        </p:nvSpPr>
        <p:spPr>
          <a:xfrm xmlns:a="http://schemas.openxmlformats.org/drawingml/2006/main">
            <a:off x="609600" y="5429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46078"/>
                </a:solidFill>
                <a:latin typeface="Arial"/>
                <a:ea typeface="Arial"/>
                <a:cs typeface="Arial"/>
              </a:defRPr>
            </a:defPPr>
            <a:lvl1pPr>
              <a:defRPr sz="2100" b="1">
                <a:solidFill>
                  <a:srgbClr val="146078"/>
                </a:solidFill>
                <a:latin typeface="Arial"/>
                <a:ea typeface="Arial"/>
                <a:cs typeface="Arial"/>
              </a:defRPr>
            </a:lvl1pPr>
            <a:lvl2pPr>
              <a:defRPr sz="2100" b="1">
                <a:solidFill>
                  <a:srgbClr val="146078"/>
                </a:solidFill>
                <a:latin typeface="Arial"/>
                <a:ea typeface="Arial"/>
                <a:cs typeface="Arial"/>
              </a:defRPr>
            </a:lvl2pPr>
            <a:lvl3pPr>
              <a:defRPr sz="2100" b="1">
                <a:solidFill>
                  <a:srgbClr val="146078"/>
                </a:solidFill>
                <a:latin typeface="Arial"/>
                <a:ea typeface="Arial"/>
                <a:cs typeface="Arial"/>
              </a:defRPr>
            </a:lvl3pPr>
            <a:lvl4pPr>
              <a:defRPr sz="2100" b="1">
                <a:solidFill>
                  <a:srgbClr val="146078"/>
                </a:solidFill>
                <a:latin typeface="Arial"/>
                <a:ea typeface="Arial"/>
                <a:cs typeface="Arial"/>
              </a:defRPr>
            </a:lvl4pPr>
            <a:lvl5pPr>
              <a:defRPr sz="2100" b="1">
                <a:solidFill>
                  <a:srgbClr val="146078"/>
                </a:solidFill>
                <a:latin typeface="Arial"/>
                <a:ea typeface="Arial"/>
                <a:cs typeface="Arial"/>
              </a:defRPr>
            </a:lvl5pPr>
            <a:lvl6pPr>
              <a:defRPr sz="2100" b="1">
                <a:solidFill>
                  <a:srgbClr val="146078"/>
                </a:solidFill>
                <a:latin typeface="Arial"/>
                <a:ea typeface="Arial"/>
                <a:cs typeface="Arial"/>
              </a:defRPr>
            </a:lvl6pPr>
            <a:lvl7pPr>
              <a:defRPr sz="2100" b="1">
                <a:solidFill>
                  <a:srgbClr val="146078"/>
                </a:solidFill>
                <a:latin typeface="Arial"/>
                <a:ea typeface="Arial"/>
                <a:cs typeface="Arial"/>
              </a:defRPr>
            </a:lvl7pPr>
            <a:lvl8pPr>
              <a:defRPr sz="2100" b="1">
                <a:solidFill>
                  <a:srgbClr val="146078"/>
                </a:solidFill>
                <a:latin typeface="Arial"/>
                <a:ea typeface="Arial"/>
                <a:cs typeface="Arial"/>
              </a:defRPr>
            </a:lvl8pPr>
            <a:lvl9pPr>
              <a:defRPr sz="2100" b="1">
                <a:solidFill>
                  <a:srgbClr val="146078"/>
                </a:solidFill>
                <a:latin typeface="Arial"/>
                <a:ea typeface="Arial"/>
                <a:cs typeface="Arial"/>
              </a:defRPr>
            </a:lvl9pPr>
          </a:lstStyle>
          <a:p xmlns:a="http://schemas.openxmlformats.org/drawingml/2006/main">
            <a:pPr>
              <a:defRPr sz="2100" b="1">
                <a:solidFill>
                  <a:srgbClr val="146078"/>
                </a:solidFill>
                <a:latin typeface="Arial"/>
                <a:ea typeface="Arial"/>
                <a:cs typeface="Arial"/>
              </a:defRPr>
            </a:pPr>
            <a:r>
              <a:rPr sz="2100" b="1">
                <a:solidFill>
                  <a:srgbClr val="146078"/>
                </a:solidFill>
                <a:latin typeface="Arial"/>
                <a:ea typeface="Arial"/>
                <a:cs typeface="Arial"/>
              </a:rPr>
              <a:t>Mengapa n efektif berada di antara indeks teras dan selubung?</a:t>
            </a:r>
          </a:p>
        </p:txBody>
      </p:sp>
    </p:spTree>
    <p:extLst>
      <p:ext uri="{BB962C8B-B14F-4D97-AF65-F5344CB8AC3E}">
        <p14:creationId xmlns:p14="http://schemas.microsoft.com/office/powerpoint/2010/main" val="8646531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2026-10-26T11:50:27.4010000Z</dcterms:created>
  <dcterms:modified xsi:type="dcterms:W3CDTF">2026-10-26T11:50:27.4010000Z</dcterms:modified>
</coreProperties>
</file>